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30 to 40 seconds.</a:t>
            </a:r>
          </a:p>
          <a:p>
            <a:endParaRPr lang="zh-CN" dirty="0"/>
          </a:p>
          <a:p>
            <a:r>
              <a:rPr lang="zh-CN" dirty="0"/>
              <a:t>Open with the premise: companies quietly publish buying signals every day through the roles they are hiring for. SignalScout AI turns those public signals into evidence-backed sales priorities for service providers.</a:t>
            </a:r>
          </a:p>
          <a:p>
            <a:endParaRPr lang="zh-CN" dirty="0"/>
          </a:p>
          <a:p>
            <a:r>
              <a:rPr lang="zh-CN" dirty="0"/>
              <a:t>Set the demo expectation early: this is not a CRM replacement and not a lead list marketplace. It is a workflow that starts from job postings, finds business pain, ranks accounts, drafts outreach, and packages the result for the sales team.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45 to 55 seconds.</a:t>
            </a:r>
          </a:p>
          <a:p>
            <a:endParaRPr lang="zh-CN" dirty="0"/>
          </a:p>
          <a:p>
            <a:r>
              <a:rPr lang="zh-CN" dirty="0"/>
              <a:t>Frame the common sales problem. Agencies and consultancies already know who they could sell to, but they often do not know who is changing right now or why this week is a good time to reach out.</a:t>
            </a:r>
          </a:p>
          <a:p>
            <a:endParaRPr lang="zh-CN" dirty="0"/>
          </a:p>
          <a:p>
            <a:r>
              <a:rPr lang="zh-CN" dirty="0"/>
              <a:t>Static lead lists age quickly. Generic intent data can be broad and expensive. Manual research is useful, but it is slow and usually stays trapped in a seller's notes. The opportunity is to convert a public, current behavior into a practical sales action.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45 to 55 seconds.</a:t>
            </a:r>
          </a:p>
          <a:p>
            <a:endParaRPr lang="zh-CN" dirty="0"/>
          </a:p>
          <a:p>
            <a:r>
              <a:rPr lang="zh-CN" dirty="0"/>
              <a:t>Make the insight concrete. A job post is more than a recruiting artifact. The role, seniority, department, location, and repeated pattern often point to an operating gap.</a:t>
            </a:r>
          </a:p>
          <a:p>
            <a:endParaRPr lang="zh-CN" dirty="0"/>
          </a:p>
          <a:p>
            <a:r>
              <a:rPr lang="zh-CN" dirty="0"/>
              <a:t>For example, RevOps and BI roles suggest reporting pressure, pipeline visibility gaps, or dashboard backlog. Security roles can suggest compliance and access work. The product does not claim guaranteed purchase intent. It gives sellers a better reason to start a timely, specific conversation.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50 to 60 seconds.</a:t>
            </a:r>
          </a:p>
          <a:p>
            <a:endParaRPr lang="zh-CN" dirty="0"/>
          </a:p>
          <a:p>
            <a:r>
              <a:rPr lang="zh-CN" dirty="0"/>
              <a:t>Walk through the product system at a high level. SignalScout ingests job data, extracts the hiring signal, scores the lead, drafts the outreach, and sends a Slack digest.</a:t>
            </a:r>
          </a:p>
          <a:p>
            <a:endParaRPr lang="zh-CN" dirty="0"/>
          </a:p>
          <a:p>
            <a:r>
              <a:rPr lang="zh-CN" dirty="0"/>
              <a:t>Emphasize the artifacts at each stage. The output is not just a score. It is the evidence, the inferred pain, the ranked account, the opening line, and the team handoff. That is why the workflow is demoable and defensible.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45 to 55 seconds.</a:t>
            </a:r>
          </a:p>
          <a:p>
            <a:endParaRPr lang="zh-CN" dirty="0"/>
          </a:p>
          <a:p>
            <a:r>
              <a:rPr lang="zh-CN" dirty="0"/>
              <a:t>Explain the first wedge. The product is built first for agencies, consultancies, and B2B service providers because they sell expertise into companies that are already changing.</a:t>
            </a:r>
          </a:p>
          <a:p>
            <a:endParaRPr lang="zh-CN" dirty="0"/>
          </a:p>
          <a:p>
            <a:r>
              <a:rPr lang="zh-CN" dirty="0"/>
              <a:t>Data-dashboard agencies, cloud migration firms, cybersecurity vendors, and AI automation providers all need a timely reason to start a conversation. SignalScout gives them a reason that is anchored in observable hiring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45 to 55 seconds.</a:t>
            </a:r>
          </a:p>
          <a:p>
            <a:endParaRPr lang="zh-CN" dirty="0"/>
          </a:p>
          <a:p>
            <a:r>
              <a:rPr lang="zh-CN" dirty="0"/>
              <a:t>Move from concept to proof. The local app already shows the full loop: postings are ingested, leads are ranked, a top account is selected, evidence is displayed, outreach is drafted, and a Slack digest is ready.</a:t>
            </a:r>
          </a:p>
          <a:p>
            <a:endParaRPr lang="zh-CN" dirty="0"/>
          </a:p>
          <a:p>
            <a:r>
              <a:rPr lang="zh-CN" dirty="0"/>
              <a:t>Point to the screenshot as a preview of what judges will see live. Keep this slide short because the next proof should happen inside the running product, not on the deck.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45 to 55 seconds.</a:t>
            </a:r>
          </a:p>
          <a:p>
            <a:endParaRPr lang="zh-CN" dirty="0"/>
          </a:p>
          <a:p>
            <a:r>
              <a:rPr lang="zh-CN" dirty="0"/>
              <a:t>Tell judges what to look for. First, timing: the data reflects current hiring behavior. Second, evidence: the system shows why the account is relevant. Third, prioritization: sellers start from ranked leads instead of raw job posts. Fourth, handoff: the signal moves into Slack where the team can act.</a:t>
            </a:r>
          </a:p>
          <a:p>
            <a:endParaRPr lang="zh-CN" dirty="0"/>
          </a:p>
          <a:p>
            <a:r>
              <a:rPr lang="zh-CN" dirty="0"/>
              <a:t>This is the product thesis in one line: static lists become behavior-based prospecting.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20 to 30 seconds.</a:t>
            </a:r>
          </a:p>
          <a:p>
            <a:endParaRPr lang="zh-CN" dirty="0"/>
          </a:p>
          <a:p>
            <a:r>
              <a:rPr lang="zh-CN" dirty="0"/>
              <a:t>Transition cleanly. The slide section is complete. Now switch to the running website and prove the loop with the demo path: job data to hiring signal to lead score to outreach draft to Slack digest.</a:t>
            </a:r>
          </a:p>
          <a:p>
            <a:endParaRPr lang="zh-CN" dirty="0"/>
          </a:p>
          <a:p>
            <a:r>
              <a:rPr lang="zh-CN" dirty="0"/>
              <a:t>Do not add another explanation here. Start the live product walkthrough.</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a402980374992232.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1db4333caf353d8c.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F8FAFC"/>
              </a:gs>
              <a:gs pos="55000">
                <a:srgbClr val="FFFFFF"/>
              </a:gs>
              <a:gs pos="100000">
                <a:srgbClr val="E2E8F0"/>
              </a:gs>
            </a:gsLst>
            <a:lin ang="2700000" scaled="1"/>
          </a:gradFill>
          <a:ln>
            <a:noFill/>
          </a:ln>
        </p:spPr>
      </p:sp>
      <p:grpSp>
        <p:nvGrpSpPr>
          <p:cNvPr id="6" name="Group 6"/>
          <p:cNvGrpSpPr/>
          <p:nvPr/>
        </p:nvGrpSpPr>
        <p:grpSpPr>
          <a:xfrm>
            <a:off x="571500" y="-571500"/>
            <a:ext cx="11811000" cy="8382000"/>
            <a:chOff x="571500" y="-571500"/>
            <a:chExt cx="11811000" cy="8382000"/>
          </a:xfrm>
        </p:grpSpPr>
        <p:sp>
          <p:nvSpPr>
            <p:cNvPr id="3" name="Ellipse 3"/>
            <p:cNvSpPr/>
            <p:nvPr/>
          </p:nvSpPr>
          <p:spPr>
            <a:xfrm>
              <a:off x="9144000" y="-571500"/>
              <a:ext cx="3238500" cy="3238500"/>
            </a:xfrm>
            <a:prstGeom prst="ellipse">
              <a:avLst/>
            </a:prstGeom>
            <a:solidFill>
              <a:srgbClr val="38BDF8">
                <a:alpha val="10000"/>
              </a:srgbClr>
            </a:solidFill>
            <a:ln>
              <a:noFill/>
            </a:ln>
          </p:spPr>
        </p:sp>
        <p:sp>
          <p:nvSpPr>
            <p:cNvPr id="4" name="Ellipse 4"/>
            <p:cNvSpPr/>
            <p:nvPr/>
          </p:nvSpPr>
          <p:spPr>
            <a:xfrm>
              <a:off x="7905750" y="3810000"/>
              <a:ext cx="4000500" cy="4000500"/>
            </a:xfrm>
            <a:prstGeom prst="ellipse">
              <a:avLst/>
            </a:prstGeom>
            <a:solidFill>
              <a:srgbClr val="10B981">
                <a:alpha val="8000"/>
              </a:srgbClr>
            </a:solidFill>
            <a:ln>
              <a:noFill/>
            </a:ln>
          </p:spPr>
        </p:sp>
        <p:sp>
          <p:nvSpPr>
            <p:cNvPr id="5" name="Rectangle 5"/>
            <p:cNvSpPr/>
            <p:nvPr/>
          </p:nvSpPr>
          <p:spPr>
            <a:xfrm>
              <a:off x="571500" y="5676900"/>
              <a:ext cx="4267200" cy="19050"/>
            </a:xfrm>
            <a:prstGeom prst="rect">
              <a:avLst/>
            </a:prstGeom>
            <a:solidFill>
              <a:srgbClr val="10B981"/>
            </a:solidFill>
            <a:ln>
              <a:noFill/>
            </a:ln>
          </p:spPr>
        </p:sp>
      </p:grpSp>
      <p:grpSp>
        <p:nvGrpSpPr>
          <p:cNvPr id="13" name="Group 13"/>
          <p:cNvGrpSpPr/>
          <p:nvPr/>
        </p:nvGrpSpPr>
        <p:grpSpPr>
          <a:xfrm>
            <a:off x="571500" y="552450"/>
            <a:ext cx="3581400" cy="552450"/>
            <a:chOff x="571500" y="552450"/>
            <a:chExt cx="3581400" cy="552450"/>
          </a:xfrm>
        </p:grpSpPr>
        <p:sp>
          <p:nvSpPr>
            <p:cNvPr id="7" name="Ellipse 7"/>
            <p:cNvSpPr/>
            <p:nvPr/>
          </p:nvSpPr>
          <p:spPr>
            <a:xfrm>
              <a:off x="571500" y="552450"/>
              <a:ext cx="552450" cy="552450"/>
            </a:xfrm>
            <a:prstGeom prst="ellipse">
              <a:avLst/>
            </a:prstGeom>
            <a:solidFill>
              <a:srgbClr val="0F172A"/>
            </a:solidFill>
            <a:ln>
              <a:noFill/>
            </a:ln>
          </p:spPr>
        </p:sp>
        <p:sp>
          <p:nvSpPr>
            <p:cNvPr id="8" name="Freeform 8"/>
            <p:cNvSpPr/>
            <p:nvPr/>
          </p:nvSpPr>
          <p:spPr>
            <a:xfrm>
              <a:off x="685800" y="685800"/>
              <a:ext cx="342900" cy="200025"/>
            </a:xfrm>
            <a:custGeom>
              <a:avLst/>
              <a:gdLst/>
              <a:ahLst/>
              <a:cxnLst/>
              <a:rect l="l" t="t" r="r" b="b"/>
              <a:pathLst>
                <a:path w="342900" h="200025">
                  <a:moveTo>
                    <a:pt x="0" y="200025"/>
                  </a:moveTo>
                  <a:cubicBezTo>
                    <a:pt x="95250" y="0"/>
                    <a:pt x="276225" y="0"/>
                    <a:pt x="342900" y="200025"/>
                  </a:cubicBezTo>
                </a:path>
              </a:pathLst>
            </a:custGeom>
            <a:noFill/>
            <a:ln w="38100" cap="rnd">
              <a:solidFill>
                <a:srgbClr val="10B981"/>
              </a:solidFill>
            </a:ln>
          </p:spPr>
        </p:sp>
        <p:sp>
          <p:nvSpPr>
            <p:cNvPr id="9" name="Ellipse 9"/>
            <p:cNvSpPr/>
            <p:nvPr/>
          </p:nvSpPr>
          <p:spPr>
            <a:xfrm>
              <a:off x="809625" y="781050"/>
              <a:ext cx="114300" cy="114300"/>
            </a:xfrm>
            <a:prstGeom prst="ellipse">
              <a:avLst/>
            </a:prstGeom>
            <a:solidFill>
              <a:srgbClr val="38BDF8"/>
            </a:solidFill>
            <a:ln>
              <a:noFill/>
            </a:ln>
          </p:spPr>
        </p:sp>
        <p:sp>
          <p:nvSpPr>
            <p:cNvPr id="10" name="TextBox 10"/>
            <p:cNvSpPr txBox="1"/>
            <p:nvPr/>
          </p:nvSpPr>
          <p:spPr>
            <a:xfrm>
              <a:off x="1259205" y="730568"/>
              <a:ext cx="1300748"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SignalScout AI</a:t>
              </a:r>
            </a:p>
          </p:txBody>
        </p:sp>
        <p:sp>
          <p:nvSpPr>
            <p:cNvPr id="11" name="Rectangle 11"/>
            <p:cNvSpPr/>
            <p:nvPr/>
          </p:nvSpPr>
          <p:spPr>
            <a:xfrm>
              <a:off x="2686050" y="685800"/>
              <a:ext cx="1466850" cy="285750"/>
            </a:xfrm>
            <a:prstGeom prst="roundRect">
              <a:avLst>
                <a:gd name="adj" fmla="val 50000"/>
              </a:avLst>
            </a:prstGeom>
            <a:solidFill>
              <a:srgbClr val="38BDF8">
                <a:alpha val="12000"/>
              </a:srgbClr>
            </a:solidFill>
            <a:ln w="9525">
              <a:solidFill>
                <a:srgbClr val="38BDF8"/>
              </a:solidFill>
            </a:ln>
          </p:spPr>
        </p:sp>
        <p:sp>
          <p:nvSpPr>
            <p:cNvPr id="12" name="TextBox 12"/>
            <p:cNvSpPr txBox="1"/>
            <p:nvPr/>
          </p:nvSpPr>
          <p:spPr>
            <a:xfrm>
              <a:off x="3096516" y="771049"/>
              <a:ext cx="645918" cy="198120"/>
            </a:xfrm>
            <a:prstGeom prst="rect">
              <a:avLst/>
            </a:prstGeom>
            <a:noFill/>
            <a:ln>
              <a:noFill/>
            </a:ln>
          </p:spPr>
          <p:txBody>
            <a:bodyPr wrap="none" lIns="0" tIns="0" rIns="0" bIns="0" anchor="t" anchorCtr="0">
              <a:spAutoFit/>
            </a:bodyPr>
            <a:lstStyle/>
            <a:p>
              <a:pPr algn="ctr"/>
              <a:r>
                <a:rPr lang="zh-CN" sz="975" b="1" dirty="0">
                  <a:solidFill>
                    <a:srgbClr val="0F172A"/>
                  </a:solidFill>
                  <a:latin typeface="Arial"/>
                  <a:ea typeface="Microsoft YaHei"/>
                  <a:cs typeface="Arial"/>
                </a:rPr>
                <a:t>Demo MVP</a:t>
              </a:r>
            </a:p>
          </p:txBody>
        </p:sp>
      </p:grpSp>
      <p:grpSp>
        <p:nvGrpSpPr>
          <p:cNvPr id="16" name="Group 16"/>
          <p:cNvGrpSpPr/>
          <p:nvPr/>
        </p:nvGrpSpPr>
        <p:grpSpPr>
          <a:xfrm>
            <a:off x="502920" y="1664970"/>
            <a:ext cx="6450330" cy="3611880"/>
            <a:chOff x="502920" y="1664970"/>
            <a:chExt cx="6450330" cy="3611880"/>
          </a:xfrm>
        </p:grpSpPr>
        <p:sp>
          <p:nvSpPr>
            <p:cNvPr id="14" name="TextBox 14"/>
            <p:cNvSpPr txBox="1"/>
            <p:nvPr/>
          </p:nvSpPr>
          <p:spPr>
            <a:xfrm>
              <a:off x="502920" y="1664970"/>
              <a:ext cx="6149912" cy="2659380"/>
            </a:xfrm>
            <a:prstGeom prst="rect">
              <a:avLst/>
            </a:prstGeom>
            <a:noFill/>
            <a:ln>
              <a:noFill/>
            </a:ln>
          </p:spPr>
          <p:txBody>
            <a:bodyPr wrap="square" lIns="0" tIns="0" rIns="0" bIns="0" anchor="t" anchorCtr="0"/>
            <a:lstStyle/>
            <a:p>
              <a:pPr algn="l">
                <a:lnSpc>
                  <a:spcPts val="6150"/>
                </a:lnSpc>
              </a:pPr>
              <a:r>
                <a:rPr lang="zh-CN" sz="5400" b="1" dirty="0">
                  <a:solidFill>
                    <a:srgbClr val="0F172A"/>
                  </a:solidFill>
                  <a:latin typeface="Georgia"/>
                  <a:ea typeface="Microsoft YaHei"/>
                  <a:cs typeface="Georgia"/>
                </a:rPr>
                <a:t xml:space="preserve">Turn job postings </a:t>
              </a:r>
              <a:r>
                <a:rPr lang="zh-CN" sz="5400" b="1" dirty="0">
                  <a:solidFill>
                    <a:srgbClr val="0F172A"/>
                  </a:solidFill>
                  <a:latin typeface="Georgia"/>
                  <a:ea typeface="Microsoft YaHei"/>
                  <a:cs typeface="Georgia"/>
                </a:rPr>
                <a:t xml:space="preserve">into B2B buying </a:t>
              </a:r>
              <a:r>
                <a:rPr lang="zh-CN" sz="5400" b="1" dirty="0">
                  <a:solidFill>
                    <a:srgbClr val="0F172A"/>
                  </a:solidFill>
                  <a:latin typeface="Georgia"/>
                  <a:ea typeface="Microsoft YaHei"/>
                  <a:cs typeface="Georgia"/>
                </a:rPr>
                <a:t>signals.</a:t>
              </a:r>
            </a:p>
          </p:txBody>
        </p:sp>
        <p:sp>
          <p:nvSpPr>
            <p:cNvPr id="15" name="TextBox 15"/>
            <p:cNvSpPr txBox="1"/>
            <p:nvPr/>
          </p:nvSpPr>
          <p:spPr>
            <a:xfrm>
              <a:off x="586740" y="4587240"/>
              <a:ext cx="6366510" cy="689610"/>
            </a:xfrm>
            <a:prstGeom prst="rect">
              <a:avLst/>
            </a:prstGeom>
            <a:noFill/>
            <a:ln>
              <a:noFill/>
            </a:ln>
          </p:spPr>
          <p:txBody>
            <a:bodyPr wrap="square" lIns="0" tIns="0" rIns="0" bIns="0" anchor="t" anchorCtr="0"/>
            <a:lstStyle/>
            <a:p>
              <a:pPr algn="l">
                <a:lnSpc>
                  <a:spcPts val="2550"/>
                </a:lnSpc>
              </a:pPr>
              <a:r>
                <a:rPr lang="zh-CN" sz="1800" dirty="0">
                  <a:solidFill>
                    <a:srgbClr val="475569"/>
                  </a:solidFill>
                  <a:latin typeface="Arial"/>
                  <a:ea typeface="Microsoft YaHei"/>
                  <a:cs typeface="Arial"/>
                </a:rPr>
                <a:t xml:space="preserve">SignalScout connects public hiring behavior </a:t>
              </a:r>
              <a:r>
                <a:rPr lang="zh-CN" sz="1800" dirty="0">
                  <a:solidFill>
                    <a:srgbClr val="475569"/>
                  </a:solidFill>
                  <a:latin typeface="Arial"/>
                  <a:ea typeface="Microsoft YaHei"/>
                  <a:cs typeface="Arial"/>
                </a:rPr>
                <a:t>to ranked leads, evidence, outreach, and team handoff.</a:t>
              </a:r>
            </a:p>
          </p:txBody>
        </p:sp>
      </p:grpSp>
      <p:grpSp>
        <p:nvGrpSpPr>
          <p:cNvPr id="23" name="Group 23"/>
          <p:cNvGrpSpPr/>
          <p:nvPr/>
        </p:nvGrpSpPr>
        <p:grpSpPr>
          <a:xfrm>
            <a:off x="6629400" y="1352550"/>
            <a:ext cx="5105400" cy="4191000"/>
            <a:chOff x="6629400" y="1352550"/>
            <a:chExt cx="5105400" cy="4191000"/>
          </a:xfrm>
        </p:grpSpPr>
        <p:sp>
          <p:nvSpPr>
            <p:cNvPr id="17" name="Rectangle 17"/>
            <p:cNvSpPr/>
            <p:nvPr/>
          </p:nvSpPr>
          <p:spPr>
            <a:xfrm>
              <a:off x="6629400" y="1352550"/>
              <a:ext cx="5105400" cy="3590925"/>
            </a:xfrm>
            <a:prstGeom prst="roundRect">
              <a:avLst>
                <a:gd name="adj" fmla="val 6366"/>
              </a:avLst>
            </a:prstGeom>
            <a:solidFill>
              <a:srgbClr val="0F172A">
                <a:alpha val="8000"/>
              </a:srgbClr>
            </a:solidFill>
            <a:ln>
              <a:noFill/>
            </a:ln>
          </p:spPr>
        </p:sp>
        <p:sp>
          <p:nvSpPr>
            <p:cNvPr id="18" name="Rectangle 18"/>
            <p:cNvSpPr/>
            <p:nvPr/>
          </p:nvSpPr>
          <p:spPr>
            <a:xfrm>
              <a:off x="6705600" y="1428750"/>
              <a:ext cx="4953000" cy="3438525"/>
            </a:xfrm>
            <a:prstGeom prst="roundRect">
              <a:avLst>
                <a:gd name="adj" fmla="val 4986"/>
              </a:avLst>
            </a:prstGeom>
            <a:solidFill>
              <a:srgbClr val="FFFFFF"/>
            </a:solidFill>
            <a:ln w="14288">
              <a:solidFill>
                <a:srgbClr val="E2E8F0"/>
              </a:solidFill>
            </a:ln>
          </p:spPr>
        </p:sp>
        <p:pic>
          <p:nvPicPr>
            <p:cNvPr id="19" name="Image 19"/>
            <p:cNvPicPr>
              <a:picLocks noChangeAspect="1"/>
            </p:cNvPicPr>
            <p:nvPr/>
          </p:nvPicPr>
          <p:blipFill>
            <a:blip r:embed="rId2"/>
            <a:stretch>
              <a:fillRect/>
            </a:stretch>
          </p:blipFill>
          <p:spPr>
            <a:xfrm>
              <a:off x="6705600" y="1428750"/>
              <a:ext cx="4953000" cy="3438525"/>
            </a:xfrm>
            <a:prstGeom prst="roundRect">
              <a:avLst>
                <a:gd name="adj" fmla="val 4986"/>
              </a:avLst>
            </a:prstGeom>
          </p:spPr>
        </p:pic>
        <p:sp>
          <p:nvSpPr>
            <p:cNvPr id="20" name="Rectangle 20"/>
            <p:cNvSpPr/>
            <p:nvPr/>
          </p:nvSpPr>
          <p:spPr>
            <a:xfrm>
              <a:off x="6705600" y="1428750"/>
              <a:ext cx="4953000" cy="3438525"/>
            </a:xfrm>
            <a:prstGeom prst="roundRect">
              <a:avLst>
                <a:gd name="adj" fmla="val 4986"/>
              </a:avLst>
            </a:prstGeom>
            <a:noFill/>
            <a:ln w="19050">
              <a:solidFill>
                <a:srgbClr val="10B981"/>
              </a:solidFill>
            </a:ln>
          </p:spPr>
        </p:sp>
        <p:sp>
          <p:nvSpPr>
            <p:cNvPr id="21" name="Rectangle 21"/>
            <p:cNvSpPr/>
            <p:nvPr/>
          </p:nvSpPr>
          <p:spPr>
            <a:xfrm>
              <a:off x="7010400" y="5124450"/>
              <a:ext cx="4343400" cy="419100"/>
            </a:xfrm>
            <a:prstGeom prst="roundRect">
              <a:avLst>
                <a:gd name="adj" fmla="val 50000"/>
              </a:avLst>
            </a:prstGeom>
            <a:solidFill>
              <a:srgbClr val="0F172A"/>
            </a:solidFill>
            <a:ln>
              <a:noFill/>
            </a:ln>
          </p:spPr>
        </p:sp>
        <p:sp>
          <p:nvSpPr>
            <p:cNvPr id="22" name="TextBox 22"/>
            <p:cNvSpPr txBox="1"/>
            <p:nvPr/>
          </p:nvSpPr>
          <p:spPr>
            <a:xfrm>
              <a:off x="7939159" y="5269706"/>
              <a:ext cx="2485882"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Live product is the proof object</a:t>
              </a:r>
            </a:p>
          </p:txBody>
        </p:sp>
      </p:grpSp>
      <p:grpSp>
        <p:nvGrpSpPr>
          <p:cNvPr id="26" name="Group 26"/>
          <p:cNvGrpSpPr/>
          <p:nvPr/>
        </p:nvGrpSpPr>
        <p:grpSpPr>
          <a:xfrm>
            <a:off x="560070" y="6246495"/>
            <a:ext cx="11071860" cy="182880"/>
            <a:chOff x="560070" y="6246495"/>
            <a:chExt cx="11071860" cy="182880"/>
          </a:xfrm>
        </p:grpSpPr>
        <p:sp>
          <p:nvSpPr>
            <p:cNvPr id="24" name="TextBox 24"/>
            <p:cNvSpPr txBox="1"/>
            <p:nvPr/>
          </p:nvSpPr>
          <p:spPr>
            <a:xfrm>
              <a:off x="560070" y="6246495"/>
              <a:ext cx="1371229"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Hackathon demo setup</a:t>
              </a:r>
            </a:p>
          </p:txBody>
        </p:sp>
        <p:sp>
          <p:nvSpPr>
            <p:cNvPr id="25" name="TextBox 25"/>
            <p:cNvSpPr txBox="1"/>
            <p:nvPr/>
          </p:nvSpPr>
          <p:spPr>
            <a:xfrm>
              <a:off x="11186917" y="624649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01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dissolve">
                                      <p:cBhvr>
                                        <p:cTn id="11"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493395" y="419100"/>
            <a:ext cx="8779240" cy="1233488"/>
            <a:chOff x="493395" y="419100"/>
            <a:chExt cx="8779240" cy="1233488"/>
          </a:xfrm>
        </p:grpSpPr>
        <p:sp>
          <p:nvSpPr>
            <p:cNvPr id="3" name="Rectangle 3"/>
            <p:cNvSpPr/>
            <p:nvPr/>
          </p:nvSpPr>
          <p:spPr>
            <a:xfrm>
              <a:off x="533400" y="419100"/>
              <a:ext cx="876300" cy="266700"/>
            </a:xfrm>
            <a:prstGeom prst="roundRect">
              <a:avLst>
                <a:gd name="adj" fmla="val 50000"/>
              </a:avLst>
            </a:prstGeom>
            <a:solidFill>
              <a:srgbClr val="F8FAFC"/>
            </a:solidFill>
            <a:ln w="9525">
              <a:solidFill>
                <a:srgbClr val="E2E8F0"/>
              </a:solidFill>
            </a:ln>
          </p:spPr>
        </p:sp>
        <p:sp>
          <p:nvSpPr>
            <p:cNvPr id="4" name="TextBox 4"/>
            <p:cNvSpPr txBox="1"/>
            <p:nvPr/>
          </p:nvSpPr>
          <p:spPr>
            <a:xfrm>
              <a:off x="692337" y="512445"/>
              <a:ext cx="558427" cy="182880"/>
            </a:xfrm>
            <a:prstGeom prst="rect">
              <a:avLst/>
            </a:prstGeom>
            <a:noFill/>
            <a:ln>
              <a:noFill/>
            </a:ln>
          </p:spPr>
          <p:txBody>
            <a:bodyPr wrap="none" lIns="0" tIns="0" rIns="0" bIns="0" anchor="t" anchorCtr="0">
              <a:spAutoFit/>
            </a:bodyPr>
            <a:lstStyle/>
            <a:p>
              <a:pPr algn="ctr"/>
              <a:r>
                <a:rPr lang="zh-CN" sz="900" b="1" dirty="0">
                  <a:solidFill>
                    <a:srgbClr val="475569"/>
                  </a:solidFill>
                  <a:latin typeface="Arial"/>
                  <a:ea typeface="Microsoft YaHei"/>
                  <a:cs typeface="Arial"/>
                </a:rPr>
                <a:t>PROBLEM</a:t>
              </a:r>
            </a:p>
          </p:txBody>
        </p:sp>
        <p:sp>
          <p:nvSpPr>
            <p:cNvPr id="5" name="TextBox 5"/>
            <p:cNvSpPr txBox="1"/>
            <p:nvPr/>
          </p:nvSpPr>
          <p:spPr>
            <a:xfrm>
              <a:off x="493395" y="841058"/>
              <a:ext cx="8482110"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Outbound teams are late to the signal.</a:t>
              </a:r>
            </a:p>
          </p:txBody>
        </p:sp>
        <p:sp>
          <p:nvSpPr>
            <p:cNvPr id="6" name="TextBox 6"/>
            <p:cNvSpPr txBox="1"/>
            <p:nvPr/>
          </p:nvSpPr>
          <p:spPr>
            <a:xfrm>
              <a:off x="516255" y="1378268"/>
              <a:ext cx="8756380"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The issue is not finding more companies. It is knowing when a company has a credible reason to buy.</a:t>
              </a:r>
            </a:p>
          </p:txBody>
        </p:sp>
      </p:grpSp>
      <p:grpSp>
        <p:nvGrpSpPr>
          <p:cNvPr id="19" name="Group 19"/>
          <p:cNvGrpSpPr/>
          <p:nvPr/>
        </p:nvGrpSpPr>
        <p:grpSpPr>
          <a:xfrm>
            <a:off x="685800" y="2076450"/>
            <a:ext cx="4762500" cy="2724150"/>
            <a:chOff x="685800" y="2076450"/>
            <a:chExt cx="4762500" cy="2724150"/>
          </a:xfrm>
        </p:grpSpPr>
        <p:sp>
          <p:nvSpPr>
            <p:cNvPr id="8" name="Rectangle 8"/>
            <p:cNvSpPr/>
            <p:nvPr/>
          </p:nvSpPr>
          <p:spPr>
            <a:xfrm>
              <a:off x="685800" y="2076450"/>
              <a:ext cx="4762500" cy="2724150"/>
            </a:xfrm>
            <a:prstGeom prst="roundRect">
              <a:avLst>
                <a:gd name="adj" fmla="val 4895"/>
              </a:avLst>
            </a:prstGeom>
            <a:solidFill>
              <a:srgbClr val="F8FAFC"/>
            </a:solidFill>
            <a:ln w="9525">
              <a:solidFill>
                <a:srgbClr val="E2E8F0"/>
              </a:solidFill>
            </a:ln>
          </p:spPr>
        </p:sp>
        <p:sp>
          <p:nvSpPr>
            <p:cNvPr id="9" name="Rectangle 9"/>
            <p:cNvSpPr/>
            <p:nvPr/>
          </p:nvSpPr>
          <p:spPr>
            <a:xfrm>
              <a:off x="685800" y="2076450"/>
              <a:ext cx="4762500" cy="514350"/>
            </a:xfrm>
            <a:prstGeom prst="roundRect">
              <a:avLst>
                <a:gd name="adj" fmla="val 25926"/>
              </a:avLst>
            </a:prstGeom>
            <a:solidFill>
              <a:srgbClr val="0F172A"/>
            </a:solidFill>
            <a:ln>
              <a:noFill/>
            </a:ln>
          </p:spPr>
        </p:sp>
        <p:sp>
          <p:nvSpPr>
            <p:cNvPr id="10" name="TextBox 10"/>
            <p:cNvSpPr txBox="1"/>
            <p:nvPr/>
          </p:nvSpPr>
          <p:spPr>
            <a:xfrm>
              <a:off x="897255" y="2264092"/>
              <a:ext cx="1518125"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Static lead lists</a:t>
              </a:r>
            </a:p>
          </p:txBody>
        </p:sp>
        <p:sp>
          <p:nvSpPr>
            <p:cNvPr id="11" name="TextBox 11"/>
            <p:cNvSpPr txBox="1"/>
            <p:nvPr/>
          </p:nvSpPr>
          <p:spPr>
            <a:xfrm>
              <a:off x="885825" y="2747962"/>
              <a:ext cx="1695355" cy="457200"/>
            </a:xfrm>
            <a:prstGeom prst="rect">
              <a:avLst/>
            </a:prstGeom>
            <a:noFill/>
            <a:ln>
              <a:noFill/>
            </a:ln>
          </p:spPr>
          <p:txBody>
            <a:bodyPr wrap="none" lIns="0" tIns="0" rIns="0" bIns="0" anchor="t" anchorCtr="0">
              <a:spAutoFit/>
            </a:bodyPr>
            <a:lstStyle/>
            <a:p>
              <a:pPr algn="l"/>
              <a:r>
                <a:rPr lang="zh-CN" sz="2250" b="1" dirty="0">
                  <a:solidFill>
                    <a:srgbClr val="0F172A"/>
                  </a:solidFill>
                  <a:latin typeface="Georgia"/>
                  <a:ea typeface="Microsoft YaHei"/>
                  <a:cs typeface="Georgia"/>
                </a:rPr>
                <a:t>Who exists</a:t>
              </a:r>
            </a:p>
          </p:txBody>
        </p:sp>
        <p:grpSp>
          <p:nvGrpSpPr>
            <p:cNvPr id="18" name="Group 18"/>
            <p:cNvGrpSpPr/>
            <p:nvPr/>
          </p:nvGrpSpPr>
          <p:grpSpPr>
            <a:xfrm>
              <a:off x="962025" y="3343275"/>
              <a:ext cx="4108609" cy="1257300"/>
              <a:chOff x="962025" y="3343275"/>
              <a:chExt cx="4108609" cy="1257300"/>
            </a:xfrm>
          </p:grpSpPr>
          <p:sp>
            <p:nvSpPr>
              <p:cNvPr id="12" name="Ellipse 12"/>
              <p:cNvSpPr/>
              <p:nvPr/>
            </p:nvSpPr>
            <p:spPr>
              <a:xfrm>
                <a:off x="962025" y="3400425"/>
                <a:ext cx="95250" cy="95250"/>
              </a:xfrm>
              <a:prstGeom prst="ellipse">
                <a:avLst/>
              </a:prstGeom>
              <a:solidFill>
                <a:srgbClr val="94A3B8"/>
              </a:solidFill>
              <a:ln>
                <a:noFill/>
              </a:ln>
            </p:spPr>
          </p:sp>
          <p:sp>
            <p:nvSpPr>
              <p:cNvPr id="13" name="TextBox 13"/>
              <p:cNvSpPr txBox="1"/>
              <p:nvPr/>
            </p:nvSpPr>
            <p:spPr>
              <a:xfrm>
                <a:off x="1162050" y="3343275"/>
                <a:ext cx="3478530" cy="304800"/>
              </a:xfrm>
              <a:prstGeom prst="rect">
                <a:avLst/>
              </a:prstGeom>
              <a:noFill/>
              <a:ln>
                <a:noFill/>
              </a:ln>
            </p:spPr>
            <p:txBody>
              <a:bodyPr wrap="none" lIns="0" tIns="0" rIns="0" bIns="0" anchor="t" anchorCtr="0">
                <a:spAutoFit/>
              </a:bodyPr>
              <a:lstStyle/>
              <a:p>
                <a:pPr algn="l"/>
                <a:r>
                  <a:rPr lang="zh-CN" sz="1500" dirty="0">
                    <a:solidFill>
                      <a:srgbClr val="475569"/>
                    </a:solidFill>
                    <a:latin typeface="Arial"/>
                    <a:ea typeface="Microsoft YaHei"/>
                    <a:cs typeface="Arial"/>
                  </a:rPr>
                  <a:t>Firmographics and old account lists</a:t>
                </a:r>
              </a:p>
            </p:txBody>
          </p:sp>
          <p:sp>
            <p:nvSpPr>
              <p:cNvPr id="14" name="Ellipse 14"/>
              <p:cNvSpPr/>
              <p:nvPr/>
            </p:nvSpPr>
            <p:spPr>
              <a:xfrm>
                <a:off x="962025" y="3876675"/>
                <a:ext cx="95250" cy="95250"/>
              </a:xfrm>
              <a:prstGeom prst="ellipse">
                <a:avLst/>
              </a:prstGeom>
              <a:solidFill>
                <a:srgbClr val="94A3B8"/>
              </a:solidFill>
              <a:ln>
                <a:noFill/>
              </a:ln>
            </p:spPr>
          </p:sp>
          <p:sp>
            <p:nvSpPr>
              <p:cNvPr id="15" name="TextBox 15"/>
              <p:cNvSpPr txBox="1"/>
              <p:nvPr/>
            </p:nvSpPr>
            <p:spPr>
              <a:xfrm>
                <a:off x="1162050" y="3819525"/>
                <a:ext cx="3758565" cy="304800"/>
              </a:xfrm>
              <a:prstGeom prst="rect">
                <a:avLst/>
              </a:prstGeom>
              <a:noFill/>
              <a:ln>
                <a:noFill/>
              </a:ln>
            </p:spPr>
            <p:txBody>
              <a:bodyPr wrap="none" lIns="0" tIns="0" rIns="0" bIns="0" anchor="t" anchorCtr="0">
                <a:spAutoFit/>
              </a:bodyPr>
              <a:lstStyle/>
              <a:p>
                <a:pPr algn="l"/>
                <a:r>
                  <a:rPr lang="zh-CN" sz="1500" dirty="0">
                    <a:solidFill>
                      <a:srgbClr val="475569"/>
                    </a:solidFill>
                    <a:latin typeface="Arial"/>
                    <a:ea typeface="Microsoft YaHei"/>
                    <a:cs typeface="Arial"/>
                  </a:rPr>
                  <a:t>Generic intent labels without evidence</a:t>
                </a:r>
              </a:p>
            </p:txBody>
          </p:sp>
          <p:sp>
            <p:nvSpPr>
              <p:cNvPr id="16" name="Ellipse 16"/>
              <p:cNvSpPr/>
              <p:nvPr/>
            </p:nvSpPr>
            <p:spPr>
              <a:xfrm>
                <a:off x="962025" y="4352925"/>
                <a:ext cx="95250" cy="95250"/>
              </a:xfrm>
              <a:prstGeom prst="ellipse">
                <a:avLst/>
              </a:prstGeom>
              <a:solidFill>
                <a:srgbClr val="94A3B8"/>
              </a:solidFill>
              <a:ln>
                <a:noFill/>
              </a:ln>
            </p:spPr>
          </p:sp>
          <p:sp>
            <p:nvSpPr>
              <p:cNvPr id="17" name="TextBox 17"/>
              <p:cNvSpPr txBox="1"/>
              <p:nvPr/>
            </p:nvSpPr>
            <p:spPr>
              <a:xfrm>
                <a:off x="1162050" y="4295775"/>
                <a:ext cx="3908584" cy="304800"/>
              </a:xfrm>
              <a:prstGeom prst="rect">
                <a:avLst/>
              </a:prstGeom>
              <a:noFill/>
              <a:ln>
                <a:noFill/>
              </a:ln>
            </p:spPr>
            <p:txBody>
              <a:bodyPr wrap="none" lIns="0" tIns="0" rIns="0" bIns="0" anchor="t" anchorCtr="0">
                <a:spAutoFit/>
              </a:bodyPr>
              <a:lstStyle/>
              <a:p>
                <a:pPr algn="l"/>
                <a:r>
                  <a:rPr lang="zh-CN" sz="1500" dirty="0">
                    <a:solidFill>
                      <a:srgbClr val="475569"/>
                    </a:solidFill>
                    <a:latin typeface="Arial"/>
                    <a:ea typeface="Microsoft YaHei"/>
                    <a:cs typeface="Arial"/>
                  </a:rPr>
                  <a:t>Timing often visible after demand peaks</a:t>
                </a:r>
              </a:p>
            </p:txBody>
          </p:sp>
        </p:grpSp>
      </p:grpSp>
      <p:grpSp>
        <p:nvGrpSpPr>
          <p:cNvPr id="31" name="Group 31"/>
          <p:cNvGrpSpPr/>
          <p:nvPr/>
        </p:nvGrpSpPr>
        <p:grpSpPr>
          <a:xfrm>
            <a:off x="6743700" y="2076450"/>
            <a:ext cx="5004911" cy="2724150"/>
            <a:chOff x="6743700" y="2076450"/>
            <a:chExt cx="5004911" cy="2724150"/>
          </a:xfrm>
        </p:grpSpPr>
        <p:sp>
          <p:nvSpPr>
            <p:cNvPr id="20" name="Rectangle 20"/>
            <p:cNvSpPr/>
            <p:nvPr/>
          </p:nvSpPr>
          <p:spPr>
            <a:xfrm>
              <a:off x="6743700" y="2076450"/>
              <a:ext cx="4762500" cy="2724150"/>
            </a:xfrm>
            <a:prstGeom prst="roundRect">
              <a:avLst>
                <a:gd name="adj" fmla="val 4895"/>
              </a:avLst>
            </a:prstGeom>
            <a:solidFill>
              <a:srgbClr val="FFFFFF"/>
            </a:solidFill>
            <a:ln w="19050">
              <a:solidFill>
                <a:srgbClr val="10B981"/>
              </a:solidFill>
            </a:ln>
          </p:spPr>
        </p:sp>
        <p:sp>
          <p:nvSpPr>
            <p:cNvPr id="21" name="Rectangle 21"/>
            <p:cNvSpPr/>
            <p:nvPr/>
          </p:nvSpPr>
          <p:spPr>
            <a:xfrm>
              <a:off x="6743700" y="2076450"/>
              <a:ext cx="4762500" cy="514350"/>
            </a:xfrm>
            <a:prstGeom prst="roundRect">
              <a:avLst>
                <a:gd name="adj" fmla="val 25926"/>
              </a:avLst>
            </a:prstGeom>
            <a:solidFill>
              <a:srgbClr val="10B981"/>
            </a:solidFill>
            <a:ln>
              <a:noFill/>
            </a:ln>
          </p:spPr>
        </p:sp>
        <p:sp>
          <p:nvSpPr>
            <p:cNvPr id="22" name="TextBox 22"/>
            <p:cNvSpPr txBox="1"/>
            <p:nvPr/>
          </p:nvSpPr>
          <p:spPr>
            <a:xfrm>
              <a:off x="6955155" y="2264092"/>
              <a:ext cx="1981233"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Fresh hiring behavior</a:t>
              </a:r>
            </a:p>
          </p:txBody>
        </p:sp>
        <p:sp>
          <p:nvSpPr>
            <p:cNvPr id="23" name="TextBox 23"/>
            <p:cNvSpPr txBox="1"/>
            <p:nvPr/>
          </p:nvSpPr>
          <p:spPr>
            <a:xfrm>
              <a:off x="6943725" y="2747962"/>
              <a:ext cx="1317308" cy="457200"/>
            </a:xfrm>
            <a:prstGeom prst="rect">
              <a:avLst/>
            </a:prstGeom>
            <a:noFill/>
            <a:ln>
              <a:noFill/>
            </a:ln>
          </p:spPr>
          <p:txBody>
            <a:bodyPr wrap="none" lIns="0" tIns="0" rIns="0" bIns="0" anchor="t" anchorCtr="0">
              <a:spAutoFit/>
            </a:bodyPr>
            <a:lstStyle/>
            <a:p>
              <a:pPr algn="l"/>
              <a:r>
                <a:rPr lang="zh-CN" sz="2250" b="1" dirty="0">
                  <a:solidFill>
                    <a:srgbClr val="0F172A"/>
                  </a:solidFill>
                  <a:latin typeface="Georgia"/>
                  <a:ea typeface="Microsoft YaHei"/>
                  <a:cs typeface="Georgia"/>
                </a:rPr>
                <a:t>Why now</a:t>
              </a:r>
            </a:p>
          </p:txBody>
        </p:sp>
        <p:grpSp>
          <p:nvGrpSpPr>
            <p:cNvPr id="30" name="Group 30"/>
            <p:cNvGrpSpPr/>
            <p:nvPr/>
          </p:nvGrpSpPr>
          <p:grpSpPr>
            <a:xfrm>
              <a:off x="7019925" y="3343275"/>
              <a:ext cx="4728686" cy="1257300"/>
              <a:chOff x="7019925" y="3343275"/>
              <a:chExt cx="4728686" cy="1257300"/>
            </a:xfrm>
          </p:grpSpPr>
          <p:sp>
            <p:nvSpPr>
              <p:cNvPr id="24" name="Ellipse 24"/>
              <p:cNvSpPr/>
              <p:nvPr/>
            </p:nvSpPr>
            <p:spPr>
              <a:xfrm>
                <a:off x="7019925" y="3400425"/>
                <a:ext cx="95250" cy="95250"/>
              </a:xfrm>
              <a:prstGeom prst="ellipse">
                <a:avLst/>
              </a:prstGeom>
              <a:solidFill>
                <a:srgbClr val="10B981"/>
              </a:solidFill>
              <a:ln>
                <a:noFill/>
              </a:ln>
            </p:spPr>
          </p:sp>
          <p:sp>
            <p:nvSpPr>
              <p:cNvPr id="25" name="TextBox 25"/>
              <p:cNvSpPr txBox="1"/>
              <p:nvPr/>
            </p:nvSpPr>
            <p:spPr>
              <a:xfrm>
                <a:off x="7219950" y="3343275"/>
                <a:ext cx="4028599" cy="304800"/>
              </a:xfrm>
              <a:prstGeom prst="rect">
                <a:avLst/>
              </a:prstGeom>
              <a:noFill/>
              <a:ln>
                <a:noFill/>
              </a:ln>
            </p:spPr>
            <p:txBody>
              <a:bodyPr wrap="none" lIns="0" tIns="0" rIns="0" bIns="0" anchor="t" anchorCtr="0">
                <a:spAutoFit/>
              </a:bodyPr>
              <a:lstStyle/>
              <a:p>
                <a:pPr algn="l"/>
                <a:r>
                  <a:rPr lang="zh-CN" sz="1500" dirty="0">
                    <a:solidFill>
                      <a:srgbClr val="0F172A"/>
                    </a:solidFill>
                    <a:latin typeface="Arial"/>
                    <a:ea typeface="Microsoft YaHei"/>
                    <a:cs typeface="Arial"/>
                  </a:rPr>
                  <a:t>Public evidence of active company change</a:t>
                </a:r>
              </a:p>
            </p:txBody>
          </p:sp>
          <p:sp>
            <p:nvSpPr>
              <p:cNvPr id="26" name="Ellipse 26"/>
              <p:cNvSpPr/>
              <p:nvPr/>
            </p:nvSpPr>
            <p:spPr>
              <a:xfrm>
                <a:off x="7019925" y="3876675"/>
                <a:ext cx="95250" cy="95250"/>
              </a:xfrm>
              <a:prstGeom prst="ellipse">
                <a:avLst/>
              </a:prstGeom>
              <a:solidFill>
                <a:srgbClr val="10B981"/>
              </a:solidFill>
              <a:ln>
                <a:noFill/>
              </a:ln>
            </p:spPr>
          </p:sp>
          <p:sp>
            <p:nvSpPr>
              <p:cNvPr id="27" name="TextBox 27"/>
              <p:cNvSpPr txBox="1"/>
              <p:nvPr/>
            </p:nvSpPr>
            <p:spPr>
              <a:xfrm>
                <a:off x="7219950" y="3819525"/>
                <a:ext cx="4528661" cy="304800"/>
              </a:xfrm>
              <a:prstGeom prst="rect">
                <a:avLst/>
              </a:prstGeom>
              <a:noFill/>
              <a:ln>
                <a:noFill/>
              </a:ln>
            </p:spPr>
            <p:txBody>
              <a:bodyPr wrap="none" lIns="0" tIns="0" rIns="0" bIns="0" anchor="t" anchorCtr="0">
                <a:spAutoFit/>
              </a:bodyPr>
              <a:lstStyle/>
              <a:p>
                <a:pPr algn="l"/>
                <a:r>
                  <a:rPr lang="zh-CN" sz="1500" dirty="0">
                    <a:solidFill>
                      <a:srgbClr val="0F172A"/>
                    </a:solidFill>
                    <a:latin typeface="Arial"/>
                    <a:ea typeface="Microsoft YaHei"/>
                    <a:cs typeface="Arial"/>
                  </a:rPr>
                  <a:t>Roles imply budget, bottlenecks, and projects</a:t>
                </a:r>
              </a:p>
            </p:txBody>
          </p:sp>
          <p:sp>
            <p:nvSpPr>
              <p:cNvPr id="28" name="Ellipse 28"/>
              <p:cNvSpPr/>
              <p:nvPr/>
            </p:nvSpPr>
            <p:spPr>
              <a:xfrm>
                <a:off x="7019925" y="4352925"/>
                <a:ext cx="95250" cy="95250"/>
              </a:xfrm>
              <a:prstGeom prst="ellipse">
                <a:avLst/>
              </a:prstGeom>
              <a:solidFill>
                <a:srgbClr val="10B981"/>
              </a:solidFill>
              <a:ln>
                <a:noFill/>
              </a:ln>
            </p:spPr>
          </p:sp>
          <p:sp>
            <p:nvSpPr>
              <p:cNvPr id="29" name="TextBox 29"/>
              <p:cNvSpPr txBox="1"/>
              <p:nvPr/>
            </p:nvSpPr>
            <p:spPr>
              <a:xfrm>
                <a:off x="7219950" y="4295775"/>
                <a:ext cx="3958590" cy="304800"/>
              </a:xfrm>
              <a:prstGeom prst="rect">
                <a:avLst/>
              </a:prstGeom>
              <a:noFill/>
              <a:ln>
                <a:noFill/>
              </a:ln>
            </p:spPr>
            <p:txBody>
              <a:bodyPr wrap="none" lIns="0" tIns="0" rIns="0" bIns="0" anchor="t" anchorCtr="0">
                <a:spAutoFit/>
              </a:bodyPr>
              <a:lstStyle/>
              <a:p>
                <a:pPr algn="l"/>
                <a:r>
                  <a:rPr lang="zh-CN" sz="1500" dirty="0">
                    <a:solidFill>
                      <a:srgbClr val="0F172A"/>
                    </a:solidFill>
                    <a:latin typeface="Arial"/>
                    <a:ea typeface="Microsoft YaHei"/>
                    <a:cs typeface="Arial"/>
                  </a:rPr>
                  <a:t>Outreach can reference actual evidence</a:t>
                </a:r>
              </a:p>
            </p:txBody>
          </p:sp>
        </p:grpSp>
      </p:grpSp>
      <p:grpSp>
        <p:nvGrpSpPr>
          <p:cNvPr id="35" name="Group 35"/>
          <p:cNvGrpSpPr/>
          <p:nvPr/>
        </p:nvGrpSpPr>
        <p:grpSpPr>
          <a:xfrm>
            <a:off x="5734050" y="2114550"/>
            <a:ext cx="723900" cy="2686050"/>
            <a:chOff x="5734050" y="2114550"/>
            <a:chExt cx="723900" cy="2686050"/>
          </a:xfrm>
        </p:grpSpPr>
        <p:sp>
          <p:nvSpPr>
            <p:cNvPr id="32" name="Line 32"/>
            <p:cNvSpPr/>
            <p:nvPr/>
          </p:nvSpPr>
          <p:spPr>
            <a:xfrm>
              <a:off x="6096000" y="2114550"/>
              <a:ext cx="9525" cy="2686050"/>
            </a:xfrm>
            <a:custGeom>
              <a:avLst/>
              <a:gdLst/>
              <a:ahLst/>
              <a:cxnLst/>
              <a:rect l="l" t="t" r="r" b="b"/>
              <a:pathLst>
                <a:path w="9525" h="2686050">
                  <a:moveTo>
                    <a:pt x="0" y="0"/>
                  </a:moveTo>
                  <a:lnTo>
                    <a:pt x="0" y="2686050"/>
                  </a:lnTo>
                </a:path>
              </a:pathLst>
            </a:custGeom>
            <a:noFill/>
            <a:ln w="19050">
              <a:solidFill>
                <a:srgbClr val="E2E8F0"/>
              </a:solidFill>
              <a:custDash>
                <a:ds d="400000" sp="400000"/>
              </a:custDash>
            </a:ln>
          </p:spPr>
        </p:sp>
        <p:sp>
          <p:nvSpPr>
            <p:cNvPr id="33" name="Ellipse 33"/>
            <p:cNvSpPr/>
            <p:nvPr/>
          </p:nvSpPr>
          <p:spPr>
            <a:xfrm>
              <a:off x="5734050" y="3067050"/>
              <a:ext cx="723900" cy="723900"/>
            </a:xfrm>
            <a:prstGeom prst="ellipse">
              <a:avLst/>
            </a:prstGeom>
            <a:solidFill>
              <a:srgbClr val="FFFFFF"/>
            </a:solidFill>
            <a:ln w="19050">
              <a:solidFill>
                <a:srgbClr val="E2E8F0"/>
              </a:solidFill>
            </a:ln>
          </p:spPr>
        </p:sp>
        <p:sp>
          <p:nvSpPr>
            <p:cNvPr id="34" name="TextBox 34"/>
            <p:cNvSpPr txBox="1"/>
            <p:nvPr/>
          </p:nvSpPr>
          <p:spPr>
            <a:xfrm>
              <a:off x="5974892" y="3359468"/>
              <a:ext cx="242216" cy="274320"/>
            </a:xfrm>
            <a:prstGeom prst="rect">
              <a:avLst/>
            </a:prstGeom>
            <a:noFill/>
            <a:ln>
              <a:noFill/>
            </a:ln>
          </p:spPr>
          <p:txBody>
            <a:bodyPr wrap="none" lIns="0" tIns="0" rIns="0" bIns="0" anchor="t" anchorCtr="0">
              <a:spAutoFit/>
            </a:bodyPr>
            <a:lstStyle/>
            <a:p>
              <a:pPr algn="ctr"/>
              <a:r>
                <a:rPr lang="zh-CN" sz="1350" b="1" dirty="0">
                  <a:solidFill>
                    <a:srgbClr val="475569"/>
                  </a:solidFill>
                  <a:latin typeface="Arial"/>
                  <a:ea typeface="Microsoft YaHei"/>
                  <a:cs typeface="Arial"/>
                </a:rPr>
                <a:t>VS</a:t>
              </a:r>
            </a:p>
          </p:txBody>
        </p:sp>
      </p:grpSp>
      <p:grpSp>
        <p:nvGrpSpPr>
          <p:cNvPr id="39" name="Group 39"/>
          <p:cNvGrpSpPr/>
          <p:nvPr/>
        </p:nvGrpSpPr>
        <p:grpSpPr>
          <a:xfrm>
            <a:off x="1428750" y="5314950"/>
            <a:ext cx="9334500" cy="666750"/>
            <a:chOff x="1428750" y="5314950"/>
            <a:chExt cx="9334500" cy="666750"/>
          </a:xfrm>
        </p:grpSpPr>
        <p:sp>
          <p:nvSpPr>
            <p:cNvPr id="36" name="Rectangle 36"/>
            <p:cNvSpPr/>
            <p:nvPr/>
          </p:nvSpPr>
          <p:spPr>
            <a:xfrm>
              <a:off x="1428750" y="5314950"/>
              <a:ext cx="9334500" cy="666750"/>
            </a:xfrm>
            <a:prstGeom prst="roundRect">
              <a:avLst>
                <a:gd name="adj" fmla="val 20000"/>
              </a:avLst>
            </a:prstGeom>
            <a:solidFill>
              <a:srgbClr val="0F172A"/>
            </a:solidFill>
            <a:ln>
              <a:noFill/>
            </a:ln>
          </p:spPr>
        </p:sp>
        <p:sp>
          <p:nvSpPr>
            <p:cNvPr id="37" name="TextBox 37"/>
            <p:cNvSpPr txBox="1"/>
            <p:nvPr/>
          </p:nvSpPr>
          <p:spPr>
            <a:xfrm>
              <a:off x="2799460" y="5463064"/>
              <a:ext cx="6593080"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Buying intent is not just a list problem; it is a timing and evidence problem.</a:t>
              </a:r>
            </a:p>
          </p:txBody>
        </p:sp>
        <p:sp>
          <p:nvSpPr>
            <p:cNvPr id="38" name="TextBox 38"/>
            <p:cNvSpPr txBox="1"/>
            <p:nvPr/>
          </p:nvSpPr>
          <p:spPr>
            <a:xfrm>
              <a:off x="3137595" y="5736431"/>
              <a:ext cx="5916811" cy="228600"/>
            </a:xfrm>
            <a:prstGeom prst="rect">
              <a:avLst/>
            </a:prstGeom>
            <a:noFill/>
            <a:ln>
              <a:noFill/>
            </a:ln>
          </p:spPr>
          <p:txBody>
            <a:bodyPr wrap="none" lIns="0" tIns="0" rIns="0" bIns="0" anchor="t" anchorCtr="0">
              <a:spAutoFit/>
            </a:bodyPr>
            <a:lstStyle/>
            <a:p>
              <a:pPr algn="ctr"/>
              <a:r>
                <a:rPr lang="zh-CN" sz="1125" dirty="0">
                  <a:solidFill>
                    <a:srgbClr val="E2E8F0"/>
                  </a:solidFill>
                  <a:latin typeface="Arial"/>
                  <a:ea typeface="Microsoft YaHei"/>
                  <a:cs typeface="Arial"/>
                </a:rPr>
                <a:t>SignalScout uses hiring activity as the public trail that makes timing defensible.</a:t>
              </a:r>
            </a:p>
          </p:txBody>
        </p:sp>
      </p:grpSp>
      <p:grpSp>
        <p:nvGrpSpPr>
          <p:cNvPr id="42" name="Group 42"/>
          <p:cNvGrpSpPr/>
          <p:nvPr/>
        </p:nvGrpSpPr>
        <p:grpSpPr>
          <a:xfrm>
            <a:off x="521970" y="6322695"/>
            <a:ext cx="11148060" cy="182880"/>
            <a:chOff x="521970" y="6322695"/>
            <a:chExt cx="11148060" cy="182880"/>
          </a:xfrm>
        </p:grpSpPr>
        <p:sp>
          <p:nvSpPr>
            <p:cNvPr id="40" name="TextBox 40"/>
            <p:cNvSpPr txBox="1"/>
            <p:nvPr/>
          </p:nvSpPr>
          <p:spPr>
            <a:xfrm>
              <a:off x="521970" y="6322695"/>
              <a:ext cx="1774479"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Source: slide prep narrative</a:t>
              </a:r>
            </a:p>
          </p:txBody>
        </p:sp>
        <p:sp>
          <p:nvSpPr>
            <p:cNvPr id="41" name="TextBox 41"/>
            <p:cNvSpPr txBox="1"/>
            <p:nvPr/>
          </p:nvSpPr>
          <p:spPr>
            <a:xfrm>
              <a:off x="11225017" y="632269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02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slide(fromBottom)">
                                      <p:cBhvr>
                                        <p:cTn id="7" dur="400"/>
                                        <p:tgtEl>
                                          <p:spTgt spid="19"/>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image">
                                      <p:cBhvr>
                                        <p:cTn id="11" dur="400"/>
                                        <p:tgtEl>
                                          <p:spTgt spid="31"/>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400"/>
                                        <p:tgtEl>
                                          <p:spTgt spid="35"/>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1" grpId="0"/>
      <p:bldP spid="35" grpId="0"/>
      <p:bldP spid="3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493395" y="381000"/>
            <a:ext cx="9606801" cy="1195388"/>
            <a:chOff x="493395" y="381000"/>
            <a:chExt cx="9606801" cy="1195388"/>
          </a:xfrm>
        </p:grpSpPr>
        <p:sp>
          <p:nvSpPr>
            <p:cNvPr id="3" name="Rectangle 3"/>
            <p:cNvSpPr/>
            <p:nvPr/>
          </p:nvSpPr>
          <p:spPr>
            <a:xfrm>
              <a:off x="533400" y="381000"/>
              <a:ext cx="781050" cy="266700"/>
            </a:xfrm>
            <a:prstGeom prst="roundRect">
              <a:avLst>
                <a:gd name="adj" fmla="val 50000"/>
              </a:avLst>
            </a:prstGeom>
            <a:solidFill>
              <a:srgbClr val="10B981">
                <a:alpha val="10000"/>
              </a:srgbClr>
            </a:solidFill>
            <a:ln w="9525">
              <a:solidFill>
                <a:srgbClr val="10B981"/>
              </a:solidFill>
            </a:ln>
          </p:spPr>
        </p:sp>
        <p:sp>
          <p:nvSpPr>
            <p:cNvPr id="4" name="TextBox 4"/>
            <p:cNvSpPr txBox="1"/>
            <p:nvPr/>
          </p:nvSpPr>
          <p:spPr>
            <a:xfrm>
              <a:off x="701419" y="474345"/>
              <a:ext cx="445013"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INSIGHT</a:t>
              </a:r>
            </a:p>
          </p:txBody>
        </p:sp>
        <p:sp>
          <p:nvSpPr>
            <p:cNvPr id="5" name="TextBox 5"/>
            <p:cNvSpPr txBox="1"/>
            <p:nvPr/>
          </p:nvSpPr>
          <p:spPr>
            <a:xfrm>
              <a:off x="493395" y="764858"/>
              <a:ext cx="9606801"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Hiring is a public trail of operational intent.</a:t>
              </a:r>
            </a:p>
          </p:txBody>
        </p:sp>
        <p:sp>
          <p:nvSpPr>
            <p:cNvPr id="6" name="TextBox 6"/>
            <p:cNvSpPr txBox="1"/>
            <p:nvPr/>
          </p:nvSpPr>
          <p:spPr>
            <a:xfrm>
              <a:off x="516255" y="1302068"/>
              <a:ext cx="6623113"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A job post is not proof of budget, but it is evidence of a business priority.</a:t>
              </a:r>
            </a:p>
          </p:txBody>
        </p:sp>
      </p:grpSp>
      <p:grpSp>
        <p:nvGrpSpPr>
          <p:cNvPr id="40" name="Group 40"/>
          <p:cNvGrpSpPr/>
          <p:nvPr/>
        </p:nvGrpSpPr>
        <p:grpSpPr>
          <a:xfrm>
            <a:off x="685800" y="1905000"/>
            <a:ext cx="10820400" cy="3638550"/>
            <a:chOff x="685800" y="1905000"/>
            <a:chExt cx="10820400" cy="3638550"/>
          </a:xfrm>
        </p:grpSpPr>
        <p:sp>
          <p:nvSpPr>
            <p:cNvPr id="8" name="Rectangle 8"/>
            <p:cNvSpPr/>
            <p:nvPr/>
          </p:nvSpPr>
          <p:spPr>
            <a:xfrm>
              <a:off x="685800" y="1905000"/>
              <a:ext cx="10820400" cy="3638550"/>
            </a:xfrm>
            <a:prstGeom prst="roundRect">
              <a:avLst>
                <a:gd name="adj" fmla="val 3665"/>
              </a:avLst>
            </a:prstGeom>
            <a:solidFill>
              <a:srgbClr val="FFFFFF"/>
            </a:solidFill>
            <a:ln w="19050">
              <a:solidFill>
                <a:srgbClr val="E2E8F0"/>
              </a:solidFill>
            </a:ln>
          </p:spPr>
        </p:sp>
        <p:sp>
          <p:nvSpPr>
            <p:cNvPr id="9" name="Rectangle 9"/>
            <p:cNvSpPr/>
            <p:nvPr/>
          </p:nvSpPr>
          <p:spPr>
            <a:xfrm>
              <a:off x="685800" y="1905000"/>
              <a:ext cx="10820400" cy="533400"/>
            </a:xfrm>
            <a:prstGeom prst="roundRect">
              <a:avLst>
                <a:gd name="adj" fmla="val 25000"/>
              </a:avLst>
            </a:prstGeom>
            <a:solidFill>
              <a:srgbClr val="0F172A"/>
            </a:solidFill>
            <a:ln>
              <a:noFill/>
            </a:ln>
          </p:spPr>
        </p:sp>
        <p:sp>
          <p:nvSpPr>
            <p:cNvPr id="10" name="TextBox 10"/>
            <p:cNvSpPr txBox="1"/>
            <p:nvPr/>
          </p:nvSpPr>
          <p:spPr>
            <a:xfrm>
              <a:off x="976312" y="2126456"/>
              <a:ext cx="1123337"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HIRING PATTERN</a:t>
              </a:r>
            </a:p>
          </p:txBody>
        </p:sp>
        <p:sp>
          <p:nvSpPr>
            <p:cNvPr id="11" name="TextBox 11"/>
            <p:cNvSpPr txBox="1"/>
            <p:nvPr/>
          </p:nvSpPr>
          <p:spPr>
            <a:xfrm>
              <a:off x="5205412" y="2126456"/>
              <a:ext cx="1769168"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POSSIBLE BUYING SIGNAL</a:t>
              </a:r>
            </a:p>
          </p:txBody>
        </p:sp>
        <p:sp>
          <p:nvSpPr>
            <p:cNvPr id="12" name="TextBox 12"/>
            <p:cNvSpPr txBox="1"/>
            <p:nvPr/>
          </p:nvSpPr>
          <p:spPr>
            <a:xfrm>
              <a:off x="9205124" y="2126456"/>
              <a:ext cx="1249353"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BEST-FIT SELLER</a:t>
              </a:r>
            </a:p>
          </p:txBody>
        </p:sp>
        <p:sp>
          <p:nvSpPr>
            <p:cNvPr id="13" name="Line 13"/>
            <p:cNvSpPr/>
            <p:nvPr/>
          </p:nvSpPr>
          <p:spPr>
            <a:xfrm>
              <a:off x="4953000" y="1905000"/>
              <a:ext cx="9525" cy="3638550"/>
            </a:xfrm>
            <a:custGeom>
              <a:avLst/>
              <a:gdLst/>
              <a:ahLst/>
              <a:cxnLst/>
              <a:rect l="l" t="t" r="r" b="b"/>
              <a:pathLst>
                <a:path w="9525" h="3638550">
                  <a:moveTo>
                    <a:pt x="0" y="0"/>
                  </a:moveTo>
                  <a:lnTo>
                    <a:pt x="0" y="3638550"/>
                  </a:lnTo>
                </a:path>
              </a:pathLst>
            </a:custGeom>
            <a:noFill/>
            <a:ln w="14288">
              <a:solidFill>
                <a:srgbClr val="E2E8F0"/>
              </a:solidFill>
            </a:ln>
          </p:spPr>
        </p:sp>
        <p:sp>
          <p:nvSpPr>
            <p:cNvPr id="14" name="Line 14"/>
            <p:cNvSpPr/>
            <p:nvPr/>
          </p:nvSpPr>
          <p:spPr>
            <a:xfrm>
              <a:off x="8915400" y="1905000"/>
              <a:ext cx="9525" cy="3638550"/>
            </a:xfrm>
            <a:custGeom>
              <a:avLst/>
              <a:gdLst/>
              <a:ahLst/>
              <a:cxnLst/>
              <a:rect l="l" t="t" r="r" b="b"/>
              <a:pathLst>
                <a:path w="9525" h="3638550">
                  <a:moveTo>
                    <a:pt x="0" y="0"/>
                  </a:moveTo>
                  <a:lnTo>
                    <a:pt x="0" y="3638550"/>
                  </a:lnTo>
                </a:path>
              </a:pathLst>
            </a:custGeom>
            <a:noFill/>
            <a:ln w="14288">
              <a:solidFill>
                <a:srgbClr val="E2E8F0"/>
              </a:solidFill>
            </a:ln>
          </p:spPr>
        </p:sp>
        <p:grpSp>
          <p:nvGrpSpPr>
            <p:cNvPr id="19" name="Group 19"/>
            <p:cNvGrpSpPr/>
            <p:nvPr/>
          </p:nvGrpSpPr>
          <p:grpSpPr>
            <a:xfrm>
              <a:off x="685800" y="2438400"/>
              <a:ext cx="10820400" cy="619125"/>
              <a:chOff x="685800" y="2438400"/>
              <a:chExt cx="10820400" cy="619125"/>
            </a:xfrm>
          </p:grpSpPr>
          <p:sp>
            <p:nvSpPr>
              <p:cNvPr id="15" name="Rectangle 15"/>
              <p:cNvSpPr/>
              <p:nvPr/>
            </p:nvSpPr>
            <p:spPr>
              <a:xfrm>
                <a:off x="685800" y="2438400"/>
                <a:ext cx="10820400" cy="619125"/>
              </a:xfrm>
              <a:prstGeom prst="rect">
                <a:avLst/>
              </a:prstGeom>
              <a:solidFill>
                <a:srgbClr val="10B981">
                  <a:alpha val="8000"/>
                </a:srgbClr>
              </a:solidFill>
              <a:ln>
                <a:noFill/>
              </a:ln>
            </p:spPr>
          </p:sp>
          <p:sp>
            <p:nvSpPr>
              <p:cNvPr id="16" name="TextBox 16"/>
              <p:cNvSpPr txBox="1"/>
              <p:nvPr/>
            </p:nvSpPr>
            <p:spPr>
              <a:xfrm>
                <a:off x="973455" y="2654618"/>
                <a:ext cx="2775133"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BI Analyst + Tableau Developer</a:t>
                </a:r>
              </a:p>
            </p:txBody>
          </p:sp>
          <p:sp>
            <p:nvSpPr>
              <p:cNvPr id="17" name="TextBox 17"/>
              <p:cNvSpPr txBox="1"/>
              <p:nvPr/>
            </p:nvSpPr>
            <p:spPr>
              <a:xfrm>
                <a:off x="5202555" y="2654618"/>
                <a:ext cx="3643741" cy="274320"/>
              </a:xfrm>
              <a:prstGeom prst="rect">
                <a:avLst/>
              </a:prstGeom>
              <a:noFill/>
              <a:ln>
                <a:noFill/>
              </a:ln>
            </p:spPr>
            <p:txBody>
              <a:bodyPr wrap="none" lIns="0" tIns="0" rIns="0" bIns="0" anchor="t" anchorCtr="0">
                <a:spAutoFit/>
              </a:bodyPr>
              <a:lstStyle/>
              <a:p>
                <a:pPr algn="l"/>
                <a:r>
                  <a:rPr lang="zh-CN" sz="1350" dirty="0">
                    <a:solidFill>
                      <a:srgbClr val="0F172A"/>
                    </a:solidFill>
                    <a:latin typeface="Arial"/>
                    <a:ea typeface="Microsoft YaHei"/>
                    <a:cs typeface="Arial"/>
                  </a:rPr>
                  <a:t>Dashboard backlog or reporting initiative</a:t>
                </a:r>
              </a:p>
            </p:txBody>
          </p:sp>
          <p:sp>
            <p:nvSpPr>
              <p:cNvPr id="18" name="TextBox 18"/>
              <p:cNvSpPr txBox="1"/>
              <p:nvPr/>
            </p:nvSpPr>
            <p:spPr>
              <a:xfrm>
                <a:off x="9096270" y="2670810"/>
                <a:ext cx="1467060" cy="243840"/>
              </a:xfrm>
              <a:prstGeom prst="rect">
                <a:avLst/>
              </a:prstGeom>
              <a:noFill/>
              <a:ln>
                <a:noFill/>
              </a:ln>
            </p:spPr>
            <p:txBody>
              <a:bodyPr wrap="none" lIns="0" tIns="0" rIns="0" bIns="0" anchor="t" anchorCtr="0">
                <a:spAutoFit/>
              </a:bodyPr>
              <a:lstStyle/>
              <a:p>
                <a:pPr algn="ctr"/>
                <a:r>
                  <a:rPr lang="zh-CN" sz="1200" b="1" dirty="0">
                    <a:solidFill>
                      <a:srgbClr val="0F172A"/>
                    </a:solidFill>
                    <a:latin typeface="Arial"/>
                    <a:ea typeface="Microsoft YaHei"/>
                    <a:cs typeface="Arial"/>
                  </a:rPr>
                  <a:t>Dashboard agency</a:t>
                </a:r>
              </a:p>
            </p:txBody>
          </p:sp>
        </p:grpSp>
        <p:grpSp>
          <p:nvGrpSpPr>
            <p:cNvPr id="24" name="Group 24"/>
            <p:cNvGrpSpPr/>
            <p:nvPr/>
          </p:nvGrpSpPr>
          <p:grpSpPr>
            <a:xfrm>
              <a:off x="685800" y="3057525"/>
              <a:ext cx="10820400" cy="490537"/>
              <a:chOff x="685800" y="3057525"/>
              <a:chExt cx="10820400" cy="490537"/>
            </a:xfrm>
          </p:grpSpPr>
          <p:sp>
            <p:nvSpPr>
              <p:cNvPr id="20" name="Line 20"/>
              <p:cNvSpPr/>
              <p:nvPr/>
            </p:nvSpPr>
            <p:spPr>
              <a:xfrm>
                <a:off x="685800" y="3057525"/>
                <a:ext cx="10820400" cy="9525"/>
              </a:xfrm>
              <a:custGeom>
                <a:avLst/>
                <a:gdLst/>
                <a:ahLst/>
                <a:cxnLst/>
                <a:rect l="l" t="t" r="r" b="b"/>
                <a:pathLst>
                  <a:path w="10820400" h="9525">
                    <a:moveTo>
                      <a:pt x="0" y="0"/>
                    </a:moveTo>
                    <a:lnTo>
                      <a:pt x="10820400" y="0"/>
                    </a:lnTo>
                  </a:path>
                </a:pathLst>
              </a:custGeom>
              <a:noFill/>
              <a:ln w="9525">
                <a:solidFill>
                  <a:srgbClr val="E2E8F0"/>
                </a:solidFill>
              </a:ln>
            </p:spPr>
          </p:sp>
          <p:sp>
            <p:nvSpPr>
              <p:cNvPr id="21" name="TextBox 21"/>
              <p:cNvSpPr txBox="1"/>
              <p:nvPr/>
            </p:nvSpPr>
            <p:spPr>
              <a:xfrm>
                <a:off x="973455" y="3273742"/>
                <a:ext cx="3190985"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Data Engineer + Analytics Engineer</a:t>
                </a:r>
              </a:p>
            </p:txBody>
          </p:sp>
          <p:sp>
            <p:nvSpPr>
              <p:cNvPr id="22" name="TextBox 22"/>
              <p:cNvSpPr txBox="1"/>
              <p:nvPr/>
            </p:nvSpPr>
            <p:spPr>
              <a:xfrm>
                <a:off x="5202555" y="3273742"/>
                <a:ext cx="2986659"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Pipeline or metrics-layer buildout</a:t>
                </a:r>
              </a:p>
            </p:txBody>
          </p:sp>
          <p:sp>
            <p:nvSpPr>
              <p:cNvPr id="23" name="TextBox 23"/>
              <p:cNvSpPr txBox="1"/>
              <p:nvPr/>
            </p:nvSpPr>
            <p:spPr>
              <a:xfrm>
                <a:off x="9150477" y="3289935"/>
                <a:ext cx="1358646"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Data consultancy</a:t>
                </a:r>
              </a:p>
            </p:txBody>
          </p:sp>
        </p:grpSp>
        <p:grpSp>
          <p:nvGrpSpPr>
            <p:cNvPr id="29" name="Group 29"/>
            <p:cNvGrpSpPr/>
            <p:nvPr/>
          </p:nvGrpSpPr>
          <p:grpSpPr>
            <a:xfrm>
              <a:off x="685800" y="3676650"/>
              <a:ext cx="10820400" cy="490538"/>
              <a:chOff x="685800" y="3676650"/>
              <a:chExt cx="10820400" cy="490538"/>
            </a:xfrm>
          </p:grpSpPr>
          <p:sp>
            <p:nvSpPr>
              <p:cNvPr id="25" name="Line 25"/>
              <p:cNvSpPr/>
              <p:nvPr/>
            </p:nvSpPr>
            <p:spPr>
              <a:xfrm>
                <a:off x="685800" y="3676650"/>
                <a:ext cx="10820400" cy="9525"/>
              </a:xfrm>
              <a:custGeom>
                <a:avLst/>
                <a:gdLst/>
                <a:ahLst/>
                <a:cxnLst/>
                <a:rect l="l" t="t" r="r" b="b"/>
                <a:pathLst>
                  <a:path w="10820400" h="9525">
                    <a:moveTo>
                      <a:pt x="0" y="0"/>
                    </a:moveTo>
                    <a:lnTo>
                      <a:pt x="10820400" y="0"/>
                    </a:lnTo>
                  </a:path>
                </a:pathLst>
              </a:custGeom>
              <a:noFill/>
              <a:ln w="9525">
                <a:solidFill>
                  <a:srgbClr val="E2E8F0"/>
                </a:solidFill>
              </a:ln>
            </p:spPr>
          </p:sp>
          <p:sp>
            <p:nvSpPr>
              <p:cNvPr id="26" name="TextBox 26"/>
              <p:cNvSpPr txBox="1"/>
              <p:nvPr/>
            </p:nvSpPr>
            <p:spPr>
              <a:xfrm>
                <a:off x="973455" y="3892868"/>
                <a:ext cx="1877270"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Cloud Engineer + SRE</a:t>
                </a:r>
              </a:p>
            </p:txBody>
          </p:sp>
          <p:sp>
            <p:nvSpPr>
              <p:cNvPr id="27" name="TextBox 27"/>
              <p:cNvSpPr txBox="1"/>
              <p:nvPr/>
            </p:nvSpPr>
            <p:spPr>
              <a:xfrm>
                <a:off x="5202555" y="3892868"/>
                <a:ext cx="4282821"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Infrastructure modernization or reliability push</a:t>
                </a:r>
              </a:p>
            </p:txBody>
          </p:sp>
          <p:sp>
            <p:nvSpPr>
              <p:cNvPr id="28" name="TextBox 28"/>
              <p:cNvSpPr txBox="1"/>
              <p:nvPr/>
            </p:nvSpPr>
            <p:spPr>
              <a:xfrm>
                <a:off x="9282494" y="3909060"/>
                <a:ext cx="1094613"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Cloud partner</a:t>
                </a:r>
              </a:p>
            </p:txBody>
          </p:sp>
        </p:grpSp>
        <p:grpSp>
          <p:nvGrpSpPr>
            <p:cNvPr id="34" name="Group 34"/>
            <p:cNvGrpSpPr/>
            <p:nvPr/>
          </p:nvGrpSpPr>
          <p:grpSpPr>
            <a:xfrm>
              <a:off x="685800" y="4295775"/>
              <a:ext cx="10820400" cy="490537"/>
              <a:chOff x="685800" y="4295775"/>
              <a:chExt cx="10820400" cy="490537"/>
            </a:xfrm>
          </p:grpSpPr>
          <p:sp>
            <p:nvSpPr>
              <p:cNvPr id="30" name="Line 30"/>
              <p:cNvSpPr/>
              <p:nvPr/>
            </p:nvSpPr>
            <p:spPr>
              <a:xfrm>
                <a:off x="685800" y="4295775"/>
                <a:ext cx="10820400" cy="9525"/>
              </a:xfrm>
              <a:custGeom>
                <a:avLst/>
                <a:gdLst/>
                <a:ahLst/>
                <a:cxnLst/>
                <a:rect l="l" t="t" r="r" b="b"/>
                <a:pathLst>
                  <a:path w="10820400" h="9525">
                    <a:moveTo>
                      <a:pt x="0" y="0"/>
                    </a:moveTo>
                    <a:lnTo>
                      <a:pt x="10820400" y="0"/>
                    </a:lnTo>
                  </a:path>
                </a:pathLst>
              </a:custGeom>
              <a:noFill/>
              <a:ln w="9525">
                <a:solidFill>
                  <a:srgbClr val="E2E8F0"/>
                </a:solidFill>
              </a:ln>
            </p:spPr>
          </p:sp>
          <p:sp>
            <p:nvSpPr>
              <p:cNvPr id="31" name="TextBox 31"/>
              <p:cNvSpPr txBox="1"/>
              <p:nvPr/>
            </p:nvSpPr>
            <p:spPr>
              <a:xfrm>
                <a:off x="973455" y="4511992"/>
                <a:ext cx="260501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Security Engineer + IAM role</a:t>
                </a:r>
              </a:p>
            </p:txBody>
          </p:sp>
          <p:sp>
            <p:nvSpPr>
              <p:cNvPr id="32" name="TextBox 32"/>
              <p:cNvSpPr txBox="1"/>
              <p:nvPr/>
            </p:nvSpPr>
            <p:spPr>
              <a:xfrm>
                <a:off x="5202555" y="4511992"/>
                <a:ext cx="3859768"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Compliance, access, or risk readiness work</a:t>
                </a:r>
              </a:p>
            </p:txBody>
          </p:sp>
          <p:sp>
            <p:nvSpPr>
              <p:cNvPr id="33" name="TextBox 33"/>
              <p:cNvSpPr txBox="1"/>
              <p:nvPr/>
            </p:nvSpPr>
            <p:spPr>
              <a:xfrm>
                <a:off x="9194482" y="4528185"/>
                <a:ext cx="1270635"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Security vendor</a:t>
                </a:r>
              </a:p>
            </p:txBody>
          </p:sp>
        </p:grpSp>
        <p:grpSp>
          <p:nvGrpSpPr>
            <p:cNvPr id="39" name="Group 39"/>
            <p:cNvGrpSpPr/>
            <p:nvPr/>
          </p:nvGrpSpPr>
          <p:grpSpPr>
            <a:xfrm>
              <a:off x="685800" y="4914900"/>
              <a:ext cx="10820400" cy="490538"/>
              <a:chOff x="685800" y="4914900"/>
              <a:chExt cx="10820400" cy="490538"/>
            </a:xfrm>
          </p:grpSpPr>
          <p:sp>
            <p:nvSpPr>
              <p:cNvPr id="35" name="Line 35"/>
              <p:cNvSpPr/>
              <p:nvPr/>
            </p:nvSpPr>
            <p:spPr>
              <a:xfrm>
                <a:off x="685800" y="4914900"/>
                <a:ext cx="10820400" cy="9525"/>
              </a:xfrm>
              <a:custGeom>
                <a:avLst/>
                <a:gdLst/>
                <a:ahLst/>
                <a:cxnLst/>
                <a:rect l="l" t="t" r="r" b="b"/>
                <a:pathLst>
                  <a:path w="10820400" h="9525">
                    <a:moveTo>
                      <a:pt x="0" y="0"/>
                    </a:moveTo>
                    <a:lnTo>
                      <a:pt x="10820400" y="0"/>
                    </a:lnTo>
                  </a:path>
                </a:pathLst>
              </a:custGeom>
              <a:noFill/>
              <a:ln w="9525">
                <a:solidFill>
                  <a:srgbClr val="E2E8F0"/>
                </a:solidFill>
              </a:ln>
            </p:spPr>
          </p:sp>
          <p:sp>
            <p:nvSpPr>
              <p:cNvPr id="36" name="TextBox 36"/>
              <p:cNvSpPr txBox="1"/>
              <p:nvPr/>
            </p:nvSpPr>
            <p:spPr>
              <a:xfrm>
                <a:off x="973455" y="5131118"/>
                <a:ext cx="372025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Automation Specialist + RevOps Manager</a:t>
                </a:r>
              </a:p>
            </p:txBody>
          </p:sp>
          <p:sp>
            <p:nvSpPr>
              <p:cNvPr id="37" name="TextBox 37"/>
              <p:cNvSpPr txBox="1"/>
              <p:nvPr/>
            </p:nvSpPr>
            <p:spPr>
              <a:xfrm>
                <a:off x="5202555" y="5131118"/>
                <a:ext cx="3850767"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Process automation and GTM operations gap</a:t>
                </a:r>
              </a:p>
            </p:txBody>
          </p:sp>
          <p:sp>
            <p:nvSpPr>
              <p:cNvPr id="38" name="TextBox 38"/>
              <p:cNvSpPr txBox="1"/>
              <p:nvPr/>
            </p:nvSpPr>
            <p:spPr>
              <a:xfrm>
                <a:off x="9086469" y="5147310"/>
                <a:ext cx="1486662"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AI automation shop</a:t>
                </a:r>
              </a:p>
            </p:txBody>
          </p:sp>
        </p:grpSp>
      </p:grpSp>
      <p:grpSp>
        <p:nvGrpSpPr>
          <p:cNvPr id="43" name="Group 43"/>
          <p:cNvGrpSpPr/>
          <p:nvPr/>
        </p:nvGrpSpPr>
        <p:grpSpPr>
          <a:xfrm>
            <a:off x="1466850" y="5829300"/>
            <a:ext cx="9258300" cy="419100"/>
            <a:chOff x="1466850" y="5829300"/>
            <a:chExt cx="9258300" cy="419100"/>
          </a:xfrm>
        </p:grpSpPr>
        <p:sp>
          <p:nvSpPr>
            <p:cNvPr id="41" name="Rectangle 41"/>
            <p:cNvSpPr/>
            <p:nvPr/>
          </p:nvSpPr>
          <p:spPr>
            <a:xfrm>
              <a:off x="1466850" y="5829300"/>
              <a:ext cx="9258300" cy="419100"/>
            </a:xfrm>
            <a:prstGeom prst="roundRect">
              <a:avLst>
                <a:gd name="adj" fmla="val 50000"/>
              </a:avLst>
            </a:prstGeom>
            <a:solidFill>
              <a:srgbClr val="F8FAFC"/>
            </a:solidFill>
            <a:ln w="9525">
              <a:solidFill>
                <a:srgbClr val="E2E8F0"/>
              </a:solidFill>
            </a:ln>
          </p:spPr>
        </p:sp>
        <p:sp>
          <p:nvSpPr>
            <p:cNvPr id="42" name="TextBox 42"/>
            <p:cNvSpPr txBox="1"/>
            <p:nvPr/>
          </p:nvSpPr>
          <p:spPr>
            <a:xfrm>
              <a:off x="2556520" y="5966460"/>
              <a:ext cx="7078961" cy="243840"/>
            </a:xfrm>
            <a:prstGeom prst="rect">
              <a:avLst/>
            </a:prstGeom>
            <a:noFill/>
            <a:ln>
              <a:noFill/>
            </a:ln>
          </p:spPr>
          <p:txBody>
            <a:bodyPr wrap="none" lIns="0" tIns="0" rIns="0" bIns="0" anchor="t" anchorCtr="0">
              <a:spAutoFit/>
            </a:bodyPr>
            <a:lstStyle/>
            <a:p>
              <a:pPr algn="ctr"/>
              <a:r>
                <a:rPr lang="zh-CN" sz="1200" b="1" dirty="0">
                  <a:solidFill>
                    <a:srgbClr val="0F172A"/>
                  </a:solidFill>
                  <a:latin typeface="Arial"/>
                  <a:ea typeface="Microsoft YaHei"/>
                  <a:cs typeface="Arial"/>
                </a:rPr>
                <a:t>The bridge is role evidence to vendor need. SignalScout makes that bridge repeatable.</a:t>
              </a:r>
            </a:p>
          </p:txBody>
        </p:sp>
      </p:grpSp>
      <p:grpSp>
        <p:nvGrpSpPr>
          <p:cNvPr id="46" name="Group 46"/>
          <p:cNvGrpSpPr/>
          <p:nvPr/>
        </p:nvGrpSpPr>
        <p:grpSpPr>
          <a:xfrm>
            <a:off x="521970" y="6417945"/>
            <a:ext cx="11148060" cy="182880"/>
            <a:chOff x="521970" y="6417945"/>
            <a:chExt cx="11148060" cy="182880"/>
          </a:xfrm>
        </p:grpSpPr>
        <p:sp>
          <p:nvSpPr>
            <p:cNvPr id="44" name="TextBox 44"/>
            <p:cNvSpPr txBox="1"/>
            <p:nvPr/>
          </p:nvSpPr>
          <p:spPr>
            <a:xfrm>
              <a:off x="521970" y="6417945"/>
              <a:ext cx="5554951"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Slide setup: hiring patterns are interpreted as evidence, not guaranteed purchase intent</a:t>
              </a:r>
            </a:p>
          </p:txBody>
        </p:sp>
        <p:sp>
          <p:nvSpPr>
            <p:cNvPr id="45" name="TextBox 45"/>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03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400"/>
                                        <p:tgtEl>
                                          <p:spTgt spid="4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493395" y="381000"/>
            <a:ext cx="11150494" cy="1195388"/>
            <a:chOff x="493395" y="381000"/>
            <a:chExt cx="11150494" cy="1195388"/>
          </a:xfrm>
        </p:grpSpPr>
        <p:sp>
          <p:nvSpPr>
            <p:cNvPr id="3" name="Rectangle 3"/>
            <p:cNvSpPr/>
            <p:nvPr/>
          </p:nvSpPr>
          <p:spPr>
            <a:xfrm>
              <a:off x="533400" y="381000"/>
              <a:ext cx="819150" cy="266700"/>
            </a:xfrm>
            <a:prstGeom prst="roundRect">
              <a:avLst>
                <a:gd name="adj" fmla="val 50000"/>
              </a:avLst>
            </a:prstGeom>
            <a:solidFill>
              <a:srgbClr val="38BDF8">
                <a:alpha val="12000"/>
              </a:srgbClr>
            </a:solidFill>
            <a:ln w="9525">
              <a:solidFill>
                <a:srgbClr val="38BDF8"/>
              </a:solidFill>
            </a:ln>
          </p:spPr>
        </p:sp>
        <p:sp>
          <p:nvSpPr>
            <p:cNvPr id="4" name="TextBox 4"/>
            <p:cNvSpPr txBox="1"/>
            <p:nvPr/>
          </p:nvSpPr>
          <p:spPr>
            <a:xfrm>
              <a:off x="676363" y="474345"/>
              <a:ext cx="533224"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PRODUCT</a:t>
              </a:r>
            </a:p>
          </p:txBody>
        </p:sp>
        <p:sp>
          <p:nvSpPr>
            <p:cNvPr id="5" name="TextBox 5"/>
            <p:cNvSpPr txBox="1"/>
            <p:nvPr/>
          </p:nvSpPr>
          <p:spPr>
            <a:xfrm>
              <a:off x="493395" y="764858"/>
              <a:ext cx="11150494"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SignalScout turns hiring behavior into sales action.</a:t>
              </a:r>
            </a:p>
          </p:txBody>
        </p:sp>
        <p:sp>
          <p:nvSpPr>
            <p:cNvPr id="6" name="TextBox 6"/>
            <p:cNvSpPr txBox="1"/>
            <p:nvPr/>
          </p:nvSpPr>
          <p:spPr>
            <a:xfrm>
              <a:off x="516255" y="1302068"/>
              <a:ext cx="7784259"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It is a workflow, not just a scraper: each stage creates an artifact the seller can use.</a:t>
              </a:r>
            </a:p>
          </p:txBody>
        </p:sp>
      </p:grpSp>
      <p:grpSp>
        <p:nvGrpSpPr>
          <p:cNvPr id="66" name="Group 66"/>
          <p:cNvGrpSpPr/>
          <p:nvPr/>
        </p:nvGrpSpPr>
        <p:grpSpPr>
          <a:xfrm>
            <a:off x="704850" y="2133600"/>
            <a:ext cx="10629900" cy="2381250"/>
            <a:chOff x="704850" y="2133600"/>
            <a:chExt cx="10629900" cy="2381250"/>
          </a:xfrm>
        </p:grpSpPr>
        <p:sp>
          <p:nvSpPr>
            <p:cNvPr id="8" name="Line 8"/>
            <p:cNvSpPr/>
            <p:nvPr/>
          </p:nvSpPr>
          <p:spPr>
            <a:xfrm>
              <a:off x="1333500" y="3276600"/>
              <a:ext cx="9525000" cy="1"/>
            </a:xfrm>
            <a:prstGeom prst="line">
              <a:avLst/>
            </a:prstGeom>
            <a:noFill/>
            <a:ln w="38100">
              <a:solidFill>
                <a:srgbClr val="38BDF8"/>
              </a:solidFill>
              <a:tailEnd type="triangle" w="lg" len="lg"/>
            </a:ln>
          </p:spPr>
        </p:sp>
        <p:grpSp>
          <p:nvGrpSpPr>
            <p:cNvPr id="19" name="Group 19"/>
            <p:cNvGrpSpPr/>
            <p:nvPr/>
          </p:nvGrpSpPr>
          <p:grpSpPr>
            <a:xfrm>
              <a:off x="704850" y="2133600"/>
              <a:ext cx="1943100" cy="2381250"/>
              <a:chOff x="704850" y="2133600"/>
              <a:chExt cx="1943100" cy="2381250"/>
            </a:xfrm>
          </p:grpSpPr>
          <p:sp>
            <p:nvSpPr>
              <p:cNvPr id="9" name="Rectangle 9"/>
              <p:cNvSpPr/>
              <p:nvPr/>
            </p:nvSpPr>
            <p:spPr>
              <a:xfrm>
                <a:off x="704850" y="2133600"/>
                <a:ext cx="1943100" cy="2381250"/>
              </a:xfrm>
              <a:prstGeom prst="roundRect">
                <a:avLst>
                  <a:gd name="adj" fmla="val 6863"/>
                </a:avLst>
              </a:prstGeom>
              <a:solidFill>
                <a:srgbClr val="F8FAFC"/>
              </a:solidFill>
              <a:ln w="9525">
                <a:solidFill>
                  <a:srgbClr val="E2E8F0"/>
                </a:solidFill>
              </a:ln>
            </p:spPr>
          </p:sp>
          <p:sp>
            <p:nvSpPr>
              <p:cNvPr id="10" name="Ellipse 10"/>
              <p:cNvSpPr/>
              <p:nvPr/>
            </p:nvSpPr>
            <p:spPr>
              <a:xfrm>
                <a:off x="1381125" y="2295525"/>
                <a:ext cx="590550" cy="590550"/>
              </a:xfrm>
              <a:prstGeom prst="ellipse">
                <a:avLst/>
              </a:prstGeom>
              <a:solidFill>
                <a:srgbClr val="FFFFFF"/>
              </a:solidFill>
              <a:ln w="19050">
                <a:solidFill>
                  <a:srgbClr val="10B981"/>
                </a:solidFill>
              </a:ln>
            </p:spPr>
          </p:sp>
          <p:grpSp>
            <p:nvGrpSpPr>
              <p:cNvPr id="14" name="Group 14"/>
              <p:cNvGrpSpPr/>
              <p:nvPr/>
            </p:nvGrpSpPr>
            <p:grpSpPr>
              <a:xfrm>
                <a:off x="1549400" y="2447925"/>
                <a:ext cx="254000" cy="285750"/>
                <a:chOff x="1549400" y="2447925"/>
                <a:chExt cx="254000" cy="285750"/>
              </a:xfrm>
            </p:grpSpPr>
            <p:sp>
              <p:nvSpPr>
                <p:cNvPr id="11" name="Freeform 11"/>
                <p:cNvSpPr/>
                <p:nvPr/>
              </p:nvSpPr>
              <p:spPr>
                <a:xfrm>
                  <a:off x="1549400" y="2447925"/>
                  <a:ext cx="254000" cy="95250"/>
                </a:xfrm>
                <a:custGeom>
                  <a:avLst/>
                  <a:gdLst/>
                  <a:ahLst/>
                  <a:cxnLst/>
                  <a:rect l="l" t="t" r="r" b="b"/>
                  <a:pathLst>
                    <a:path w="254000" h="95250">
                      <a:moveTo>
                        <a:pt x="0" y="47625"/>
                      </a:moveTo>
                      <a:cubicBezTo>
                        <a:pt x="0" y="73928"/>
                        <a:pt x="56860" y="95250"/>
                        <a:pt x="127000" y="95250"/>
                      </a:cubicBezTo>
                      <a:cubicBezTo>
                        <a:pt x="197140" y="95250"/>
                        <a:pt x="254000" y="73928"/>
                        <a:pt x="254000" y="47625"/>
                      </a:cubicBezTo>
                      <a:cubicBezTo>
                        <a:pt x="254000" y="21322"/>
                        <a:pt x="197140" y="0"/>
                        <a:pt x="127000" y="0"/>
                      </a:cubicBezTo>
                      <a:cubicBezTo>
                        <a:pt x="56860" y="0"/>
                        <a:pt x="0" y="21322"/>
                        <a:pt x="0" y="47625"/>
                      </a:cubicBezTo>
                    </a:path>
                  </a:pathLst>
                </a:custGeom>
                <a:noFill/>
                <a:ln w="19050">
                  <a:solidFill>
                    <a:srgbClr val="10B981"/>
                  </a:solidFill>
                </a:ln>
              </p:spPr>
            </p:sp>
            <p:sp>
              <p:nvSpPr>
                <p:cNvPr id="12" name="Freeform 12"/>
                <p:cNvSpPr/>
                <p:nvPr/>
              </p:nvSpPr>
              <p:spPr>
                <a:xfrm>
                  <a:off x="1549400" y="2495550"/>
                  <a:ext cx="254000" cy="142875"/>
                </a:xfrm>
                <a:custGeom>
                  <a:avLst/>
                  <a:gdLst/>
                  <a:ahLst/>
                  <a:cxnLst/>
                  <a:rect l="l" t="t" r="r" b="b"/>
                  <a:pathLst>
                    <a:path w="254000" h="142875">
                      <a:moveTo>
                        <a:pt x="0" y="0"/>
                      </a:moveTo>
                      <a:lnTo>
                        <a:pt x="0" y="95250"/>
                      </a:lnTo>
                      <a:cubicBezTo>
                        <a:pt x="0" y="121553"/>
                        <a:pt x="56860" y="142875"/>
                        <a:pt x="127000" y="142875"/>
                      </a:cubicBezTo>
                      <a:cubicBezTo>
                        <a:pt x="197140" y="142875"/>
                        <a:pt x="254000" y="121553"/>
                        <a:pt x="254000" y="95250"/>
                      </a:cubicBezTo>
                      <a:lnTo>
                        <a:pt x="254000" y="0"/>
                      </a:lnTo>
                    </a:path>
                  </a:pathLst>
                </a:custGeom>
                <a:noFill/>
                <a:ln w="19050">
                  <a:solidFill>
                    <a:srgbClr val="10B981"/>
                  </a:solidFill>
                </a:ln>
              </p:spPr>
            </p:sp>
            <p:sp>
              <p:nvSpPr>
                <p:cNvPr id="13" name="Freeform 13"/>
                <p:cNvSpPr/>
                <p:nvPr/>
              </p:nvSpPr>
              <p:spPr>
                <a:xfrm>
                  <a:off x="1549400" y="2590800"/>
                  <a:ext cx="254000" cy="142875"/>
                </a:xfrm>
                <a:custGeom>
                  <a:avLst/>
                  <a:gdLst/>
                  <a:ahLst/>
                  <a:cxnLst/>
                  <a:rect l="l" t="t" r="r" b="b"/>
                  <a:pathLst>
                    <a:path w="254000" h="142875">
                      <a:moveTo>
                        <a:pt x="0" y="0"/>
                      </a:moveTo>
                      <a:lnTo>
                        <a:pt x="0" y="95250"/>
                      </a:lnTo>
                      <a:cubicBezTo>
                        <a:pt x="0" y="121553"/>
                        <a:pt x="56860" y="142875"/>
                        <a:pt x="127000" y="142875"/>
                      </a:cubicBezTo>
                      <a:cubicBezTo>
                        <a:pt x="197140" y="142875"/>
                        <a:pt x="254000" y="121553"/>
                        <a:pt x="254000" y="95250"/>
                      </a:cubicBezTo>
                      <a:lnTo>
                        <a:pt x="254000" y="0"/>
                      </a:lnTo>
                    </a:path>
                  </a:pathLst>
                </a:custGeom>
                <a:noFill/>
                <a:ln w="19050">
                  <a:solidFill>
                    <a:srgbClr val="10B981"/>
                  </a:solidFill>
                </a:ln>
              </p:spPr>
            </p:sp>
          </p:grpSp>
          <p:sp>
            <p:nvSpPr>
              <p:cNvPr id="15" name="TextBox 15"/>
              <p:cNvSpPr txBox="1"/>
              <p:nvPr/>
            </p:nvSpPr>
            <p:spPr>
              <a:xfrm>
                <a:off x="1198803" y="3030379"/>
                <a:ext cx="955194"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Job data</a:t>
                </a:r>
              </a:p>
            </p:txBody>
          </p:sp>
          <p:sp>
            <p:nvSpPr>
              <p:cNvPr id="16" name="TextBox 16"/>
              <p:cNvSpPr txBox="1"/>
              <p:nvPr/>
            </p:nvSpPr>
            <p:spPr>
              <a:xfrm>
                <a:off x="954881" y="3402806"/>
                <a:ext cx="1443038"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 xml:space="preserve">Postings by company </a:t>
                </a:r>
                <a:r>
                  <a:rPr lang="zh-CN" sz="1125" dirty="0">
                    <a:solidFill>
                      <a:srgbClr val="475569"/>
                    </a:solidFill>
                    <a:latin typeface="Arial"/>
                    <a:ea typeface="Microsoft YaHei"/>
                    <a:cs typeface="Arial"/>
                  </a:rPr>
                  <a:t>and source</a:t>
                </a:r>
              </a:p>
            </p:txBody>
          </p:sp>
          <p:sp>
            <p:nvSpPr>
              <p:cNvPr id="17" name="Rectangle 17"/>
              <p:cNvSpPr/>
              <p:nvPr/>
            </p:nvSpPr>
            <p:spPr>
              <a:xfrm>
                <a:off x="1066800" y="4038600"/>
                <a:ext cx="1219200" cy="266700"/>
              </a:xfrm>
              <a:prstGeom prst="roundRect">
                <a:avLst>
                  <a:gd name="adj" fmla="val 50000"/>
                </a:avLst>
              </a:prstGeom>
              <a:solidFill>
                <a:srgbClr val="10B981">
                  <a:alpha val="10000"/>
                </a:srgbClr>
              </a:solidFill>
              <a:ln>
                <a:noFill/>
              </a:ln>
            </p:spPr>
          </p:sp>
          <p:sp>
            <p:nvSpPr>
              <p:cNvPr id="18" name="TextBox 18"/>
              <p:cNvSpPr txBox="1"/>
              <p:nvPr/>
            </p:nvSpPr>
            <p:spPr>
              <a:xfrm>
                <a:off x="1252268" y="4122420"/>
                <a:ext cx="848263"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FEED</a:t>
                </a:r>
              </a:p>
            </p:txBody>
          </p:sp>
        </p:grpSp>
        <p:grpSp>
          <p:nvGrpSpPr>
            <p:cNvPr id="31" name="Group 31"/>
            <p:cNvGrpSpPr/>
            <p:nvPr/>
          </p:nvGrpSpPr>
          <p:grpSpPr>
            <a:xfrm>
              <a:off x="2876550" y="2133600"/>
              <a:ext cx="1943100" cy="2381250"/>
              <a:chOff x="2876550" y="2133600"/>
              <a:chExt cx="1943100" cy="2381250"/>
            </a:xfrm>
          </p:grpSpPr>
          <p:sp>
            <p:nvSpPr>
              <p:cNvPr id="20" name="Rectangle 20"/>
              <p:cNvSpPr/>
              <p:nvPr/>
            </p:nvSpPr>
            <p:spPr>
              <a:xfrm>
                <a:off x="2876550" y="2133600"/>
                <a:ext cx="1943100" cy="2381250"/>
              </a:xfrm>
              <a:prstGeom prst="roundRect">
                <a:avLst>
                  <a:gd name="adj" fmla="val 6863"/>
                </a:avLst>
              </a:prstGeom>
              <a:solidFill>
                <a:srgbClr val="FFFFFF"/>
              </a:solidFill>
              <a:ln w="9525">
                <a:solidFill>
                  <a:srgbClr val="E2E8F0"/>
                </a:solidFill>
              </a:ln>
            </p:spPr>
          </p:sp>
          <p:sp>
            <p:nvSpPr>
              <p:cNvPr id="21" name="Ellipse 21"/>
              <p:cNvSpPr/>
              <p:nvPr/>
            </p:nvSpPr>
            <p:spPr>
              <a:xfrm>
                <a:off x="3552825" y="2295525"/>
                <a:ext cx="590550" cy="590550"/>
              </a:xfrm>
              <a:prstGeom prst="ellipse">
                <a:avLst/>
              </a:prstGeom>
              <a:solidFill>
                <a:srgbClr val="FFFFFF"/>
              </a:solidFill>
              <a:ln w="19050">
                <a:solidFill>
                  <a:srgbClr val="10B981"/>
                </a:solidFill>
              </a:ln>
            </p:spPr>
          </p:sp>
          <p:grpSp>
            <p:nvGrpSpPr>
              <p:cNvPr id="26" name="Group 26"/>
              <p:cNvGrpSpPr/>
              <p:nvPr/>
            </p:nvGrpSpPr>
            <p:grpSpPr>
              <a:xfrm>
                <a:off x="3721100" y="2495550"/>
                <a:ext cx="293687" cy="246063"/>
                <a:chOff x="3721100" y="2495550"/>
                <a:chExt cx="293687" cy="246063"/>
              </a:xfrm>
            </p:grpSpPr>
            <p:sp>
              <p:nvSpPr>
                <p:cNvPr id="22" name="Freeform 22"/>
                <p:cNvSpPr/>
                <p:nvPr/>
              </p:nvSpPr>
              <p:spPr>
                <a:xfrm>
                  <a:off x="3721100" y="2495550"/>
                  <a:ext cx="254000" cy="9525"/>
                </a:xfrm>
                <a:custGeom>
                  <a:avLst/>
                  <a:gdLst/>
                  <a:ahLst/>
                  <a:cxnLst/>
                  <a:rect l="l" t="t" r="r" b="b"/>
                  <a:pathLst>
                    <a:path w="254000" h="9525">
                      <a:moveTo>
                        <a:pt x="0" y="0"/>
                      </a:moveTo>
                      <a:lnTo>
                        <a:pt x="254000" y="0"/>
                      </a:lnTo>
                    </a:path>
                  </a:pathLst>
                </a:custGeom>
                <a:noFill/>
                <a:ln w="19050">
                  <a:solidFill>
                    <a:srgbClr val="10B981"/>
                  </a:solidFill>
                </a:ln>
              </p:spPr>
            </p:sp>
            <p:sp>
              <p:nvSpPr>
                <p:cNvPr id="23" name="Freeform 23"/>
                <p:cNvSpPr/>
                <p:nvPr/>
              </p:nvSpPr>
              <p:spPr>
                <a:xfrm>
                  <a:off x="3752850" y="2590800"/>
                  <a:ext cx="150812" cy="9525"/>
                </a:xfrm>
                <a:custGeom>
                  <a:avLst/>
                  <a:gdLst/>
                  <a:ahLst/>
                  <a:cxnLst/>
                  <a:rect l="l" t="t" r="r" b="b"/>
                  <a:pathLst>
                    <a:path w="150812" h="9525">
                      <a:moveTo>
                        <a:pt x="0" y="0"/>
                      </a:moveTo>
                      <a:lnTo>
                        <a:pt x="150812" y="0"/>
                      </a:lnTo>
                    </a:path>
                  </a:pathLst>
                </a:custGeom>
                <a:noFill/>
                <a:ln w="19050">
                  <a:solidFill>
                    <a:srgbClr val="10B981"/>
                  </a:solidFill>
                </a:ln>
              </p:spPr>
            </p:sp>
            <p:sp>
              <p:nvSpPr>
                <p:cNvPr id="24" name="Freeform 24"/>
                <p:cNvSpPr/>
                <p:nvPr/>
              </p:nvSpPr>
              <p:spPr>
                <a:xfrm>
                  <a:off x="3800475" y="2686050"/>
                  <a:ext cx="39688" cy="9525"/>
                </a:xfrm>
                <a:custGeom>
                  <a:avLst/>
                  <a:gdLst/>
                  <a:ahLst/>
                  <a:cxnLst/>
                  <a:rect l="l" t="t" r="r" b="b"/>
                  <a:pathLst>
                    <a:path w="39688" h="9525">
                      <a:moveTo>
                        <a:pt x="0" y="0"/>
                      </a:moveTo>
                      <a:lnTo>
                        <a:pt x="39688" y="0"/>
                      </a:lnTo>
                    </a:path>
                  </a:pathLst>
                </a:custGeom>
                <a:noFill/>
                <a:ln w="19050">
                  <a:solidFill>
                    <a:srgbClr val="10B981"/>
                  </a:solidFill>
                </a:ln>
              </p:spPr>
            </p:sp>
            <p:sp>
              <p:nvSpPr>
                <p:cNvPr id="25" name="Freeform 25"/>
                <p:cNvSpPr/>
                <p:nvPr/>
              </p:nvSpPr>
              <p:spPr>
                <a:xfrm>
                  <a:off x="3903662" y="2630488"/>
                  <a:ext cx="111125" cy="111125"/>
                </a:xfrm>
                <a:custGeom>
                  <a:avLst/>
                  <a:gdLst/>
                  <a:ahLst/>
                  <a:cxnLst/>
                  <a:rect l="l" t="t" r="r" b="b"/>
                  <a:pathLst>
                    <a:path w="111125" h="111125">
                      <a:moveTo>
                        <a:pt x="55563" y="111125"/>
                      </a:moveTo>
                      <a:cubicBezTo>
                        <a:pt x="58817" y="97647"/>
                        <a:pt x="65738" y="85328"/>
                        <a:pt x="75533" y="75533"/>
                      </a:cubicBezTo>
                      <a:cubicBezTo>
                        <a:pt x="85328" y="65738"/>
                        <a:pt x="97647" y="58817"/>
                        <a:pt x="111125" y="55562"/>
                      </a:cubicBezTo>
                      <a:cubicBezTo>
                        <a:pt x="97647" y="52308"/>
                        <a:pt x="85328" y="45387"/>
                        <a:pt x="75533" y="35592"/>
                      </a:cubicBezTo>
                      <a:cubicBezTo>
                        <a:pt x="65738" y="25797"/>
                        <a:pt x="58817" y="13478"/>
                        <a:pt x="55563" y="0"/>
                      </a:cubicBezTo>
                      <a:cubicBezTo>
                        <a:pt x="52308" y="13478"/>
                        <a:pt x="45387" y="25797"/>
                        <a:pt x="35592" y="35592"/>
                      </a:cubicBezTo>
                      <a:cubicBezTo>
                        <a:pt x="25797" y="45387"/>
                        <a:pt x="13478" y="52308"/>
                        <a:pt x="0" y="55562"/>
                      </a:cubicBezTo>
                      <a:cubicBezTo>
                        <a:pt x="13478" y="58817"/>
                        <a:pt x="25797" y="65738"/>
                        <a:pt x="35592" y="75533"/>
                      </a:cubicBezTo>
                      <a:cubicBezTo>
                        <a:pt x="45387" y="85328"/>
                        <a:pt x="52308" y="97647"/>
                        <a:pt x="55563" y="111125"/>
                      </a:cubicBezTo>
                    </a:path>
                  </a:pathLst>
                </a:custGeom>
                <a:noFill/>
                <a:ln w="19050">
                  <a:solidFill>
                    <a:srgbClr val="10B981"/>
                  </a:solidFill>
                </a:ln>
              </p:spPr>
            </p:sp>
          </p:grpSp>
          <p:sp>
            <p:nvSpPr>
              <p:cNvPr id="27" name="TextBox 27"/>
              <p:cNvSpPr txBox="1"/>
              <p:nvPr/>
            </p:nvSpPr>
            <p:spPr>
              <a:xfrm>
                <a:off x="3177541" y="3030379"/>
                <a:ext cx="1341118"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Hiring signal</a:t>
                </a:r>
              </a:p>
            </p:txBody>
          </p:sp>
          <p:sp>
            <p:nvSpPr>
              <p:cNvPr id="28" name="TextBox 28"/>
              <p:cNvSpPr txBox="1"/>
              <p:nvPr/>
            </p:nvSpPr>
            <p:spPr>
              <a:xfrm>
                <a:off x="3226594" y="3402806"/>
                <a:ext cx="1243012"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 xml:space="preserve">Role pattern plus </a:t>
                </a:r>
                <a:r>
                  <a:rPr lang="zh-CN" sz="1125" dirty="0">
                    <a:solidFill>
                      <a:srgbClr val="475569"/>
                    </a:solidFill>
                    <a:latin typeface="Arial"/>
                    <a:ea typeface="Microsoft YaHei"/>
                    <a:cs typeface="Arial"/>
                  </a:rPr>
                  <a:t>matched evidence</a:t>
                </a:r>
              </a:p>
            </p:txBody>
          </p:sp>
          <p:sp>
            <p:nvSpPr>
              <p:cNvPr id="29" name="Rectangle 29"/>
              <p:cNvSpPr/>
              <p:nvPr/>
            </p:nvSpPr>
            <p:spPr>
              <a:xfrm>
                <a:off x="3209925" y="4038600"/>
                <a:ext cx="1276350" cy="266700"/>
              </a:xfrm>
              <a:prstGeom prst="roundRect">
                <a:avLst>
                  <a:gd name="adj" fmla="val 50000"/>
                </a:avLst>
              </a:prstGeom>
              <a:solidFill>
                <a:srgbClr val="10B981">
                  <a:alpha val="10000"/>
                </a:srgbClr>
              </a:solidFill>
              <a:ln>
                <a:noFill/>
              </a:ln>
            </p:spPr>
          </p:sp>
          <p:sp>
            <p:nvSpPr>
              <p:cNvPr id="30" name="TextBox 30"/>
              <p:cNvSpPr txBox="1"/>
              <p:nvPr/>
            </p:nvSpPr>
            <p:spPr>
              <a:xfrm>
                <a:off x="3342058" y="4122420"/>
                <a:ext cx="1012084"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REASON</a:t>
                </a:r>
              </a:p>
            </p:txBody>
          </p:sp>
        </p:grpSp>
        <p:grpSp>
          <p:nvGrpSpPr>
            <p:cNvPr id="43" name="Group 43"/>
            <p:cNvGrpSpPr/>
            <p:nvPr/>
          </p:nvGrpSpPr>
          <p:grpSpPr>
            <a:xfrm>
              <a:off x="5048250" y="2133600"/>
              <a:ext cx="1943100" cy="2381250"/>
              <a:chOff x="5048250" y="2133600"/>
              <a:chExt cx="1943100" cy="2381250"/>
            </a:xfrm>
          </p:grpSpPr>
          <p:sp>
            <p:nvSpPr>
              <p:cNvPr id="32" name="Rectangle 32"/>
              <p:cNvSpPr/>
              <p:nvPr/>
            </p:nvSpPr>
            <p:spPr>
              <a:xfrm>
                <a:off x="5048250" y="2133600"/>
                <a:ext cx="1943100" cy="2381250"/>
              </a:xfrm>
              <a:prstGeom prst="roundRect">
                <a:avLst>
                  <a:gd name="adj" fmla="val 6863"/>
                </a:avLst>
              </a:prstGeom>
              <a:solidFill>
                <a:srgbClr val="FFFFFF"/>
              </a:solidFill>
              <a:ln w="19050">
                <a:solidFill>
                  <a:srgbClr val="10B981"/>
                </a:solidFill>
              </a:ln>
            </p:spPr>
          </p:sp>
          <p:sp>
            <p:nvSpPr>
              <p:cNvPr id="33" name="Ellipse 33"/>
              <p:cNvSpPr/>
              <p:nvPr/>
            </p:nvSpPr>
            <p:spPr>
              <a:xfrm>
                <a:off x="5724525" y="2295525"/>
                <a:ext cx="590550" cy="590550"/>
              </a:xfrm>
              <a:prstGeom prst="ellipse">
                <a:avLst/>
              </a:prstGeom>
              <a:solidFill>
                <a:srgbClr val="0F172A"/>
              </a:solidFill>
              <a:ln>
                <a:noFill/>
              </a:ln>
            </p:spPr>
          </p:sp>
          <p:grpSp>
            <p:nvGrpSpPr>
              <p:cNvPr id="38" name="Group 38"/>
              <p:cNvGrpSpPr/>
              <p:nvPr/>
            </p:nvGrpSpPr>
            <p:grpSpPr>
              <a:xfrm>
                <a:off x="5876925" y="2463800"/>
                <a:ext cx="285750" cy="263525"/>
                <a:chOff x="5876925" y="2463800"/>
                <a:chExt cx="285750" cy="263525"/>
              </a:xfrm>
            </p:grpSpPr>
            <p:sp>
              <p:nvSpPr>
                <p:cNvPr id="34" name="Freeform 34"/>
                <p:cNvSpPr/>
                <p:nvPr/>
              </p:nvSpPr>
              <p:spPr>
                <a:xfrm>
                  <a:off x="5876925" y="2590800"/>
                  <a:ext cx="95250" cy="127000"/>
                </a:xfrm>
                <a:custGeom>
                  <a:avLst/>
                  <a:gdLst/>
                  <a:ahLst/>
                  <a:cxnLst/>
                  <a:rect l="l" t="t" r="r" b="b"/>
                  <a:pathLst>
                    <a:path w="95250" h="127000">
                      <a:moveTo>
                        <a:pt x="0" y="15875"/>
                      </a:moveTo>
                      <a:cubicBezTo>
                        <a:pt x="0" y="7107"/>
                        <a:pt x="7107" y="0"/>
                        <a:pt x="15875" y="0"/>
                      </a:cubicBezTo>
                      <a:lnTo>
                        <a:pt x="79375" y="0"/>
                      </a:lnTo>
                      <a:cubicBezTo>
                        <a:pt x="88143" y="0"/>
                        <a:pt x="95250" y="7107"/>
                        <a:pt x="95250" y="15875"/>
                      </a:cubicBezTo>
                      <a:lnTo>
                        <a:pt x="95250" y="111125"/>
                      </a:lnTo>
                      <a:cubicBezTo>
                        <a:pt x="95250" y="119893"/>
                        <a:pt x="88143" y="127000"/>
                        <a:pt x="79375" y="127000"/>
                      </a:cubicBezTo>
                      <a:lnTo>
                        <a:pt x="15875" y="127000"/>
                      </a:lnTo>
                      <a:cubicBezTo>
                        <a:pt x="7107" y="127000"/>
                        <a:pt x="0" y="119893"/>
                        <a:pt x="0" y="111125"/>
                      </a:cubicBezTo>
                      <a:lnTo>
                        <a:pt x="0" y="15875"/>
                      </a:lnTo>
                    </a:path>
                  </a:pathLst>
                </a:custGeom>
                <a:noFill/>
                <a:ln w="19050">
                  <a:solidFill>
                    <a:srgbClr val="FFFFFF"/>
                  </a:solidFill>
                </a:ln>
              </p:spPr>
            </p:sp>
            <p:sp>
              <p:nvSpPr>
                <p:cNvPr id="35" name="Freeform 35"/>
                <p:cNvSpPr/>
                <p:nvPr/>
              </p:nvSpPr>
              <p:spPr>
                <a:xfrm>
                  <a:off x="6067425" y="2527300"/>
                  <a:ext cx="95250" cy="190500"/>
                </a:xfrm>
                <a:custGeom>
                  <a:avLst/>
                  <a:gdLst/>
                  <a:ahLst/>
                  <a:cxnLst/>
                  <a:rect l="l" t="t" r="r" b="b"/>
                  <a:pathLst>
                    <a:path w="95250" h="190500">
                      <a:moveTo>
                        <a:pt x="0" y="15875"/>
                      </a:moveTo>
                      <a:cubicBezTo>
                        <a:pt x="0" y="7107"/>
                        <a:pt x="7107" y="0"/>
                        <a:pt x="15875" y="0"/>
                      </a:cubicBezTo>
                      <a:lnTo>
                        <a:pt x="79375" y="0"/>
                      </a:lnTo>
                      <a:cubicBezTo>
                        <a:pt x="88143" y="0"/>
                        <a:pt x="95250" y="7107"/>
                        <a:pt x="95250" y="15875"/>
                      </a:cubicBezTo>
                      <a:lnTo>
                        <a:pt x="95250" y="174625"/>
                      </a:lnTo>
                      <a:cubicBezTo>
                        <a:pt x="95250" y="183393"/>
                        <a:pt x="88143" y="190500"/>
                        <a:pt x="79375" y="190500"/>
                      </a:cubicBezTo>
                      <a:lnTo>
                        <a:pt x="15875" y="190500"/>
                      </a:lnTo>
                      <a:cubicBezTo>
                        <a:pt x="7107" y="190500"/>
                        <a:pt x="0" y="183393"/>
                        <a:pt x="0" y="174625"/>
                      </a:cubicBezTo>
                      <a:lnTo>
                        <a:pt x="0" y="15875"/>
                      </a:lnTo>
                    </a:path>
                  </a:pathLst>
                </a:custGeom>
                <a:noFill/>
                <a:ln w="19050">
                  <a:solidFill>
                    <a:srgbClr val="FFFFFF"/>
                  </a:solidFill>
                </a:ln>
              </p:spPr>
            </p:sp>
            <p:sp>
              <p:nvSpPr>
                <p:cNvPr id="36" name="Freeform 36"/>
                <p:cNvSpPr/>
                <p:nvPr/>
              </p:nvSpPr>
              <p:spPr>
                <a:xfrm>
                  <a:off x="5972175" y="2463800"/>
                  <a:ext cx="95250" cy="254000"/>
                </a:xfrm>
                <a:custGeom>
                  <a:avLst/>
                  <a:gdLst/>
                  <a:ahLst/>
                  <a:cxnLst/>
                  <a:rect l="l" t="t" r="r" b="b"/>
                  <a:pathLst>
                    <a:path w="95250" h="254000">
                      <a:moveTo>
                        <a:pt x="0" y="15875"/>
                      </a:moveTo>
                      <a:cubicBezTo>
                        <a:pt x="0" y="7107"/>
                        <a:pt x="7107" y="0"/>
                        <a:pt x="15875" y="0"/>
                      </a:cubicBezTo>
                      <a:lnTo>
                        <a:pt x="79375" y="0"/>
                      </a:lnTo>
                      <a:cubicBezTo>
                        <a:pt x="88143" y="0"/>
                        <a:pt x="95250" y="7107"/>
                        <a:pt x="95250" y="15875"/>
                      </a:cubicBezTo>
                      <a:lnTo>
                        <a:pt x="95250" y="238125"/>
                      </a:lnTo>
                      <a:cubicBezTo>
                        <a:pt x="95250" y="246893"/>
                        <a:pt x="88143" y="254000"/>
                        <a:pt x="79375" y="254000"/>
                      </a:cubicBezTo>
                      <a:lnTo>
                        <a:pt x="15875" y="254000"/>
                      </a:lnTo>
                      <a:cubicBezTo>
                        <a:pt x="7107" y="254000"/>
                        <a:pt x="0" y="246893"/>
                        <a:pt x="0" y="238125"/>
                      </a:cubicBezTo>
                      <a:lnTo>
                        <a:pt x="0" y="15875"/>
                      </a:lnTo>
                    </a:path>
                  </a:pathLst>
                </a:custGeom>
                <a:noFill/>
                <a:ln w="19050">
                  <a:solidFill>
                    <a:srgbClr val="FFFFFF"/>
                  </a:solidFill>
                </a:ln>
              </p:spPr>
            </p:sp>
            <p:sp>
              <p:nvSpPr>
                <p:cNvPr id="37" name="Freeform 37"/>
                <p:cNvSpPr/>
                <p:nvPr/>
              </p:nvSpPr>
              <p:spPr>
                <a:xfrm>
                  <a:off x="5892800" y="2717800"/>
                  <a:ext cx="222250" cy="9525"/>
                </a:xfrm>
                <a:custGeom>
                  <a:avLst/>
                  <a:gdLst/>
                  <a:ahLst/>
                  <a:cxnLst/>
                  <a:rect l="l" t="t" r="r" b="b"/>
                  <a:pathLst>
                    <a:path w="222250" h="9525">
                      <a:moveTo>
                        <a:pt x="0" y="0"/>
                      </a:moveTo>
                      <a:lnTo>
                        <a:pt x="222250" y="0"/>
                      </a:lnTo>
                    </a:path>
                  </a:pathLst>
                </a:custGeom>
                <a:noFill/>
                <a:ln w="19050">
                  <a:solidFill>
                    <a:srgbClr val="FFFFFF"/>
                  </a:solidFill>
                </a:ln>
              </p:spPr>
            </p:sp>
          </p:grpSp>
          <p:sp>
            <p:nvSpPr>
              <p:cNvPr id="39" name="TextBox 39"/>
              <p:cNvSpPr txBox="1"/>
              <p:nvPr/>
            </p:nvSpPr>
            <p:spPr>
              <a:xfrm>
                <a:off x="5420913" y="3030379"/>
                <a:ext cx="1197775"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Lead score</a:t>
                </a:r>
              </a:p>
            </p:txBody>
          </p:sp>
          <p:sp>
            <p:nvSpPr>
              <p:cNvPr id="40" name="TextBox 40"/>
              <p:cNvSpPr txBox="1"/>
              <p:nvPr/>
            </p:nvSpPr>
            <p:spPr>
              <a:xfrm>
                <a:off x="5294709" y="3402806"/>
                <a:ext cx="1450181"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 xml:space="preserve">Relevance, urgency, </a:t>
                </a:r>
                <a:r>
                  <a:rPr lang="zh-CN" sz="1125" dirty="0">
                    <a:solidFill>
                      <a:srgbClr val="475569"/>
                    </a:solidFill>
                    <a:latin typeface="Arial"/>
                    <a:ea typeface="Microsoft YaHei"/>
                    <a:cs typeface="Arial"/>
                  </a:rPr>
                  <a:t>and confidence</a:t>
                </a:r>
              </a:p>
            </p:txBody>
          </p:sp>
          <p:sp>
            <p:nvSpPr>
              <p:cNvPr id="41" name="Rectangle 41"/>
              <p:cNvSpPr/>
              <p:nvPr/>
            </p:nvSpPr>
            <p:spPr>
              <a:xfrm>
                <a:off x="5410200" y="4038600"/>
                <a:ext cx="1219200" cy="266700"/>
              </a:xfrm>
              <a:prstGeom prst="roundRect">
                <a:avLst>
                  <a:gd name="adj" fmla="val 50000"/>
                </a:avLst>
              </a:prstGeom>
              <a:solidFill>
                <a:srgbClr val="10B981"/>
              </a:solidFill>
              <a:ln>
                <a:noFill/>
              </a:ln>
            </p:spPr>
          </p:sp>
          <p:sp>
            <p:nvSpPr>
              <p:cNvPr id="42" name="TextBox 42"/>
              <p:cNvSpPr txBox="1"/>
              <p:nvPr/>
            </p:nvSpPr>
            <p:spPr>
              <a:xfrm>
                <a:off x="5595668" y="4122420"/>
                <a:ext cx="848263"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OUTPUT: RANK</a:t>
                </a:r>
              </a:p>
            </p:txBody>
          </p:sp>
        </p:grpSp>
        <p:grpSp>
          <p:nvGrpSpPr>
            <p:cNvPr id="55" name="Group 55"/>
            <p:cNvGrpSpPr/>
            <p:nvPr/>
          </p:nvGrpSpPr>
          <p:grpSpPr>
            <a:xfrm>
              <a:off x="7219950" y="2133600"/>
              <a:ext cx="1943100" cy="2381250"/>
              <a:chOff x="7219950" y="2133600"/>
              <a:chExt cx="1943100" cy="2381250"/>
            </a:xfrm>
          </p:grpSpPr>
          <p:sp>
            <p:nvSpPr>
              <p:cNvPr id="44" name="Rectangle 44"/>
              <p:cNvSpPr/>
              <p:nvPr/>
            </p:nvSpPr>
            <p:spPr>
              <a:xfrm>
                <a:off x="7219950" y="2133600"/>
                <a:ext cx="1943100" cy="2381250"/>
              </a:xfrm>
              <a:prstGeom prst="roundRect">
                <a:avLst>
                  <a:gd name="adj" fmla="val 6863"/>
                </a:avLst>
              </a:prstGeom>
              <a:solidFill>
                <a:srgbClr val="FFFFFF"/>
              </a:solidFill>
              <a:ln w="9525">
                <a:solidFill>
                  <a:srgbClr val="E2E8F0"/>
                </a:solidFill>
              </a:ln>
            </p:spPr>
          </p:sp>
          <p:sp>
            <p:nvSpPr>
              <p:cNvPr id="45" name="Ellipse 45"/>
              <p:cNvSpPr/>
              <p:nvPr/>
            </p:nvSpPr>
            <p:spPr>
              <a:xfrm>
                <a:off x="7896225" y="2295525"/>
                <a:ext cx="590550" cy="590550"/>
              </a:xfrm>
              <a:prstGeom prst="ellipse">
                <a:avLst/>
              </a:prstGeom>
              <a:solidFill>
                <a:srgbClr val="FFFFFF"/>
              </a:solidFill>
              <a:ln w="19050">
                <a:solidFill>
                  <a:srgbClr val="10B981"/>
                </a:solidFill>
              </a:ln>
            </p:spPr>
          </p:sp>
          <p:grpSp>
            <p:nvGrpSpPr>
              <p:cNvPr id="50" name="Group 50"/>
              <p:cNvGrpSpPr/>
              <p:nvPr/>
            </p:nvGrpSpPr>
            <p:grpSpPr>
              <a:xfrm>
                <a:off x="8048625" y="2463800"/>
                <a:ext cx="285750" cy="269875"/>
                <a:chOff x="8048625" y="2463800"/>
                <a:chExt cx="285750" cy="269875"/>
              </a:xfrm>
            </p:grpSpPr>
            <p:sp>
              <p:nvSpPr>
                <p:cNvPr id="46" name="Freeform 46"/>
                <p:cNvSpPr/>
                <p:nvPr/>
              </p:nvSpPr>
              <p:spPr>
                <a:xfrm>
                  <a:off x="8128000" y="2543175"/>
                  <a:ext cx="127000" cy="9525"/>
                </a:xfrm>
                <a:custGeom>
                  <a:avLst/>
                  <a:gdLst/>
                  <a:ahLst/>
                  <a:cxnLst/>
                  <a:rect l="l" t="t" r="r" b="b"/>
                  <a:pathLst>
                    <a:path w="127000" h="9525">
                      <a:moveTo>
                        <a:pt x="0" y="0"/>
                      </a:moveTo>
                      <a:lnTo>
                        <a:pt x="127000" y="0"/>
                      </a:lnTo>
                    </a:path>
                  </a:pathLst>
                </a:custGeom>
                <a:noFill/>
                <a:ln w="19050">
                  <a:solidFill>
                    <a:srgbClr val="10B981"/>
                  </a:solidFill>
                </a:ln>
              </p:spPr>
            </p:sp>
            <p:sp>
              <p:nvSpPr>
                <p:cNvPr id="47" name="Freeform 47"/>
                <p:cNvSpPr/>
                <p:nvPr/>
              </p:nvSpPr>
              <p:spPr>
                <a:xfrm>
                  <a:off x="8128000" y="2606675"/>
                  <a:ext cx="95250" cy="9525"/>
                </a:xfrm>
                <a:custGeom>
                  <a:avLst/>
                  <a:gdLst/>
                  <a:ahLst/>
                  <a:cxnLst/>
                  <a:rect l="l" t="t" r="r" b="b"/>
                  <a:pathLst>
                    <a:path w="95250" h="9525">
                      <a:moveTo>
                        <a:pt x="0" y="0"/>
                      </a:moveTo>
                      <a:lnTo>
                        <a:pt x="95250" y="0"/>
                      </a:lnTo>
                    </a:path>
                  </a:pathLst>
                </a:custGeom>
                <a:noFill/>
                <a:ln w="19050">
                  <a:solidFill>
                    <a:srgbClr val="10B981"/>
                  </a:solidFill>
                </a:ln>
              </p:spPr>
            </p:sp>
            <p:sp>
              <p:nvSpPr>
                <p:cNvPr id="48" name="Freeform 48"/>
                <p:cNvSpPr/>
                <p:nvPr/>
              </p:nvSpPr>
              <p:spPr>
                <a:xfrm>
                  <a:off x="8048625" y="2463800"/>
                  <a:ext cx="285750" cy="269875"/>
                </a:xfrm>
                <a:custGeom>
                  <a:avLst/>
                  <a:gdLst/>
                  <a:ahLst/>
                  <a:cxnLst/>
                  <a:rect l="l" t="t" r="r" b="b"/>
                  <a:pathLst>
                    <a:path w="285750" h="269875">
                      <a:moveTo>
                        <a:pt x="142875" y="269875"/>
                      </a:moveTo>
                      <a:lnTo>
                        <a:pt x="127000" y="254000"/>
                      </a:lnTo>
                      <a:lnTo>
                        <a:pt x="95250" y="222250"/>
                      </a:lnTo>
                      <a:lnTo>
                        <a:pt x="47625" y="222250"/>
                      </a:lnTo>
                      <a:cubicBezTo>
                        <a:pt x="21322" y="222250"/>
                        <a:pt x="0" y="200928"/>
                        <a:pt x="0" y="174625"/>
                      </a:cubicBezTo>
                      <a:lnTo>
                        <a:pt x="0" y="47625"/>
                      </a:lnTo>
                      <a:cubicBezTo>
                        <a:pt x="0" y="21322"/>
                        <a:pt x="21322" y="0"/>
                        <a:pt x="47625" y="0"/>
                      </a:cubicBezTo>
                      <a:lnTo>
                        <a:pt x="238125" y="0"/>
                      </a:lnTo>
                      <a:cubicBezTo>
                        <a:pt x="264428" y="0"/>
                        <a:pt x="285750" y="21322"/>
                        <a:pt x="285750" y="47625"/>
                      </a:cubicBezTo>
                      <a:lnTo>
                        <a:pt x="285750" y="142875"/>
                      </a:lnTo>
                    </a:path>
                  </a:pathLst>
                </a:custGeom>
                <a:noFill/>
                <a:ln w="19050">
                  <a:solidFill>
                    <a:srgbClr val="10B981"/>
                  </a:solidFill>
                </a:ln>
              </p:spPr>
            </p:sp>
            <p:sp>
              <p:nvSpPr>
                <p:cNvPr id="49" name="Freeform 49"/>
                <p:cNvSpPr/>
                <p:nvPr/>
              </p:nvSpPr>
              <p:spPr>
                <a:xfrm>
                  <a:off x="8239125" y="2670175"/>
                  <a:ext cx="95250" cy="63500"/>
                </a:xfrm>
                <a:custGeom>
                  <a:avLst/>
                  <a:gdLst/>
                  <a:ahLst/>
                  <a:cxnLst/>
                  <a:rect l="l" t="t" r="r" b="b"/>
                  <a:pathLst>
                    <a:path w="95250" h="63500">
                      <a:moveTo>
                        <a:pt x="0" y="31750"/>
                      </a:moveTo>
                      <a:lnTo>
                        <a:pt x="31750" y="63500"/>
                      </a:lnTo>
                      <a:lnTo>
                        <a:pt x="95250" y="0"/>
                      </a:lnTo>
                    </a:path>
                  </a:pathLst>
                </a:custGeom>
                <a:noFill/>
                <a:ln w="19050">
                  <a:solidFill>
                    <a:srgbClr val="10B981"/>
                  </a:solidFill>
                </a:ln>
              </p:spPr>
            </p:sp>
          </p:grpSp>
          <p:sp>
            <p:nvSpPr>
              <p:cNvPr id="51" name="TextBox 51"/>
              <p:cNvSpPr txBox="1"/>
              <p:nvPr/>
            </p:nvSpPr>
            <p:spPr>
              <a:xfrm>
                <a:off x="7327980" y="3030379"/>
                <a:ext cx="1727041"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Outreach draft</a:t>
                </a:r>
              </a:p>
            </p:txBody>
          </p:sp>
          <p:sp>
            <p:nvSpPr>
              <p:cNvPr id="52" name="TextBox 52"/>
              <p:cNvSpPr txBox="1"/>
              <p:nvPr/>
            </p:nvSpPr>
            <p:spPr>
              <a:xfrm>
                <a:off x="7584281" y="3402806"/>
                <a:ext cx="1214438"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 xml:space="preserve">Grounded opening </a:t>
                </a:r>
                <a:r>
                  <a:rPr lang="zh-CN" sz="1125" dirty="0">
                    <a:solidFill>
                      <a:srgbClr val="475569"/>
                    </a:solidFill>
                    <a:latin typeface="Arial"/>
                    <a:ea typeface="Microsoft YaHei"/>
                    <a:cs typeface="Arial"/>
                  </a:rPr>
                  <a:t>line and pain</a:t>
                </a:r>
              </a:p>
            </p:txBody>
          </p:sp>
          <p:sp>
            <p:nvSpPr>
              <p:cNvPr id="53" name="Rectangle 53"/>
              <p:cNvSpPr/>
              <p:nvPr/>
            </p:nvSpPr>
            <p:spPr>
              <a:xfrm>
                <a:off x="7524750" y="4038600"/>
                <a:ext cx="1333500" cy="266700"/>
              </a:xfrm>
              <a:prstGeom prst="roundRect">
                <a:avLst>
                  <a:gd name="adj" fmla="val 50000"/>
                </a:avLst>
              </a:prstGeom>
              <a:solidFill>
                <a:srgbClr val="10B981">
                  <a:alpha val="10000"/>
                </a:srgbClr>
              </a:solidFill>
              <a:ln>
                <a:noFill/>
              </a:ln>
            </p:spPr>
          </p:sp>
          <p:sp>
            <p:nvSpPr>
              <p:cNvPr id="54" name="TextBox 54"/>
              <p:cNvSpPr txBox="1"/>
              <p:nvPr/>
            </p:nvSpPr>
            <p:spPr>
              <a:xfrm>
                <a:off x="7735864" y="4122420"/>
                <a:ext cx="911271"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EMAIL</a:t>
                </a:r>
              </a:p>
            </p:txBody>
          </p:sp>
        </p:grpSp>
        <p:grpSp>
          <p:nvGrpSpPr>
            <p:cNvPr id="65" name="Group 65"/>
            <p:cNvGrpSpPr/>
            <p:nvPr/>
          </p:nvGrpSpPr>
          <p:grpSpPr>
            <a:xfrm>
              <a:off x="9391650" y="2133600"/>
              <a:ext cx="1943100" cy="2381250"/>
              <a:chOff x="9391650" y="2133600"/>
              <a:chExt cx="1943100" cy="2381250"/>
            </a:xfrm>
          </p:grpSpPr>
          <p:sp>
            <p:nvSpPr>
              <p:cNvPr id="56" name="Rectangle 56"/>
              <p:cNvSpPr/>
              <p:nvPr/>
            </p:nvSpPr>
            <p:spPr>
              <a:xfrm>
                <a:off x="9391650" y="2133600"/>
                <a:ext cx="1943100" cy="2381250"/>
              </a:xfrm>
              <a:prstGeom prst="roundRect">
                <a:avLst>
                  <a:gd name="adj" fmla="val 6863"/>
                </a:avLst>
              </a:prstGeom>
              <a:solidFill>
                <a:srgbClr val="F8FAFC"/>
              </a:solidFill>
              <a:ln w="9525">
                <a:solidFill>
                  <a:srgbClr val="E2E8F0"/>
                </a:solidFill>
              </a:ln>
            </p:spPr>
          </p:sp>
          <p:sp>
            <p:nvSpPr>
              <p:cNvPr id="57" name="Ellipse 57"/>
              <p:cNvSpPr/>
              <p:nvPr/>
            </p:nvSpPr>
            <p:spPr>
              <a:xfrm>
                <a:off x="10067925" y="2295525"/>
                <a:ext cx="590550" cy="590550"/>
              </a:xfrm>
              <a:prstGeom prst="ellipse">
                <a:avLst/>
              </a:prstGeom>
              <a:solidFill>
                <a:srgbClr val="FFFFFF"/>
              </a:solidFill>
              <a:ln w="19050">
                <a:solidFill>
                  <a:srgbClr val="10B981"/>
                </a:solidFill>
              </a:ln>
            </p:spPr>
          </p:sp>
          <p:grpSp>
            <p:nvGrpSpPr>
              <p:cNvPr id="60" name="Group 60"/>
              <p:cNvGrpSpPr/>
              <p:nvPr/>
            </p:nvGrpSpPr>
            <p:grpSpPr>
              <a:xfrm>
                <a:off x="10215231" y="2447925"/>
                <a:ext cx="290844" cy="290844"/>
                <a:chOff x="10215231" y="2447925"/>
                <a:chExt cx="290844" cy="290844"/>
              </a:xfrm>
            </p:grpSpPr>
            <p:sp>
              <p:nvSpPr>
                <p:cNvPr id="58" name="Freeform 58"/>
                <p:cNvSpPr/>
                <p:nvPr/>
              </p:nvSpPr>
              <p:spPr>
                <a:xfrm>
                  <a:off x="10331450" y="2447925"/>
                  <a:ext cx="174625" cy="174625"/>
                </a:xfrm>
                <a:custGeom>
                  <a:avLst/>
                  <a:gdLst/>
                  <a:ahLst/>
                  <a:cxnLst/>
                  <a:rect l="l" t="t" r="r" b="b"/>
                  <a:pathLst>
                    <a:path w="174625" h="174625">
                      <a:moveTo>
                        <a:pt x="0" y="174625"/>
                      </a:moveTo>
                      <a:lnTo>
                        <a:pt x="174625" y="0"/>
                      </a:lnTo>
                    </a:path>
                  </a:pathLst>
                </a:custGeom>
                <a:noFill/>
                <a:ln w="19050">
                  <a:solidFill>
                    <a:srgbClr val="10B981"/>
                  </a:solidFill>
                </a:ln>
              </p:spPr>
            </p:sp>
            <p:sp>
              <p:nvSpPr>
                <p:cNvPr id="59" name="Freeform 59"/>
                <p:cNvSpPr/>
                <p:nvPr/>
              </p:nvSpPr>
              <p:spPr>
                <a:xfrm>
                  <a:off x="10215231" y="2447925"/>
                  <a:ext cx="290844" cy="290844"/>
                </a:xfrm>
                <a:custGeom>
                  <a:avLst/>
                  <a:gdLst/>
                  <a:ahLst/>
                  <a:cxnLst/>
                  <a:rect l="l" t="t" r="r" b="b"/>
                  <a:pathLst>
                    <a:path w="290844" h="290844">
                      <a:moveTo>
                        <a:pt x="290844" y="0"/>
                      </a:moveTo>
                      <a:lnTo>
                        <a:pt x="187656" y="285750"/>
                      </a:lnTo>
                      <a:cubicBezTo>
                        <a:pt x="186234" y="288854"/>
                        <a:pt x="183133" y="290844"/>
                        <a:pt x="179719" y="290844"/>
                      </a:cubicBezTo>
                      <a:cubicBezTo>
                        <a:pt x="176305" y="290844"/>
                        <a:pt x="173204" y="288854"/>
                        <a:pt x="171781" y="285750"/>
                      </a:cubicBezTo>
                      <a:lnTo>
                        <a:pt x="116219" y="174625"/>
                      </a:lnTo>
                      <a:lnTo>
                        <a:pt x="5094" y="119062"/>
                      </a:lnTo>
                      <a:cubicBezTo>
                        <a:pt x="1990" y="117640"/>
                        <a:pt x="0" y="114539"/>
                        <a:pt x="0" y="111125"/>
                      </a:cubicBezTo>
                      <a:cubicBezTo>
                        <a:pt x="0" y="107711"/>
                        <a:pt x="1990" y="104610"/>
                        <a:pt x="5094" y="103187"/>
                      </a:cubicBezTo>
                      <a:lnTo>
                        <a:pt x="290844" y="0"/>
                      </a:lnTo>
                    </a:path>
                  </a:pathLst>
                </a:custGeom>
                <a:noFill/>
                <a:ln w="19050">
                  <a:solidFill>
                    <a:srgbClr val="10B981"/>
                  </a:solidFill>
                </a:ln>
              </p:spPr>
            </p:sp>
          </p:grpSp>
          <p:sp>
            <p:nvSpPr>
              <p:cNvPr id="61" name="TextBox 61"/>
              <p:cNvSpPr txBox="1"/>
              <p:nvPr/>
            </p:nvSpPr>
            <p:spPr>
              <a:xfrm>
                <a:off x="9698154" y="3030379"/>
                <a:ext cx="1330091"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Slack digest</a:t>
                </a:r>
              </a:p>
            </p:txBody>
          </p:sp>
          <p:sp>
            <p:nvSpPr>
              <p:cNvPr id="62" name="TextBox 62"/>
              <p:cNvSpPr txBox="1"/>
              <p:nvPr/>
            </p:nvSpPr>
            <p:spPr>
              <a:xfrm>
                <a:off x="9884569" y="3402806"/>
                <a:ext cx="957262"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 xml:space="preserve">Morning team </a:t>
                </a:r>
                <a:r>
                  <a:rPr lang="zh-CN" sz="1125" dirty="0">
                    <a:solidFill>
                      <a:srgbClr val="475569"/>
                    </a:solidFill>
                    <a:latin typeface="Arial"/>
                    <a:ea typeface="Microsoft YaHei"/>
                    <a:cs typeface="Arial"/>
                  </a:rPr>
                  <a:t>handoff</a:t>
                </a:r>
              </a:p>
            </p:txBody>
          </p:sp>
          <p:sp>
            <p:nvSpPr>
              <p:cNvPr id="63" name="Rectangle 63"/>
              <p:cNvSpPr/>
              <p:nvPr/>
            </p:nvSpPr>
            <p:spPr>
              <a:xfrm>
                <a:off x="9753600" y="4038600"/>
                <a:ext cx="1219200" cy="266700"/>
              </a:xfrm>
              <a:prstGeom prst="roundRect">
                <a:avLst>
                  <a:gd name="adj" fmla="val 50000"/>
                </a:avLst>
              </a:prstGeom>
              <a:solidFill>
                <a:srgbClr val="10B981">
                  <a:alpha val="10000"/>
                </a:srgbClr>
              </a:solidFill>
              <a:ln>
                <a:noFill/>
              </a:ln>
            </p:spPr>
          </p:sp>
          <p:sp>
            <p:nvSpPr>
              <p:cNvPr id="64" name="TextBox 64"/>
              <p:cNvSpPr txBox="1"/>
              <p:nvPr/>
            </p:nvSpPr>
            <p:spPr>
              <a:xfrm>
                <a:off x="9885512" y="4122420"/>
                <a:ext cx="955377"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DIGEST</a:t>
                </a:r>
              </a:p>
            </p:txBody>
          </p:sp>
        </p:grpSp>
      </p:grpSp>
      <p:grpSp>
        <p:nvGrpSpPr>
          <p:cNvPr id="70" name="Group 70"/>
          <p:cNvGrpSpPr/>
          <p:nvPr/>
        </p:nvGrpSpPr>
        <p:grpSpPr>
          <a:xfrm>
            <a:off x="1962150" y="5219700"/>
            <a:ext cx="8267700" cy="666750"/>
            <a:chOff x="1962150" y="5219700"/>
            <a:chExt cx="8267700" cy="666750"/>
          </a:xfrm>
        </p:grpSpPr>
        <p:sp>
          <p:nvSpPr>
            <p:cNvPr id="67" name="Rectangle 67"/>
            <p:cNvSpPr/>
            <p:nvPr/>
          </p:nvSpPr>
          <p:spPr>
            <a:xfrm>
              <a:off x="1962150" y="5219700"/>
              <a:ext cx="8267700" cy="666750"/>
            </a:xfrm>
            <a:prstGeom prst="roundRect">
              <a:avLst>
                <a:gd name="adj" fmla="val 20000"/>
              </a:avLst>
            </a:prstGeom>
            <a:solidFill>
              <a:srgbClr val="0F172A"/>
            </a:solidFill>
            <a:ln>
              <a:noFill/>
            </a:ln>
          </p:spPr>
        </p:sp>
        <p:sp>
          <p:nvSpPr>
            <p:cNvPr id="68" name="TextBox 68"/>
            <p:cNvSpPr txBox="1"/>
            <p:nvPr/>
          </p:nvSpPr>
          <p:spPr>
            <a:xfrm>
              <a:off x="2851277" y="5359718"/>
              <a:ext cx="648944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The seller sees why the company is ranked, not just that it is ranked.</a:t>
              </a:r>
            </a:p>
          </p:txBody>
        </p:sp>
        <p:sp>
          <p:nvSpPr>
            <p:cNvPr id="69" name="TextBox 69"/>
            <p:cNvSpPr txBox="1"/>
            <p:nvPr/>
          </p:nvSpPr>
          <p:spPr>
            <a:xfrm>
              <a:off x="3775174" y="5631656"/>
              <a:ext cx="4641652" cy="228600"/>
            </a:xfrm>
            <a:prstGeom prst="rect">
              <a:avLst/>
            </a:prstGeom>
            <a:noFill/>
            <a:ln>
              <a:noFill/>
            </a:ln>
          </p:spPr>
          <p:txBody>
            <a:bodyPr wrap="none" lIns="0" tIns="0" rIns="0" bIns="0" anchor="t" anchorCtr="0">
              <a:spAutoFit/>
            </a:bodyPr>
            <a:lstStyle/>
            <a:p>
              <a:pPr algn="ctr"/>
              <a:r>
                <a:rPr lang="zh-CN" sz="1125" dirty="0">
                  <a:solidFill>
                    <a:srgbClr val="E2E8F0"/>
                  </a:solidFill>
                  <a:latin typeface="Arial"/>
                  <a:ea typeface="Microsoft YaHei"/>
                  <a:cs typeface="Arial"/>
                </a:rPr>
                <a:t>That is what makes the live demo defensible in front of judges.</a:t>
              </a:r>
            </a:p>
          </p:txBody>
        </p:sp>
      </p:grpSp>
      <p:grpSp>
        <p:nvGrpSpPr>
          <p:cNvPr id="73" name="Group 73"/>
          <p:cNvGrpSpPr/>
          <p:nvPr/>
        </p:nvGrpSpPr>
        <p:grpSpPr>
          <a:xfrm>
            <a:off x="521970" y="6322695"/>
            <a:ext cx="11148060" cy="182880"/>
            <a:chOff x="521970" y="6322695"/>
            <a:chExt cx="11148060" cy="182880"/>
          </a:xfrm>
        </p:grpSpPr>
        <p:sp>
          <p:nvSpPr>
            <p:cNvPr id="71" name="TextBox 71"/>
            <p:cNvSpPr txBox="1"/>
            <p:nvPr/>
          </p:nvSpPr>
          <p:spPr>
            <a:xfrm>
              <a:off x="521970" y="6322695"/>
              <a:ext cx="3192156"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Workflow: job data to evidence-backed sales action</a:t>
              </a:r>
            </a:p>
          </p:txBody>
        </p:sp>
        <p:sp>
          <p:nvSpPr>
            <p:cNvPr id="72" name="TextBox 72"/>
            <p:cNvSpPr txBox="1"/>
            <p:nvPr/>
          </p:nvSpPr>
          <p:spPr>
            <a:xfrm>
              <a:off x="11225017" y="632269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04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400"/>
                                        <p:tgtEl>
                                          <p:spTgt spid="66"/>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70"/>
                                        </p:tgtEl>
                                        <p:attrNameLst>
                                          <p:attrName>style.visibility</p:attrName>
                                        </p:attrNameLst>
                                      </p:cBhvr>
                                      <p:to>
                                        <p:strVal val="visible"/>
                                      </p:to>
                                    </p:set>
                                    <p:animEffect transition="in" filter="fade">
                                      <p:cBhvr>
                                        <p:cTn id="11"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7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7" name="Group 7"/>
          <p:cNvGrpSpPr/>
          <p:nvPr/>
        </p:nvGrpSpPr>
        <p:grpSpPr>
          <a:xfrm>
            <a:off x="493395" y="381000"/>
            <a:ext cx="9298062" cy="1195388"/>
            <a:chOff x="493395" y="381000"/>
            <a:chExt cx="9298062" cy="1195388"/>
          </a:xfrm>
        </p:grpSpPr>
        <p:sp>
          <p:nvSpPr>
            <p:cNvPr id="3" name="Rectangle 3"/>
            <p:cNvSpPr/>
            <p:nvPr/>
          </p:nvSpPr>
          <p:spPr>
            <a:xfrm>
              <a:off x="533400" y="381000"/>
              <a:ext cx="1104900" cy="266700"/>
            </a:xfrm>
            <a:prstGeom prst="roundRect">
              <a:avLst>
                <a:gd name="adj" fmla="val 50000"/>
              </a:avLst>
            </a:prstGeom>
            <a:solidFill>
              <a:srgbClr val="FFFFFF"/>
            </a:solidFill>
            <a:ln w="9525">
              <a:solidFill>
                <a:srgbClr val="E2E8F0"/>
              </a:solidFill>
            </a:ln>
          </p:spPr>
        </p:sp>
        <p:sp>
          <p:nvSpPr>
            <p:cNvPr id="4" name="TextBox 4"/>
            <p:cNvSpPr txBox="1"/>
            <p:nvPr/>
          </p:nvSpPr>
          <p:spPr>
            <a:xfrm>
              <a:off x="759381" y="474345"/>
              <a:ext cx="652939" cy="182880"/>
            </a:xfrm>
            <a:prstGeom prst="rect">
              <a:avLst/>
            </a:prstGeom>
            <a:noFill/>
            <a:ln>
              <a:noFill/>
            </a:ln>
          </p:spPr>
          <p:txBody>
            <a:bodyPr wrap="none" lIns="0" tIns="0" rIns="0" bIns="0" anchor="t" anchorCtr="0">
              <a:spAutoFit/>
            </a:bodyPr>
            <a:lstStyle/>
            <a:p>
              <a:pPr algn="ctr"/>
              <a:r>
                <a:rPr lang="zh-CN" sz="900" b="1" dirty="0">
                  <a:solidFill>
                    <a:srgbClr val="475569"/>
                  </a:solidFill>
                  <a:latin typeface="Arial"/>
                  <a:ea typeface="Microsoft YaHei"/>
                  <a:cs typeface="Arial"/>
                </a:rPr>
                <a:t>FIRST USER</a:t>
              </a:r>
            </a:p>
          </p:txBody>
        </p:sp>
        <p:sp>
          <p:nvSpPr>
            <p:cNvPr id="5" name="TextBox 5"/>
            <p:cNvSpPr txBox="1"/>
            <p:nvPr/>
          </p:nvSpPr>
          <p:spPr>
            <a:xfrm>
              <a:off x="493395" y="764858"/>
              <a:ext cx="9298062"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Built first for agencies and consultancies.</a:t>
              </a:r>
            </a:p>
          </p:txBody>
        </p:sp>
        <p:sp>
          <p:nvSpPr>
            <p:cNvPr id="6" name="TextBox 6"/>
            <p:cNvSpPr txBox="1"/>
            <p:nvPr/>
          </p:nvSpPr>
          <p:spPr>
            <a:xfrm>
              <a:off x="516255" y="1302068"/>
              <a:ext cx="6119050"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These teams sell expertise into companies that are already changing.</a:t>
              </a:r>
            </a:p>
          </p:txBody>
        </p:sp>
      </p:grpSp>
      <p:grpSp>
        <p:nvGrpSpPr>
          <p:cNvPr id="50" name="Group 50"/>
          <p:cNvGrpSpPr/>
          <p:nvPr/>
        </p:nvGrpSpPr>
        <p:grpSpPr>
          <a:xfrm>
            <a:off x="685800" y="2076450"/>
            <a:ext cx="10763250" cy="3143250"/>
            <a:chOff x="685800" y="2076450"/>
            <a:chExt cx="10763250" cy="3143250"/>
          </a:xfrm>
        </p:grpSpPr>
        <p:grpSp>
          <p:nvGrpSpPr>
            <p:cNvPr id="18" name="Group 18"/>
            <p:cNvGrpSpPr/>
            <p:nvPr/>
          </p:nvGrpSpPr>
          <p:grpSpPr>
            <a:xfrm>
              <a:off x="685800" y="2076450"/>
              <a:ext cx="2476500" cy="3143250"/>
              <a:chOff x="685800" y="2076450"/>
              <a:chExt cx="2476500" cy="3143250"/>
            </a:xfrm>
          </p:grpSpPr>
          <p:sp>
            <p:nvSpPr>
              <p:cNvPr id="8" name="Rectangle 8"/>
              <p:cNvSpPr/>
              <p:nvPr/>
            </p:nvSpPr>
            <p:spPr>
              <a:xfrm>
                <a:off x="685800" y="2076450"/>
                <a:ext cx="2476500" cy="3143250"/>
              </a:xfrm>
              <a:prstGeom prst="roundRect">
                <a:avLst>
                  <a:gd name="adj" fmla="val 5385"/>
                </a:avLst>
              </a:prstGeom>
              <a:solidFill>
                <a:srgbClr val="FFFFFF"/>
              </a:solidFill>
              <a:ln w="9525">
                <a:solidFill>
                  <a:srgbClr val="E2E8F0"/>
                </a:solidFill>
              </a:ln>
            </p:spPr>
          </p:sp>
          <p:sp>
            <p:nvSpPr>
              <p:cNvPr id="9" name="Rectangle 9"/>
              <p:cNvSpPr/>
              <p:nvPr/>
            </p:nvSpPr>
            <p:spPr>
              <a:xfrm>
                <a:off x="685800" y="2076450"/>
                <a:ext cx="2476500" cy="723900"/>
              </a:xfrm>
              <a:prstGeom prst="roundRect">
                <a:avLst>
                  <a:gd name="adj" fmla="val 18421"/>
                </a:avLst>
              </a:prstGeom>
              <a:solidFill>
                <a:srgbClr val="10B981">
                  <a:alpha val="14000"/>
                </a:srgbClr>
              </a:solidFill>
              <a:ln>
                <a:noFill/>
              </a:ln>
            </p:spPr>
          </p:sp>
          <p:grpSp>
            <p:nvGrpSpPr>
              <p:cNvPr id="14" name="Group 14"/>
              <p:cNvGrpSpPr/>
              <p:nvPr/>
            </p:nvGrpSpPr>
            <p:grpSpPr>
              <a:xfrm>
                <a:off x="957262" y="2314575"/>
                <a:ext cx="257175" cy="238125"/>
                <a:chOff x="957262" y="2314575"/>
                <a:chExt cx="257175" cy="238125"/>
              </a:xfrm>
            </p:grpSpPr>
            <p:sp>
              <p:nvSpPr>
                <p:cNvPr id="10" name="Freeform 10"/>
                <p:cNvSpPr/>
                <p:nvPr/>
              </p:nvSpPr>
              <p:spPr>
                <a:xfrm>
                  <a:off x="957262" y="2428875"/>
                  <a:ext cx="85725" cy="114300"/>
                </a:xfrm>
                <a:custGeom>
                  <a:avLst/>
                  <a:gdLst/>
                  <a:ahLst/>
                  <a:cxnLst/>
                  <a:rect l="l" t="t" r="r" b="b"/>
                  <a:pathLst>
                    <a:path w="85725" h="114300">
                      <a:moveTo>
                        <a:pt x="0" y="14288"/>
                      </a:moveTo>
                      <a:cubicBezTo>
                        <a:pt x="0" y="6397"/>
                        <a:pt x="6397" y="0"/>
                        <a:pt x="14288" y="0"/>
                      </a:cubicBezTo>
                      <a:lnTo>
                        <a:pt x="71438" y="0"/>
                      </a:lnTo>
                      <a:cubicBezTo>
                        <a:pt x="79328" y="0"/>
                        <a:pt x="85725" y="6397"/>
                        <a:pt x="85725" y="14288"/>
                      </a:cubicBezTo>
                      <a:lnTo>
                        <a:pt x="85725" y="100012"/>
                      </a:lnTo>
                      <a:cubicBezTo>
                        <a:pt x="85725" y="107903"/>
                        <a:pt x="79328" y="114300"/>
                        <a:pt x="71438" y="114300"/>
                      </a:cubicBezTo>
                      <a:lnTo>
                        <a:pt x="14288" y="114300"/>
                      </a:lnTo>
                      <a:cubicBezTo>
                        <a:pt x="6397" y="114300"/>
                        <a:pt x="0" y="107903"/>
                        <a:pt x="0" y="100012"/>
                      </a:cubicBezTo>
                      <a:lnTo>
                        <a:pt x="0" y="14288"/>
                      </a:lnTo>
                    </a:path>
                  </a:pathLst>
                </a:custGeom>
                <a:noFill/>
                <a:ln w="19050">
                  <a:solidFill>
                    <a:srgbClr val="10B981"/>
                  </a:solidFill>
                </a:ln>
              </p:spPr>
            </p:sp>
            <p:sp>
              <p:nvSpPr>
                <p:cNvPr id="11" name="Freeform 11"/>
                <p:cNvSpPr/>
                <p:nvPr/>
              </p:nvSpPr>
              <p:spPr>
                <a:xfrm>
                  <a:off x="1128712" y="2371725"/>
                  <a:ext cx="85725" cy="171450"/>
                </a:xfrm>
                <a:custGeom>
                  <a:avLst/>
                  <a:gdLst/>
                  <a:ahLst/>
                  <a:cxnLst/>
                  <a:rect l="l" t="t" r="r" b="b"/>
                  <a:pathLst>
                    <a:path w="85725" h="171450">
                      <a:moveTo>
                        <a:pt x="0" y="14288"/>
                      </a:moveTo>
                      <a:cubicBezTo>
                        <a:pt x="0" y="6397"/>
                        <a:pt x="6397" y="0"/>
                        <a:pt x="14288" y="0"/>
                      </a:cubicBezTo>
                      <a:lnTo>
                        <a:pt x="71438" y="0"/>
                      </a:lnTo>
                      <a:cubicBezTo>
                        <a:pt x="79328" y="0"/>
                        <a:pt x="85725" y="6397"/>
                        <a:pt x="85725" y="14288"/>
                      </a:cubicBezTo>
                      <a:lnTo>
                        <a:pt x="85725" y="157162"/>
                      </a:lnTo>
                      <a:cubicBezTo>
                        <a:pt x="85725" y="165053"/>
                        <a:pt x="79328" y="171450"/>
                        <a:pt x="71438" y="171450"/>
                      </a:cubicBezTo>
                      <a:lnTo>
                        <a:pt x="14288" y="171450"/>
                      </a:lnTo>
                      <a:cubicBezTo>
                        <a:pt x="6397" y="171450"/>
                        <a:pt x="0" y="165053"/>
                        <a:pt x="0" y="157162"/>
                      </a:cubicBezTo>
                      <a:lnTo>
                        <a:pt x="0" y="14288"/>
                      </a:lnTo>
                    </a:path>
                  </a:pathLst>
                </a:custGeom>
                <a:noFill/>
                <a:ln w="19050">
                  <a:solidFill>
                    <a:srgbClr val="10B981"/>
                  </a:solidFill>
                </a:ln>
              </p:spPr>
            </p:sp>
            <p:sp>
              <p:nvSpPr>
                <p:cNvPr id="12" name="Freeform 12"/>
                <p:cNvSpPr/>
                <p:nvPr/>
              </p:nvSpPr>
              <p:spPr>
                <a:xfrm>
                  <a:off x="1042988" y="2314575"/>
                  <a:ext cx="85725" cy="228600"/>
                </a:xfrm>
                <a:custGeom>
                  <a:avLst/>
                  <a:gdLst/>
                  <a:ahLst/>
                  <a:cxnLst/>
                  <a:rect l="l" t="t" r="r" b="b"/>
                  <a:pathLst>
                    <a:path w="85725" h="228600">
                      <a:moveTo>
                        <a:pt x="0" y="14288"/>
                      </a:moveTo>
                      <a:cubicBezTo>
                        <a:pt x="0" y="6397"/>
                        <a:pt x="6397" y="0"/>
                        <a:pt x="14288" y="0"/>
                      </a:cubicBezTo>
                      <a:lnTo>
                        <a:pt x="71438" y="0"/>
                      </a:lnTo>
                      <a:cubicBezTo>
                        <a:pt x="79328" y="0"/>
                        <a:pt x="85725" y="6397"/>
                        <a:pt x="85725" y="14288"/>
                      </a:cubicBezTo>
                      <a:lnTo>
                        <a:pt x="85725" y="214312"/>
                      </a:lnTo>
                      <a:cubicBezTo>
                        <a:pt x="85725" y="222203"/>
                        <a:pt x="79328" y="228600"/>
                        <a:pt x="71438" y="228600"/>
                      </a:cubicBezTo>
                      <a:lnTo>
                        <a:pt x="14288" y="228600"/>
                      </a:lnTo>
                      <a:cubicBezTo>
                        <a:pt x="6397" y="228600"/>
                        <a:pt x="0" y="222203"/>
                        <a:pt x="0" y="214312"/>
                      </a:cubicBezTo>
                      <a:lnTo>
                        <a:pt x="0" y="14288"/>
                      </a:lnTo>
                    </a:path>
                  </a:pathLst>
                </a:custGeom>
                <a:noFill/>
                <a:ln w="19050">
                  <a:solidFill>
                    <a:srgbClr val="10B981"/>
                  </a:solidFill>
                </a:ln>
              </p:spPr>
            </p:sp>
            <p:sp>
              <p:nvSpPr>
                <p:cNvPr id="13" name="Freeform 13"/>
                <p:cNvSpPr/>
                <p:nvPr/>
              </p:nvSpPr>
              <p:spPr>
                <a:xfrm>
                  <a:off x="971550" y="2543175"/>
                  <a:ext cx="200025" cy="9525"/>
                </a:xfrm>
                <a:custGeom>
                  <a:avLst/>
                  <a:gdLst/>
                  <a:ahLst/>
                  <a:cxnLst/>
                  <a:rect l="l" t="t" r="r" b="b"/>
                  <a:pathLst>
                    <a:path w="200025" h="9525">
                      <a:moveTo>
                        <a:pt x="0" y="0"/>
                      </a:moveTo>
                      <a:lnTo>
                        <a:pt x="200025" y="0"/>
                      </a:lnTo>
                    </a:path>
                  </a:pathLst>
                </a:custGeom>
                <a:noFill/>
                <a:ln w="19050">
                  <a:solidFill>
                    <a:srgbClr val="10B981"/>
                  </a:solidFill>
                </a:ln>
              </p:spPr>
            </p:sp>
          </p:grpSp>
          <p:sp>
            <p:nvSpPr>
              <p:cNvPr id="15" name="TextBox 15"/>
              <p:cNvSpPr txBox="1"/>
              <p:nvPr/>
            </p:nvSpPr>
            <p:spPr>
              <a:xfrm>
                <a:off x="1392555" y="2330768"/>
                <a:ext cx="1489772"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Data-dashboard</a:t>
                </a:r>
              </a:p>
            </p:txBody>
          </p:sp>
          <p:sp>
            <p:nvSpPr>
              <p:cNvPr id="16" name="TextBox 16"/>
              <p:cNvSpPr txBox="1"/>
              <p:nvPr/>
            </p:nvSpPr>
            <p:spPr>
              <a:xfrm>
                <a:off x="1392555" y="2559368"/>
                <a:ext cx="818738"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agencies</a:t>
                </a:r>
              </a:p>
            </p:txBody>
          </p:sp>
          <p:sp>
            <p:nvSpPr>
              <p:cNvPr id="17" name="TextBox 17"/>
              <p:cNvSpPr txBox="1"/>
              <p:nvPr/>
            </p:nvSpPr>
            <p:spPr>
              <a:xfrm>
                <a:off x="899160" y="3080385"/>
                <a:ext cx="182880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 xml:space="preserve">RevOps and BI roles </a:t>
                </a:r>
                <a:r>
                  <a:rPr lang="zh-CN" sz="1200" dirty="0">
                    <a:solidFill>
                      <a:srgbClr val="475569"/>
                    </a:solidFill>
                    <a:latin typeface="Arial"/>
                    <a:ea typeface="Microsoft YaHei"/>
                    <a:cs typeface="Arial"/>
                  </a:rPr>
                  <a:t xml:space="preserve">signal reporting pain, </a:t>
                </a:r>
                <a:r>
                  <a:rPr lang="zh-CN" sz="1200" dirty="0">
                    <a:solidFill>
                      <a:srgbClr val="475569"/>
                    </a:solidFill>
                    <a:latin typeface="Arial"/>
                    <a:ea typeface="Microsoft YaHei"/>
                    <a:cs typeface="Arial"/>
                  </a:rPr>
                  <a:t xml:space="preserve">dashboard backlog, and </a:t>
                </a:r>
                <a:r>
                  <a:rPr lang="zh-CN" sz="1200" dirty="0">
                    <a:solidFill>
                      <a:srgbClr val="475569"/>
                    </a:solidFill>
                    <a:latin typeface="Arial"/>
                    <a:ea typeface="Microsoft YaHei"/>
                    <a:cs typeface="Arial"/>
                  </a:rPr>
                  <a:t>pipeline visibility needs.</a:t>
                </a:r>
              </a:p>
            </p:txBody>
          </p:sp>
        </p:grpSp>
        <p:grpSp>
          <p:nvGrpSpPr>
            <p:cNvPr id="28" name="Group 28"/>
            <p:cNvGrpSpPr/>
            <p:nvPr/>
          </p:nvGrpSpPr>
          <p:grpSpPr>
            <a:xfrm>
              <a:off x="3448050" y="2076450"/>
              <a:ext cx="2476500" cy="3143250"/>
              <a:chOff x="3448050" y="2076450"/>
              <a:chExt cx="2476500" cy="3143250"/>
            </a:xfrm>
          </p:grpSpPr>
          <p:sp>
            <p:nvSpPr>
              <p:cNvPr id="19" name="Rectangle 19"/>
              <p:cNvSpPr/>
              <p:nvPr/>
            </p:nvSpPr>
            <p:spPr>
              <a:xfrm>
                <a:off x="3448050" y="2076450"/>
                <a:ext cx="2476500" cy="3143250"/>
              </a:xfrm>
              <a:prstGeom prst="roundRect">
                <a:avLst>
                  <a:gd name="adj" fmla="val 5385"/>
                </a:avLst>
              </a:prstGeom>
              <a:solidFill>
                <a:srgbClr val="FFFFFF"/>
              </a:solidFill>
              <a:ln w="9525">
                <a:solidFill>
                  <a:srgbClr val="E2E8F0"/>
                </a:solidFill>
              </a:ln>
            </p:spPr>
          </p:sp>
          <p:sp>
            <p:nvSpPr>
              <p:cNvPr id="20" name="Rectangle 20"/>
              <p:cNvSpPr/>
              <p:nvPr/>
            </p:nvSpPr>
            <p:spPr>
              <a:xfrm>
                <a:off x="3448050" y="2076450"/>
                <a:ext cx="2476500" cy="723900"/>
              </a:xfrm>
              <a:prstGeom prst="roundRect">
                <a:avLst>
                  <a:gd name="adj" fmla="val 18421"/>
                </a:avLst>
              </a:prstGeom>
              <a:solidFill>
                <a:srgbClr val="38BDF8">
                  <a:alpha val="14000"/>
                </a:srgbClr>
              </a:solidFill>
              <a:ln>
                <a:noFill/>
              </a:ln>
            </p:spPr>
          </p:sp>
          <p:grpSp>
            <p:nvGrpSpPr>
              <p:cNvPr id="24" name="Group 24"/>
              <p:cNvGrpSpPr/>
              <p:nvPr/>
            </p:nvGrpSpPr>
            <p:grpSpPr>
              <a:xfrm>
                <a:off x="3733800" y="2300288"/>
                <a:ext cx="228600" cy="257175"/>
                <a:chOff x="3733800" y="2300288"/>
                <a:chExt cx="228600" cy="257175"/>
              </a:xfrm>
            </p:grpSpPr>
            <p:sp>
              <p:nvSpPr>
                <p:cNvPr id="21" name="Freeform 21"/>
                <p:cNvSpPr/>
                <p:nvPr/>
              </p:nvSpPr>
              <p:spPr>
                <a:xfrm>
                  <a:off x="3733800" y="2300288"/>
                  <a:ext cx="228600" cy="85725"/>
                </a:xfrm>
                <a:custGeom>
                  <a:avLst/>
                  <a:gdLst/>
                  <a:ahLst/>
                  <a:cxnLst/>
                  <a:rect l="l" t="t" r="r" b="b"/>
                  <a:pathLst>
                    <a:path w="228600" h="85725">
                      <a:moveTo>
                        <a:pt x="0" y="42862"/>
                      </a:moveTo>
                      <a:cubicBezTo>
                        <a:pt x="0" y="66535"/>
                        <a:pt x="51174" y="85725"/>
                        <a:pt x="114300" y="85725"/>
                      </a:cubicBezTo>
                      <a:cubicBezTo>
                        <a:pt x="177426" y="85725"/>
                        <a:pt x="228600" y="66535"/>
                        <a:pt x="228600" y="42862"/>
                      </a:cubicBezTo>
                      <a:cubicBezTo>
                        <a:pt x="228600" y="19190"/>
                        <a:pt x="177426" y="0"/>
                        <a:pt x="114300" y="0"/>
                      </a:cubicBezTo>
                      <a:cubicBezTo>
                        <a:pt x="51174" y="0"/>
                        <a:pt x="0" y="19190"/>
                        <a:pt x="0" y="42862"/>
                      </a:cubicBezTo>
                    </a:path>
                  </a:pathLst>
                </a:custGeom>
                <a:noFill/>
                <a:ln w="19050">
                  <a:solidFill>
                    <a:srgbClr val="38BDF8"/>
                  </a:solidFill>
                </a:ln>
              </p:spPr>
            </p:sp>
            <p:sp>
              <p:nvSpPr>
                <p:cNvPr id="22" name="Freeform 22"/>
                <p:cNvSpPr/>
                <p:nvPr/>
              </p:nvSpPr>
              <p:spPr>
                <a:xfrm>
                  <a:off x="3733800" y="2343150"/>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38BDF8"/>
                  </a:solidFill>
                </a:ln>
              </p:spPr>
            </p:sp>
            <p:sp>
              <p:nvSpPr>
                <p:cNvPr id="23" name="Freeform 23"/>
                <p:cNvSpPr/>
                <p:nvPr/>
              </p:nvSpPr>
              <p:spPr>
                <a:xfrm>
                  <a:off x="3733800" y="2428875"/>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38BDF8"/>
                  </a:solidFill>
                </a:ln>
              </p:spPr>
            </p:sp>
          </p:grpSp>
          <p:sp>
            <p:nvSpPr>
              <p:cNvPr id="25" name="TextBox 25"/>
              <p:cNvSpPr txBox="1"/>
              <p:nvPr/>
            </p:nvSpPr>
            <p:spPr>
              <a:xfrm>
                <a:off x="4154805" y="2330768"/>
                <a:ext cx="1442516"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Cloud migration</a:t>
                </a:r>
              </a:p>
            </p:txBody>
          </p:sp>
          <p:sp>
            <p:nvSpPr>
              <p:cNvPr id="26" name="TextBox 26"/>
              <p:cNvSpPr txBox="1"/>
              <p:nvPr/>
            </p:nvSpPr>
            <p:spPr>
              <a:xfrm>
                <a:off x="4154805" y="2559368"/>
                <a:ext cx="1291297"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consultancies</a:t>
                </a:r>
              </a:p>
            </p:txBody>
          </p:sp>
          <p:sp>
            <p:nvSpPr>
              <p:cNvPr id="27" name="TextBox 27"/>
              <p:cNvSpPr txBox="1"/>
              <p:nvPr/>
            </p:nvSpPr>
            <p:spPr>
              <a:xfrm>
                <a:off x="3661410" y="3080385"/>
                <a:ext cx="216408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 xml:space="preserve">Cloud engineers and SRE </a:t>
                </a:r>
                <a:r>
                  <a:rPr lang="zh-CN" sz="1200" dirty="0">
                    <a:solidFill>
                      <a:srgbClr val="475569"/>
                    </a:solidFill>
                    <a:latin typeface="Arial"/>
                    <a:ea typeface="Microsoft YaHei"/>
                    <a:cs typeface="Arial"/>
                  </a:rPr>
                  <a:t xml:space="preserve">roles point to reliability, </a:t>
                </a:r>
                <a:r>
                  <a:rPr lang="zh-CN" sz="1200" dirty="0">
                    <a:solidFill>
                      <a:srgbClr val="475569"/>
                    </a:solidFill>
                    <a:latin typeface="Arial"/>
                    <a:ea typeface="Microsoft YaHei"/>
                    <a:cs typeface="Arial"/>
                  </a:rPr>
                  <a:t xml:space="preserve">modernization, and platform </a:t>
                </a:r>
                <a:r>
                  <a:rPr lang="zh-CN" sz="1200" dirty="0">
                    <a:solidFill>
                      <a:srgbClr val="475569"/>
                    </a:solidFill>
                    <a:latin typeface="Arial"/>
                    <a:ea typeface="Microsoft YaHei"/>
                    <a:cs typeface="Arial"/>
                  </a:rPr>
                  <a:t>operations projects.</a:t>
                </a:r>
              </a:p>
            </p:txBody>
          </p:sp>
        </p:grpSp>
        <p:grpSp>
          <p:nvGrpSpPr>
            <p:cNvPr id="38" name="Group 38"/>
            <p:cNvGrpSpPr/>
            <p:nvPr/>
          </p:nvGrpSpPr>
          <p:grpSpPr>
            <a:xfrm>
              <a:off x="6210300" y="2076450"/>
              <a:ext cx="2476500" cy="3143250"/>
              <a:chOff x="6210300" y="2076450"/>
              <a:chExt cx="2476500" cy="3143250"/>
            </a:xfrm>
          </p:grpSpPr>
          <p:sp>
            <p:nvSpPr>
              <p:cNvPr id="29" name="Rectangle 29"/>
              <p:cNvSpPr/>
              <p:nvPr/>
            </p:nvSpPr>
            <p:spPr>
              <a:xfrm>
                <a:off x="6210300" y="2076450"/>
                <a:ext cx="2476500" cy="3143250"/>
              </a:xfrm>
              <a:prstGeom prst="roundRect">
                <a:avLst>
                  <a:gd name="adj" fmla="val 5385"/>
                </a:avLst>
              </a:prstGeom>
              <a:solidFill>
                <a:srgbClr val="FFFFFF"/>
              </a:solidFill>
              <a:ln w="9525">
                <a:solidFill>
                  <a:srgbClr val="E2E8F0"/>
                </a:solidFill>
              </a:ln>
            </p:spPr>
          </p:sp>
          <p:sp>
            <p:nvSpPr>
              <p:cNvPr id="30" name="Rectangle 30"/>
              <p:cNvSpPr/>
              <p:nvPr/>
            </p:nvSpPr>
            <p:spPr>
              <a:xfrm>
                <a:off x="6210300" y="2076450"/>
                <a:ext cx="2476500" cy="723900"/>
              </a:xfrm>
              <a:prstGeom prst="roundRect">
                <a:avLst>
                  <a:gd name="adj" fmla="val 18421"/>
                </a:avLst>
              </a:prstGeom>
              <a:solidFill>
                <a:srgbClr val="0F172A">
                  <a:alpha val="8000"/>
                </a:srgbClr>
              </a:solidFill>
              <a:ln>
                <a:noFill/>
              </a:ln>
            </p:spPr>
          </p:sp>
          <p:grpSp>
            <p:nvGrpSpPr>
              <p:cNvPr id="34" name="Group 34"/>
              <p:cNvGrpSpPr/>
              <p:nvPr/>
            </p:nvGrpSpPr>
            <p:grpSpPr>
              <a:xfrm>
                <a:off x="6481762" y="2300288"/>
                <a:ext cx="257175" cy="257175"/>
                <a:chOff x="6481762" y="2300288"/>
                <a:chExt cx="257175" cy="257175"/>
              </a:xfrm>
            </p:grpSpPr>
            <p:sp>
              <p:nvSpPr>
                <p:cNvPr id="31" name="Freeform 31"/>
                <p:cNvSpPr/>
                <p:nvPr/>
              </p:nvSpPr>
              <p:spPr>
                <a:xfrm>
                  <a:off x="6596062" y="2414588"/>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19050">
                  <a:solidFill>
                    <a:srgbClr val="0F172A"/>
                  </a:solidFill>
                </a:ln>
              </p:spPr>
            </p:sp>
            <p:sp>
              <p:nvSpPr>
                <p:cNvPr id="32" name="Freeform 32"/>
                <p:cNvSpPr/>
                <p:nvPr/>
              </p:nvSpPr>
              <p:spPr>
                <a:xfrm>
                  <a:off x="6538912" y="2357438"/>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19050">
                  <a:solidFill>
                    <a:srgbClr val="0F172A"/>
                  </a:solidFill>
                </a:ln>
              </p:spPr>
            </p:sp>
            <p:sp>
              <p:nvSpPr>
                <p:cNvPr id="33" name="Freeform 33"/>
                <p:cNvSpPr/>
                <p:nvPr/>
              </p:nvSpPr>
              <p:spPr>
                <a:xfrm>
                  <a:off x="6481762" y="2300288"/>
                  <a:ext cx="257175" cy="257175"/>
                </a:xfrm>
                <a:custGeom>
                  <a:avLst/>
                  <a:gdLst/>
                  <a:ahLst/>
                  <a:cxnLst/>
                  <a:rect l="l" t="t" r="r" b="b"/>
                  <a:pathLst>
                    <a:path w="257175" h="257175">
                      <a:moveTo>
                        <a:pt x="0" y="128588"/>
                      </a:moveTo>
                      <a:cubicBezTo>
                        <a:pt x="0" y="199604"/>
                        <a:pt x="57571" y="257175"/>
                        <a:pt x="128588" y="257175"/>
                      </a:cubicBezTo>
                      <a:cubicBezTo>
                        <a:pt x="199604" y="257175"/>
                        <a:pt x="257175" y="199604"/>
                        <a:pt x="257175" y="128588"/>
                      </a:cubicBezTo>
                      <a:cubicBezTo>
                        <a:pt x="257175" y="57571"/>
                        <a:pt x="199604" y="0"/>
                        <a:pt x="128588" y="0"/>
                      </a:cubicBezTo>
                      <a:cubicBezTo>
                        <a:pt x="57571" y="0"/>
                        <a:pt x="0" y="57571"/>
                        <a:pt x="0" y="128588"/>
                      </a:cubicBezTo>
                    </a:path>
                  </a:pathLst>
                </a:custGeom>
                <a:noFill/>
                <a:ln w="19050">
                  <a:solidFill>
                    <a:srgbClr val="0F172A"/>
                  </a:solidFill>
                </a:ln>
              </p:spPr>
            </p:sp>
          </p:grpSp>
          <p:sp>
            <p:nvSpPr>
              <p:cNvPr id="35" name="TextBox 35"/>
              <p:cNvSpPr txBox="1"/>
              <p:nvPr/>
            </p:nvSpPr>
            <p:spPr>
              <a:xfrm>
                <a:off x="6917055" y="2330768"/>
                <a:ext cx="1338553"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Cybersecurity</a:t>
                </a:r>
              </a:p>
            </p:txBody>
          </p:sp>
          <p:sp>
            <p:nvSpPr>
              <p:cNvPr id="36" name="TextBox 36"/>
              <p:cNvSpPr txBox="1"/>
              <p:nvPr/>
            </p:nvSpPr>
            <p:spPr>
              <a:xfrm>
                <a:off x="6917055" y="2559368"/>
                <a:ext cx="76203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vendors</a:t>
                </a:r>
              </a:p>
            </p:txBody>
          </p:sp>
          <p:sp>
            <p:nvSpPr>
              <p:cNvPr id="37" name="TextBox 37"/>
              <p:cNvSpPr txBox="1"/>
              <p:nvPr/>
            </p:nvSpPr>
            <p:spPr>
              <a:xfrm>
                <a:off x="6423660" y="3080385"/>
                <a:ext cx="226314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 xml:space="preserve">Security, compliance, and </a:t>
                </a:r>
                <a:r>
                  <a:rPr lang="zh-CN" sz="1200" dirty="0">
                    <a:solidFill>
                      <a:srgbClr val="475569"/>
                    </a:solidFill>
                    <a:latin typeface="Arial"/>
                    <a:ea typeface="Microsoft YaHei"/>
                    <a:cs typeface="Arial"/>
                  </a:rPr>
                  <a:t xml:space="preserve">IAM hiring can reveal access, </a:t>
                </a:r>
                <a:r>
                  <a:rPr lang="zh-CN" sz="1200" dirty="0">
                    <a:solidFill>
                      <a:srgbClr val="475569"/>
                    </a:solidFill>
                    <a:latin typeface="Arial"/>
                    <a:ea typeface="Microsoft YaHei"/>
                    <a:cs typeface="Arial"/>
                  </a:rPr>
                  <a:t xml:space="preserve">risk readiness, and audit </a:t>
                </a:r>
                <a:r>
                  <a:rPr lang="zh-CN" sz="1200" dirty="0">
                    <a:solidFill>
                      <a:srgbClr val="475569"/>
                    </a:solidFill>
                    <a:latin typeface="Arial"/>
                    <a:ea typeface="Microsoft YaHei"/>
                    <a:cs typeface="Arial"/>
                  </a:rPr>
                  <a:t>pressure before RFPs appear.</a:t>
                </a:r>
              </a:p>
            </p:txBody>
          </p:sp>
        </p:grpSp>
        <p:grpSp>
          <p:nvGrpSpPr>
            <p:cNvPr id="49" name="Group 49"/>
            <p:cNvGrpSpPr/>
            <p:nvPr/>
          </p:nvGrpSpPr>
          <p:grpSpPr>
            <a:xfrm>
              <a:off x="8972550" y="2076450"/>
              <a:ext cx="2476500" cy="3143250"/>
              <a:chOff x="8972550" y="2076450"/>
              <a:chExt cx="2476500" cy="3143250"/>
            </a:xfrm>
          </p:grpSpPr>
          <p:sp>
            <p:nvSpPr>
              <p:cNvPr id="39" name="Rectangle 39"/>
              <p:cNvSpPr/>
              <p:nvPr/>
            </p:nvSpPr>
            <p:spPr>
              <a:xfrm>
                <a:off x="8972550" y="2076450"/>
                <a:ext cx="2476500" cy="3143250"/>
              </a:xfrm>
              <a:prstGeom prst="roundRect">
                <a:avLst>
                  <a:gd name="adj" fmla="val 5385"/>
                </a:avLst>
              </a:prstGeom>
              <a:solidFill>
                <a:srgbClr val="FFFFFF"/>
              </a:solidFill>
              <a:ln w="9525">
                <a:solidFill>
                  <a:srgbClr val="E2E8F0"/>
                </a:solidFill>
              </a:ln>
            </p:spPr>
          </p:sp>
          <p:sp>
            <p:nvSpPr>
              <p:cNvPr id="40" name="Rectangle 40"/>
              <p:cNvSpPr/>
              <p:nvPr/>
            </p:nvSpPr>
            <p:spPr>
              <a:xfrm>
                <a:off x="8972550" y="2076450"/>
                <a:ext cx="2476500" cy="723900"/>
              </a:xfrm>
              <a:prstGeom prst="roundRect">
                <a:avLst>
                  <a:gd name="adj" fmla="val 18421"/>
                </a:avLst>
              </a:prstGeom>
              <a:solidFill>
                <a:srgbClr val="F59E0B">
                  <a:alpha val="14000"/>
                </a:srgbClr>
              </a:solidFill>
              <a:ln>
                <a:noFill/>
              </a:ln>
            </p:spPr>
          </p:sp>
          <p:grpSp>
            <p:nvGrpSpPr>
              <p:cNvPr id="45" name="Group 45"/>
              <p:cNvGrpSpPr/>
              <p:nvPr/>
            </p:nvGrpSpPr>
            <p:grpSpPr>
              <a:xfrm>
                <a:off x="9258300" y="2343150"/>
                <a:ext cx="264318" cy="221456"/>
                <a:chOff x="9258300" y="2343150"/>
                <a:chExt cx="264318" cy="221456"/>
              </a:xfrm>
            </p:grpSpPr>
            <p:sp>
              <p:nvSpPr>
                <p:cNvPr id="41" name="Freeform 41"/>
                <p:cNvSpPr/>
                <p:nvPr/>
              </p:nvSpPr>
              <p:spPr>
                <a:xfrm>
                  <a:off x="9258300" y="2343150"/>
                  <a:ext cx="228600" cy="9525"/>
                </a:xfrm>
                <a:custGeom>
                  <a:avLst/>
                  <a:gdLst/>
                  <a:ahLst/>
                  <a:cxnLst/>
                  <a:rect l="l" t="t" r="r" b="b"/>
                  <a:pathLst>
                    <a:path w="228600" h="9525">
                      <a:moveTo>
                        <a:pt x="0" y="0"/>
                      </a:moveTo>
                      <a:lnTo>
                        <a:pt x="228600" y="0"/>
                      </a:lnTo>
                    </a:path>
                  </a:pathLst>
                </a:custGeom>
                <a:noFill/>
                <a:ln w="19050">
                  <a:solidFill>
                    <a:srgbClr val="F59E0B"/>
                  </a:solidFill>
                </a:ln>
              </p:spPr>
            </p:sp>
            <p:sp>
              <p:nvSpPr>
                <p:cNvPr id="42" name="Freeform 42"/>
                <p:cNvSpPr/>
                <p:nvPr/>
              </p:nvSpPr>
              <p:spPr>
                <a:xfrm>
                  <a:off x="9286875" y="2428875"/>
                  <a:ext cx="135731" cy="9525"/>
                </a:xfrm>
                <a:custGeom>
                  <a:avLst/>
                  <a:gdLst/>
                  <a:ahLst/>
                  <a:cxnLst/>
                  <a:rect l="l" t="t" r="r" b="b"/>
                  <a:pathLst>
                    <a:path w="135731" h="9525">
                      <a:moveTo>
                        <a:pt x="0" y="0"/>
                      </a:moveTo>
                      <a:lnTo>
                        <a:pt x="135731" y="0"/>
                      </a:lnTo>
                    </a:path>
                  </a:pathLst>
                </a:custGeom>
                <a:noFill/>
                <a:ln w="19050">
                  <a:solidFill>
                    <a:srgbClr val="F59E0B"/>
                  </a:solidFill>
                </a:ln>
              </p:spPr>
            </p:sp>
            <p:sp>
              <p:nvSpPr>
                <p:cNvPr id="43" name="Freeform 43"/>
                <p:cNvSpPr/>
                <p:nvPr/>
              </p:nvSpPr>
              <p:spPr>
                <a:xfrm>
                  <a:off x="9329738" y="2514600"/>
                  <a:ext cx="35719" cy="9525"/>
                </a:xfrm>
                <a:custGeom>
                  <a:avLst/>
                  <a:gdLst/>
                  <a:ahLst/>
                  <a:cxnLst/>
                  <a:rect l="l" t="t" r="r" b="b"/>
                  <a:pathLst>
                    <a:path w="35719" h="9525">
                      <a:moveTo>
                        <a:pt x="0" y="0"/>
                      </a:moveTo>
                      <a:lnTo>
                        <a:pt x="35719" y="0"/>
                      </a:lnTo>
                    </a:path>
                  </a:pathLst>
                </a:custGeom>
                <a:noFill/>
                <a:ln w="19050">
                  <a:solidFill>
                    <a:srgbClr val="F59E0B"/>
                  </a:solidFill>
                </a:ln>
              </p:spPr>
            </p:sp>
            <p:sp>
              <p:nvSpPr>
                <p:cNvPr id="44" name="Freeform 44"/>
                <p:cNvSpPr/>
                <p:nvPr/>
              </p:nvSpPr>
              <p:spPr>
                <a:xfrm>
                  <a:off x="9422606" y="2464594"/>
                  <a:ext cx="100012" cy="100012"/>
                </a:xfrm>
                <a:custGeom>
                  <a:avLst/>
                  <a:gdLst/>
                  <a:ahLst/>
                  <a:cxnLst/>
                  <a:rect l="l" t="t" r="r" b="b"/>
                  <a:pathLst>
                    <a:path w="100012" h="100012">
                      <a:moveTo>
                        <a:pt x="50006" y="100012"/>
                      </a:moveTo>
                      <a:cubicBezTo>
                        <a:pt x="52935" y="87882"/>
                        <a:pt x="59165" y="76795"/>
                        <a:pt x="67980" y="67980"/>
                      </a:cubicBezTo>
                      <a:cubicBezTo>
                        <a:pt x="76795" y="59165"/>
                        <a:pt x="87882" y="52935"/>
                        <a:pt x="100012" y="50006"/>
                      </a:cubicBezTo>
                      <a:cubicBezTo>
                        <a:pt x="87882" y="47077"/>
                        <a:pt x="76795" y="40848"/>
                        <a:pt x="67980" y="32033"/>
                      </a:cubicBezTo>
                      <a:cubicBezTo>
                        <a:pt x="59165" y="23217"/>
                        <a:pt x="52935" y="12130"/>
                        <a:pt x="50006" y="0"/>
                      </a:cubicBezTo>
                      <a:cubicBezTo>
                        <a:pt x="47077" y="12130"/>
                        <a:pt x="40848" y="23217"/>
                        <a:pt x="32033" y="32033"/>
                      </a:cubicBezTo>
                      <a:cubicBezTo>
                        <a:pt x="23217" y="40848"/>
                        <a:pt x="12130" y="47077"/>
                        <a:pt x="0" y="50006"/>
                      </a:cubicBezTo>
                      <a:cubicBezTo>
                        <a:pt x="12130" y="52935"/>
                        <a:pt x="23217" y="59165"/>
                        <a:pt x="32033" y="67980"/>
                      </a:cubicBezTo>
                      <a:cubicBezTo>
                        <a:pt x="40848" y="76795"/>
                        <a:pt x="47077" y="87882"/>
                        <a:pt x="50006" y="100012"/>
                      </a:cubicBezTo>
                    </a:path>
                  </a:pathLst>
                </a:custGeom>
                <a:noFill/>
                <a:ln w="19050">
                  <a:solidFill>
                    <a:srgbClr val="F59E0B"/>
                  </a:solidFill>
                </a:ln>
              </p:spPr>
            </p:sp>
          </p:grpSp>
          <p:sp>
            <p:nvSpPr>
              <p:cNvPr id="46" name="TextBox 46"/>
              <p:cNvSpPr txBox="1"/>
              <p:nvPr/>
            </p:nvSpPr>
            <p:spPr>
              <a:xfrm>
                <a:off x="9679305" y="2330768"/>
                <a:ext cx="1281846"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AI automation</a:t>
                </a:r>
              </a:p>
            </p:txBody>
          </p:sp>
          <p:sp>
            <p:nvSpPr>
              <p:cNvPr id="47" name="TextBox 47"/>
              <p:cNvSpPr txBox="1"/>
              <p:nvPr/>
            </p:nvSpPr>
            <p:spPr>
              <a:xfrm>
                <a:off x="9679305" y="2559368"/>
                <a:ext cx="92270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providers</a:t>
                </a:r>
              </a:p>
            </p:txBody>
          </p:sp>
          <p:sp>
            <p:nvSpPr>
              <p:cNvPr id="48" name="TextBox 48"/>
              <p:cNvSpPr txBox="1"/>
              <p:nvPr/>
            </p:nvSpPr>
            <p:spPr>
              <a:xfrm>
                <a:off x="9185910" y="3080385"/>
                <a:ext cx="214884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 xml:space="preserve">Automation and operations </a:t>
                </a:r>
                <a:r>
                  <a:rPr lang="zh-CN" sz="1200" dirty="0">
                    <a:solidFill>
                      <a:srgbClr val="475569"/>
                    </a:solidFill>
                    <a:latin typeface="Arial"/>
                    <a:ea typeface="Microsoft YaHei"/>
                    <a:cs typeface="Arial"/>
                  </a:rPr>
                  <a:t xml:space="preserve">roles suggest process gaps </a:t>
                </a:r>
                <a:r>
                  <a:rPr lang="zh-CN" sz="1200" dirty="0">
                    <a:solidFill>
                      <a:srgbClr val="475569"/>
                    </a:solidFill>
                    <a:latin typeface="Arial"/>
                    <a:ea typeface="Microsoft YaHei"/>
                    <a:cs typeface="Arial"/>
                  </a:rPr>
                  <a:t xml:space="preserve">that service providers can </a:t>
                </a:r>
                <a:r>
                  <a:rPr lang="zh-CN" sz="1200" dirty="0">
                    <a:solidFill>
                      <a:srgbClr val="475569"/>
                    </a:solidFill>
                    <a:latin typeface="Arial"/>
                    <a:ea typeface="Microsoft YaHei"/>
                    <a:cs typeface="Arial"/>
                  </a:rPr>
                  <a:t>turn into specific outreach.</a:t>
                </a:r>
              </a:p>
            </p:txBody>
          </p:sp>
        </p:grpSp>
      </p:grpSp>
      <p:grpSp>
        <p:nvGrpSpPr>
          <p:cNvPr id="59" name="Group 59"/>
          <p:cNvGrpSpPr/>
          <p:nvPr/>
        </p:nvGrpSpPr>
        <p:grpSpPr>
          <a:xfrm>
            <a:off x="1714500" y="5638800"/>
            <a:ext cx="8763000" cy="514350"/>
            <a:chOff x="1714500" y="5638800"/>
            <a:chExt cx="8763000" cy="514350"/>
          </a:xfrm>
        </p:grpSpPr>
        <p:sp>
          <p:nvSpPr>
            <p:cNvPr id="51" name="Rectangle 51"/>
            <p:cNvSpPr/>
            <p:nvPr/>
          </p:nvSpPr>
          <p:spPr>
            <a:xfrm>
              <a:off x="1714500" y="5638800"/>
              <a:ext cx="8763000" cy="514350"/>
            </a:xfrm>
            <a:prstGeom prst="roundRect">
              <a:avLst>
                <a:gd name="adj" fmla="val 50000"/>
              </a:avLst>
            </a:prstGeom>
            <a:solidFill>
              <a:srgbClr val="0F172A"/>
            </a:solidFill>
            <a:ln>
              <a:noFill/>
            </a:ln>
          </p:spPr>
        </p:sp>
        <p:grpSp>
          <p:nvGrpSpPr>
            <p:cNvPr id="56" name="Group 56"/>
            <p:cNvGrpSpPr/>
            <p:nvPr/>
          </p:nvGrpSpPr>
          <p:grpSpPr>
            <a:xfrm>
              <a:off x="2071688" y="5805488"/>
              <a:ext cx="200025" cy="188913"/>
              <a:chOff x="2071688" y="5805488"/>
              <a:chExt cx="200025" cy="188913"/>
            </a:xfrm>
          </p:grpSpPr>
          <p:sp>
            <p:nvSpPr>
              <p:cNvPr id="52" name="Freeform 52"/>
              <p:cNvSpPr/>
              <p:nvPr/>
            </p:nvSpPr>
            <p:spPr>
              <a:xfrm>
                <a:off x="2071688" y="5849938"/>
                <a:ext cx="200025" cy="144463"/>
              </a:xfrm>
              <a:custGeom>
                <a:avLst/>
                <a:gdLst/>
                <a:ahLst/>
                <a:cxnLst/>
                <a:rect l="l" t="t" r="r" b="b"/>
                <a:pathLst>
                  <a:path w="200025" h="144463">
                    <a:moveTo>
                      <a:pt x="0" y="22225"/>
                    </a:moveTo>
                    <a:cubicBezTo>
                      <a:pt x="0" y="9950"/>
                      <a:pt x="9950" y="0"/>
                      <a:pt x="22225" y="0"/>
                    </a:cubicBezTo>
                    <a:lnTo>
                      <a:pt x="177800" y="0"/>
                    </a:lnTo>
                    <a:cubicBezTo>
                      <a:pt x="190075" y="0"/>
                      <a:pt x="200025" y="9950"/>
                      <a:pt x="200025" y="22225"/>
                    </a:cubicBezTo>
                    <a:lnTo>
                      <a:pt x="200025" y="122238"/>
                    </a:lnTo>
                    <a:cubicBezTo>
                      <a:pt x="200025" y="134512"/>
                      <a:pt x="190075" y="144463"/>
                      <a:pt x="177800" y="144463"/>
                    </a:cubicBezTo>
                    <a:lnTo>
                      <a:pt x="22225" y="144463"/>
                    </a:lnTo>
                    <a:cubicBezTo>
                      <a:pt x="9950" y="144463"/>
                      <a:pt x="0" y="134512"/>
                      <a:pt x="0" y="122238"/>
                    </a:cubicBezTo>
                    <a:lnTo>
                      <a:pt x="0" y="22225"/>
                    </a:lnTo>
                  </a:path>
                </a:pathLst>
              </a:custGeom>
              <a:noFill/>
              <a:ln w="19050">
                <a:solidFill>
                  <a:srgbClr val="10B981"/>
                </a:solidFill>
              </a:ln>
            </p:spPr>
          </p:sp>
          <p:sp>
            <p:nvSpPr>
              <p:cNvPr id="53" name="Freeform 53"/>
              <p:cNvSpPr/>
              <p:nvPr/>
            </p:nvSpPr>
            <p:spPr>
              <a:xfrm>
                <a:off x="2127250" y="5805488"/>
                <a:ext cx="88900" cy="44450"/>
              </a:xfrm>
              <a:custGeom>
                <a:avLst/>
                <a:gdLst/>
                <a:ahLst/>
                <a:cxnLst/>
                <a:rect l="l" t="t" r="r" b="b"/>
                <a:pathLst>
                  <a:path w="88900" h="44450">
                    <a:moveTo>
                      <a:pt x="0" y="44450"/>
                    </a:moveTo>
                    <a:lnTo>
                      <a:pt x="0" y="22225"/>
                    </a:lnTo>
                    <a:cubicBezTo>
                      <a:pt x="0" y="9950"/>
                      <a:pt x="9950" y="0"/>
                      <a:pt x="22225" y="0"/>
                    </a:cubicBezTo>
                    <a:lnTo>
                      <a:pt x="66675" y="0"/>
                    </a:lnTo>
                    <a:cubicBezTo>
                      <a:pt x="78950" y="0"/>
                      <a:pt x="88900" y="9950"/>
                      <a:pt x="88900" y="22225"/>
                    </a:cubicBezTo>
                    <a:lnTo>
                      <a:pt x="88900" y="44450"/>
                    </a:lnTo>
                  </a:path>
                </a:pathLst>
              </a:custGeom>
              <a:noFill/>
              <a:ln w="19050">
                <a:solidFill>
                  <a:srgbClr val="10B981"/>
                </a:solidFill>
              </a:ln>
            </p:spPr>
          </p:sp>
          <p:sp>
            <p:nvSpPr>
              <p:cNvPr id="54" name="Freeform 54"/>
              <p:cNvSpPr/>
              <p:nvPr/>
            </p:nvSpPr>
            <p:spPr>
              <a:xfrm>
                <a:off x="2171700" y="5905500"/>
                <a:ext cx="9525" cy="9525"/>
              </a:xfrm>
              <a:custGeom>
                <a:avLst/>
                <a:gdLst/>
                <a:ahLst/>
                <a:cxnLst/>
                <a:rect l="l" t="t" r="r" b="b"/>
                <a:pathLst>
                  <a:path w="9525" h="9525">
                    <a:moveTo>
                      <a:pt x="0" y="0"/>
                    </a:moveTo>
                    <a:lnTo>
                      <a:pt x="0" y="111"/>
                    </a:lnTo>
                  </a:path>
                </a:pathLst>
              </a:custGeom>
              <a:noFill/>
              <a:ln w="19050">
                <a:solidFill>
                  <a:srgbClr val="10B981"/>
                </a:solidFill>
              </a:ln>
            </p:spPr>
          </p:sp>
          <p:sp>
            <p:nvSpPr>
              <p:cNvPr id="55" name="Freeform 55"/>
              <p:cNvSpPr/>
              <p:nvPr/>
            </p:nvSpPr>
            <p:spPr>
              <a:xfrm>
                <a:off x="2071688" y="5916612"/>
                <a:ext cx="200025" cy="31699"/>
              </a:xfrm>
              <a:custGeom>
                <a:avLst/>
                <a:gdLst/>
                <a:ahLst/>
                <a:cxnLst/>
                <a:rect l="l" t="t" r="r" b="b"/>
                <a:pathLst>
                  <a:path w="200025" h="31699">
                    <a:moveTo>
                      <a:pt x="0" y="0"/>
                    </a:moveTo>
                    <a:cubicBezTo>
                      <a:pt x="62907" y="31699"/>
                      <a:pt x="137118" y="31699"/>
                      <a:pt x="200025" y="0"/>
                    </a:cubicBezTo>
                  </a:path>
                </a:pathLst>
              </a:custGeom>
              <a:noFill/>
              <a:ln w="19050">
                <a:solidFill>
                  <a:srgbClr val="10B981"/>
                </a:solidFill>
              </a:ln>
            </p:spPr>
          </p:sp>
        </p:grpSp>
        <p:sp>
          <p:nvSpPr>
            <p:cNvPr id="57" name="TextBox 57"/>
            <p:cNvSpPr txBox="1"/>
            <p:nvPr/>
          </p:nvSpPr>
          <p:spPr>
            <a:xfrm>
              <a:off x="2517458" y="5825014"/>
              <a:ext cx="1157076"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First wedge:</a:t>
              </a:r>
            </a:p>
          </p:txBody>
        </p:sp>
        <p:sp>
          <p:nvSpPr>
            <p:cNvPr id="58" name="TextBox 58"/>
            <p:cNvSpPr txBox="1"/>
            <p:nvPr/>
          </p:nvSpPr>
          <p:spPr>
            <a:xfrm>
              <a:off x="3412808" y="5825014"/>
              <a:ext cx="6969252" cy="259080"/>
            </a:xfrm>
            <a:prstGeom prst="rect">
              <a:avLst/>
            </a:prstGeom>
            <a:noFill/>
            <a:ln>
              <a:noFill/>
            </a:ln>
          </p:spPr>
          <p:txBody>
            <a:bodyPr wrap="none" lIns="0" tIns="0" rIns="0" bIns="0" anchor="t" anchorCtr="0">
              <a:spAutoFit/>
            </a:bodyPr>
            <a:lstStyle/>
            <a:p>
              <a:pPr algn="l"/>
              <a:r>
                <a:rPr lang="zh-CN" sz="1275" dirty="0">
                  <a:solidFill>
                    <a:srgbClr val="E2E8F0"/>
                  </a:solidFill>
                  <a:latin typeface="Arial"/>
                  <a:ea typeface="Microsoft YaHei"/>
                  <a:cs typeface="Arial"/>
                </a:rPr>
                <a:t>service providers that need timely, specific reasons to start sales conversations.</a:t>
              </a:r>
            </a:p>
          </p:txBody>
        </p:sp>
      </p:grpSp>
      <p:grpSp>
        <p:nvGrpSpPr>
          <p:cNvPr id="62" name="Group 62"/>
          <p:cNvGrpSpPr/>
          <p:nvPr/>
        </p:nvGrpSpPr>
        <p:grpSpPr>
          <a:xfrm>
            <a:off x="521970" y="6417945"/>
            <a:ext cx="11148060" cy="182880"/>
            <a:chOff x="521970" y="6417945"/>
            <a:chExt cx="11148060" cy="182880"/>
          </a:xfrm>
        </p:grpSpPr>
        <p:sp>
          <p:nvSpPr>
            <p:cNvPr id="60" name="TextBox 60"/>
            <p:cNvSpPr txBox="1"/>
            <p:nvPr/>
          </p:nvSpPr>
          <p:spPr>
            <a:xfrm>
              <a:off x="521970" y="6417945"/>
              <a:ext cx="1868991"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Initial ICP from SLIDE_PREP.md</a:t>
              </a:r>
            </a:p>
          </p:txBody>
        </p:sp>
        <p:sp>
          <p:nvSpPr>
            <p:cNvPr id="61" name="TextBox 61"/>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05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slide(fromBottom)">
                                      <p:cBhvr>
                                        <p:cTn id="7" dur="400"/>
                                        <p:tgtEl>
                                          <p:spTgt spid="5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fade">
                                      <p:cBhvr>
                                        <p:cTn id="11" dur="4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493395" y="381000"/>
            <a:ext cx="7864633" cy="1195388"/>
            <a:chOff x="493395" y="381000"/>
            <a:chExt cx="7864633" cy="1195388"/>
          </a:xfrm>
        </p:grpSpPr>
        <p:sp>
          <p:nvSpPr>
            <p:cNvPr id="3" name="Rectangle 3"/>
            <p:cNvSpPr/>
            <p:nvPr/>
          </p:nvSpPr>
          <p:spPr>
            <a:xfrm>
              <a:off x="533400" y="381000"/>
              <a:ext cx="971550" cy="266700"/>
            </a:xfrm>
            <a:prstGeom prst="roundRect">
              <a:avLst>
                <a:gd name="adj" fmla="val 50000"/>
              </a:avLst>
            </a:prstGeom>
            <a:solidFill>
              <a:srgbClr val="10B981">
                <a:alpha val="12000"/>
              </a:srgbClr>
            </a:solidFill>
            <a:ln w="9525">
              <a:solidFill>
                <a:srgbClr val="10B981"/>
              </a:solidFill>
            </a:ln>
          </p:spPr>
        </p:sp>
        <p:sp>
          <p:nvSpPr>
            <p:cNvPr id="4" name="TextBox 4"/>
            <p:cNvSpPr txBox="1"/>
            <p:nvPr/>
          </p:nvSpPr>
          <p:spPr>
            <a:xfrm>
              <a:off x="673803" y="474345"/>
              <a:ext cx="690743"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MVP PROOF</a:t>
              </a:r>
            </a:p>
          </p:txBody>
        </p:sp>
        <p:sp>
          <p:nvSpPr>
            <p:cNvPr id="5" name="TextBox 5"/>
            <p:cNvSpPr txBox="1"/>
            <p:nvPr/>
          </p:nvSpPr>
          <p:spPr>
            <a:xfrm>
              <a:off x="493395" y="764858"/>
              <a:ext cx="7864633"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The MVP already completes the loop.</a:t>
              </a:r>
            </a:p>
          </p:txBody>
        </p:sp>
        <p:sp>
          <p:nvSpPr>
            <p:cNvPr id="6" name="TextBox 6"/>
            <p:cNvSpPr txBox="1"/>
            <p:nvPr/>
          </p:nvSpPr>
          <p:spPr>
            <a:xfrm>
              <a:off x="516255" y="1302068"/>
              <a:ext cx="7415212"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Live data becomes a ranked account, a defensible reason, and an outbound handoff.</a:t>
              </a:r>
            </a:p>
          </p:txBody>
        </p:sp>
      </p:grpSp>
      <p:grpSp>
        <p:nvGrpSpPr>
          <p:cNvPr id="33" name="Group 33"/>
          <p:cNvGrpSpPr/>
          <p:nvPr/>
        </p:nvGrpSpPr>
        <p:grpSpPr>
          <a:xfrm>
            <a:off x="685800" y="2054542"/>
            <a:ext cx="5076586" cy="3129439"/>
            <a:chOff x="685800" y="2054542"/>
            <a:chExt cx="5076586" cy="3129439"/>
          </a:xfrm>
        </p:grpSpPr>
        <p:sp>
          <p:nvSpPr>
            <p:cNvPr id="8" name="Line 8"/>
            <p:cNvSpPr/>
            <p:nvPr/>
          </p:nvSpPr>
          <p:spPr>
            <a:xfrm>
              <a:off x="914400" y="2286000"/>
              <a:ext cx="9525" cy="2619375"/>
            </a:xfrm>
            <a:custGeom>
              <a:avLst/>
              <a:gdLst/>
              <a:ahLst/>
              <a:cxnLst/>
              <a:rect l="l" t="t" r="r" b="b"/>
              <a:pathLst>
                <a:path w="9525" h="2619375">
                  <a:moveTo>
                    <a:pt x="0" y="0"/>
                  </a:moveTo>
                  <a:lnTo>
                    <a:pt x="0" y="2619375"/>
                  </a:lnTo>
                </a:path>
              </a:pathLst>
            </a:custGeom>
            <a:noFill/>
            <a:ln w="28575">
              <a:solidFill>
                <a:srgbClr val="E2E8F0"/>
              </a:solidFill>
            </a:ln>
          </p:spPr>
        </p:sp>
        <p:grpSp>
          <p:nvGrpSpPr>
            <p:cNvPr id="16" name="Group 16"/>
            <p:cNvGrpSpPr/>
            <p:nvPr/>
          </p:nvGrpSpPr>
          <p:grpSpPr>
            <a:xfrm>
              <a:off x="685800" y="2054542"/>
              <a:ext cx="4986575" cy="510064"/>
              <a:chOff x="685800" y="2054542"/>
              <a:chExt cx="4986575" cy="510064"/>
            </a:xfrm>
          </p:grpSpPr>
          <p:sp>
            <p:nvSpPr>
              <p:cNvPr id="9" name="Ellipse 9"/>
              <p:cNvSpPr/>
              <p:nvPr/>
            </p:nvSpPr>
            <p:spPr>
              <a:xfrm>
                <a:off x="685800" y="2057400"/>
                <a:ext cx="457200" cy="457200"/>
              </a:xfrm>
              <a:prstGeom prst="ellipse">
                <a:avLst/>
              </a:prstGeom>
              <a:solidFill>
                <a:srgbClr val="10B981"/>
              </a:solidFill>
              <a:ln>
                <a:noFill/>
              </a:ln>
            </p:spPr>
          </p:sp>
          <p:grpSp>
            <p:nvGrpSpPr>
              <p:cNvPr id="13" name="Group 13"/>
              <p:cNvGrpSpPr/>
              <p:nvPr/>
            </p:nvGrpSpPr>
            <p:grpSpPr>
              <a:xfrm>
                <a:off x="825500" y="2185988"/>
                <a:ext cx="177800" cy="200024"/>
                <a:chOff x="825500" y="2185988"/>
                <a:chExt cx="177800" cy="200024"/>
              </a:xfrm>
            </p:grpSpPr>
            <p:sp>
              <p:nvSpPr>
                <p:cNvPr id="10" name="Freeform 10"/>
                <p:cNvSpPr/>
                <p:nvPr/>
              </p:nvSpPr>
              <p:spPr>
                <a:xfrm>
                  <a:off x="825500" y="2185988"/>
                  <a:ext cx="177800" cy="66675"/>
                </a:xfrm>
                <a:custGeom>
                  <a:avLst/>
                  <a:gdLst/>
                  <a:ahLst/>
                  <a:cxnLst/>
                  <a:rect l="l" t="t" r="r" b="b"/>
                  <a:pathLst>
                    <a:path w="177800" h="66675">
                      <a:moveTo>
                        <a:pt x="0" y="33338"/>
                      </a:moveTo>
                      <a:cubicBezTo>
                        <a:pt x="0" y="51749"/>
                        <a:pt x="39802" y="66675"/>
                        <a:pt x="88900" y="66675"/>
                      </a:cubicBezTo>
                      <a:cubicBezTo>
                        <a:pt x="137998" y="66675"/>
                        <a:pt x="177800" y="51749"/>
                        <a:pt x="177800" y="33338"/>
                      </a:cubicBezTo>
                      <a:cubicBezTo>
                        <a:pt x="177800" y="14926"/>
                        <a:pt x="137998" y="0"/>
                        <a:pt x="88900" y="0"/>
                      </a:cubicBezTo>
                      <a:cubicBezTo>
                        <a:pt x="39802" y="0"/>
                        <a:pt x="0" y="14926"/>
                        <a:pt x="0" y="33338"/>
                      </a:cubicBezTo>
                    </a:path>
                  </a:pathLst>
                </a:custGeom>
                <a:noFill/>
                <a:ln w="19050">
                  <a:solidFill>
                    <a:srgbClr val="FFFFFF"/>
                  </a:solidFill>
                </a:ln>
              </p:spPr>
            </p:sp>
            <p:sp>
              <p:nvSpPr>
                <p:cNvPr id="11" name="Freeform 11"/>
                <p:cNvSpPr/>
                <p:nvPr/>
              </p:nvSpPr>
              <p:spPr>
                <a:xfrm>
                  <a:off x="825500" y="2219325"/>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sp>
            <p:sp>
              <p:nvSpPr>
                <p:cNvPr id="12" name="Freeform 12"/>
                <p:cNvSpPr/>
                <p:nvPr/>
              </p:nvSpPr>
              <p:spPr>
                <a:xfrm>
                  <a:off x="825500" y="2286000"/>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sp>
          </p:grpSp>
          <p:sp>
            <p:nvSpPr>
              <p:cNvPr id="14" name="TextBox 14"/>
              <p:cNvSpPr txBox="1"/>
              <p:nvPr/>
            </p:nvSpPr>
            <p:spPr>
              <a:xfrm>
                <a:off x="1335405" y="2054542"/>
                <a:ext cx="2028489"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260 postings ingested</a:t>
                </a:r>
              </a:p>
            </p:txBody>
          </p:sp>
          <p:sp>
            <p:nvSpPr>
              <p:cNvPr id="15" name="TextBox 15"/>
              <p:cNvSpPr txBox="1"/>
              <p:nvPr/>
            </p:nvSpPr>
            <p:spPr>
              <a:xfrm>
                <a:off x="1338262" y="2336006"/>
                <a:ext cx="4334113"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A seed dataset is expanded into provider-style job signals.</a:t>
                </a:r>
              </a:p>
            </p:txBody>
          </p:sp>
        </p:grpSp>
        <p:grpSp>
          <p:nvGrpSpPr>
            <p:cNvPr id="25" name="Group 25"/>
            <p:cNvGrpSpPr/>
            <p:nvPr/>
          </p:nvGrpSpPr>
          <p:grpSpPr>
            <a:xfrm>
              <a:off x="685800" y="3368992"/>
              <a:ext cx="4904065" cy="510064"/>
              <a:chOff x="685800" y="3368992"/>
              <a:chExt cx="4904065" cy="510064"/>
            </a:xfrm>
          </p:grpSpPr>
          <p:sp>
            <p:nvSpPr>
              <p:cNvPr id="17" name="Ellipse 17"/>
              <p:cNvSpPr/>
              <p:nvPr/>
            </p:nvSpPr>
            <p:spPr>
              <a:xfrm>
                <a:off x="685800" y="3371850"/>
                <a:ext cx="457200" cy="457200"/>
              </a:xfrm>
              <a:prstGeom prst="ellipse">
                <a:avLst/>
              </a:prstGeom>
              <a:solidFill>
                <a:srgbClr val="0F172A"/>
              </a:solidFill>
              <a:ln>
                <a:noFill/>
              </a:ln>
            </p:spPr>
          </p:sp>
          <p:grpSp>
            <p:nvGrpSpPr>
              <p:cNvPr id="22" name="Group 22"/>
              <p:cNvGrpSpPr/>
              <p:nvPr/>
            </p:nvGrpSpPr>
            <p:grpSpPr>
              <a:xfrm>
                <a:off x="814388" y="3511550"/>
                <a:ext cx="200025" cy="187325"/>
                <a:chOff x="814388" y="3511550"/>
                <a:chExt cx="200025" cy="187325"/>
              </a:xfrm>
            </p:grpSpPr>
            <p:sp>
              <p:nvSpPr>
                <p:cNvPr id="18" name="Freeform 18"/>
                <p:cNvSpPr/>
                <p:nvPr/>
              </p:nvSpPr>
              <p:spPr>
                <a:xfrm>
                  <a:off x="814388" y="3600450"/>
                  <a:ext cx="66675" cy="88900"/>
                </a:xfrm>
                <a:custGeom>
                  <a:avLst/>
                  <a:gdLst/>
                  <a:ahLst/>
                  <a:cxnLst/>
                  <a:rect l="l" t="t" r="r" b="b"/>
                  <a:pathLst>
                    <a:path w="66675" h="88900">
                      <a:moveTo>
                        <a:pt x="0" y="11113"/>
                      </a:moveTo>
                      <a:cubicBezTo>
                        <a:pt x="0" y="4975"/>
                        <a:pt x="4975" y="0"/>
                        <a:pt x="11113" y="0"/>
                      </a:cubicBezTo>
                      <a:lnTo>
                        <a:pt x="55562" y="0"/>
                      </a:lnTo>
                      <a:cubicBezTo>
                        <a:pt x="61700" y="0"/>
                        <a:pt x="66675" y="4975"/>
                        <a:pt x="66675" y="11113"/>
                      </a:cubicBezTo>
                      <a:lnTo>
                        <a:pt x="66675" y="77788"/>
                      </a:lnTo>
                      <a:cubicBezTo>
                        <a:pt x="66675" y="83925"/>
                        <a:pt x="61700" y="88900"/>
                        <a:pt x="55562" y="88900"/>
                      </a:cubicBezTo>
                      <a:lnTo>
                        <a:pt x="11113" y="88900"/>
                      </a:lnTo>
                      <a:cubicBezTo>
                        <a:pt x="4975" y="88900"/>
                        <a:pt x="0" y="83925"/>
                        <a:pt x="0" y="77788"/>
                      </a:cubicBezTo>
                      <a:lnTo>
                        <a:pt x="0" y="11113"/>
                      </a:lnTo>
                    </a:path>
                  </a:pathLst>
                </a:custGeom>
                <a:noFill/>
                <a:ln w="19050">
                  <a:solidFill>
                    <a:srgbClr val="FFFFFF"/>
                  </a:solidFill>
                </a:ln>
              </p:spPr>
            </p:sp>
            <p:sp>
              <p:nvSpPr>
                <p:cNvPr id="19" name="Freeform 19"/>
                <p:cNvSpPr/>
                <p:nvPr/>
              </p:nvSpPr>
              <p:spPr>
                <a:xfrm>
                  <a:off x="947738" y="3556000"/>
                  <a:ext cx="66675" cy="133350"/>
                </a:xfrm>
                <a:custGeom>
                  <a:avLst/>
                  <a:gdLst/>
                  <a:ahLst/>
                  <a:cxnLst/>
                  <a:rect l="l" t="t" r="r" b="b"/>
                  <a:pathLst>
                    <a:path w="66675" h="133350">
                      <a:moveTo>
                        <a:pt x="0" y="11113"/>
                      </a:moveTo>
                      <a:cubicBezTo>
                        <a:pt x="0" y="4975"/>
                        <a:pt x="4975" y="0"/>
                        <a:pt x="11113" y="0"/>
                      </a:cubicBezTo>
                      <a:lnTo>
                        <a:pt x="55563" y="0"/>
                      </a:lnTo>
                      <a:cubicBezTo>
                        <a:pt x="61700" y="0"/>
                        <a:pt x="66675" y="4975"/>
                        <a:pt x="66675" y="11113"/>
                      </a:cubicBezTo>
                      <a:lnTo>
                        <a:pt x="66675" y="122238"/>
                      </a:lnTo>
                      <a:cubicBezTo>
                        <a:pt x="66675" y="128375"/>
                        <a:pt x="61700" y="133350"/>
                        <a:pt x="55563" y="133350"/>
                      </a:cubicBezTo>
                      <a:lnTo>
                        <a:pt x="11113" y="133350"/>
                      </a:lnTo>
                      <a:cubicBezTo>
                        <a:pt x="4975" y="133350"/>
                        <a:pt x="0" y="128375"/>
                        <a:pt x="0" y="122238"/>
                      </a:cubicBezTo>
                      <a:lnTo>
                        <a:pt x="0" y="11113"/>
                      </a:lnTo>
                    </a:path>
                  </a:pathLst>
                </a:custGeom>
                <a:noFill/>
                <a:ln w="19050">
                  <a:solidFill>
                    <a:srgbClr val="FFFFFF"/>
                  </a:solidFill>
                </a:ln>
              </p:spPr>
            </p:sp>
            <p:sp>
              <p:nvSpPr>
                <p:cNvPr id="20" name="Freeform 20"/>
                <p:cNvSpPr/>
                <p:nvPr/>
              </p:nvSpPr>
              <p:spPr>
                <a:xfrm>
                  <a:off x="881062" y="3511550"/>
                  <a:ext cx="66675" cy="177800"/>
                </a:xfrm>
                <a:custGeom>
                  <a:avLst/>
                  <a:gdLst/>
                  <a:ahLst/>
                  <a:cxnLst/>
                  <a:rect l="l" t="t" r="r" b="b"/>
                  <a:pathLst>
                    <a:path w="66675" h="177800">
                      <a:moveTo>
                        <a:pt x="0" y="11112"/>
                      </a:moveTo>
                      <a:cubicBezTo>
                        <a:pt x="0" y="4975"/>
                        <a:pt x="4975" y="0"/>
                        <a:pt x="11113" y="0"/>
                      </a:cubicBezTo>
                      <a:lnTo>
                        <a:pt x="55563" y="0"/>
                      </a:lnTo>
                      <a:cubicBezTo>
                        <a:pt x="61700" y="0"/>
                        <a:pt x="66675" y="4975"/>
                        <a:pt x="66675" y="11112"/>
                      </a:cubicBezTo>
                      <a:lnTo>
                        <a:pt x="66675" y="166688"/>
                      </a:lnTo>
                      <a:cubicBezTo>
                        <a:pt x="66675" y="172825"/>
                        <a:pt x="61700" y="177800"/>
                        <a:pt x="55563" y="177800"/>
                      </a:cubicBezTo>
                      <a:lnTo>
                        <a:pt x="11113" y="177800"/>
                      </a:lnTo>
                      <a:cubicBezTo>
                        <a:pt x="4975" y="177800"/>
                        <a:pt x="0" y="172825"/>
                        <a:pt x="0" y="166688"/>
                      </a:cubicBezTo>
                      <a:lnTo>
                        <a:pt x="0" y="11112"/>
                      </a:lnTo>
                    </a:path>
                  </a:pathLst>
                </a:custGeom>
                <a:noFill/>
                <a:ln w="19050">
                  <a:solidFill>
                    <a:srgbClr val="FFFFFF"/>
                  </a:solidFill>
                </a:ln>
              </p:spPr>
            </p:sp>
            <p:sp>
              <p:nvSpPr>
                <p:cNvPr id="21" name="Freeform 21"/>
                <p:cNvSpPr/>
                <p:nvPr/>
              </p:nvSpPr>
              <p:spPr>
                <a:xfrm>
                  <a:off x="825500" y="3689350"/>
                  <a:ext cx="155575" cy="9525"/>
                </a:xfrm>
                <a:custGeom>
                  <a:avLst/>
                  <a:gdLst/>
                  <a:ahLst/>
                  <a:cxnLst/>
                  <a:rect l="l" t="t" r="r" b="b"/>
                  <a:pathLst>
                    <a:path w="155575" h="9525">
                      <a:moveTo>
                        <a:pt x="0" y="0"/>
                      </a:moveTo>
                      <a:lnTo>
                        <a:pt x="155575" y="0"/>
                      </a:lnTo>
                    </a:path>
                  </a:pathLst>
                </a:custGeom>
                <a:noFill/>
                <a:ln w="19050">
                  <a:solidFill>
                    <a:srgbClr val="FFFFFF"/>
                  </a:solidFill>
                </a:ln>
              </p:spPr>
            </p:sp>
          </p:grpSp>
          <p:sp>
            <p:nvSpPr>
              <p:cNvPr id="23" name="TextBox 23"/>
              <p:cNvSpPr txBox="1"/>
              <p:nvPr/>
            </p:nvSpPr>
            <p:spPr>
              <a:xfrm>
                <a:off x="1335405" y="3368992"/>
                <a:ext cx="2510499"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Atlas Logistics ranks first</a:t>
                </a:r>
              </a:p>
            </p:txBody>
          </p:sp>
          <p:sp>
            <p:nvSpPr>
              <p:cNvPr id="24" name="TextBox 24"/>
              <p:cNvSpPr txBox="1"/>
              <p:nvPr/>
            </p:nvSpPr>
            <p:spPr>
              <a:xfrm>
                <a:off x="1338262" y="3650456"/>
                <a:ext cx="4251603"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The workspace shows score, evidence, and inferred pain.</a:t>
                </a:r>
              </a:p>
            </p:txBody>
          </p:sp>
        </p:grpSp>
        <p:grpSp>
          <p:nvGrpSpPr>
            <p:cNvPr id="32" name="Group 32"/>
            <p:cNvGrpSpPr/>
            <p:nvPr/>
          </p:nvGrpSpPr>
          <p:grpSpPr>
            <a:xfrm>
              <a:off x="685800" y="4673918"/>
              <a:ext cx="5076586" cy="510063"/>
              <a:chOff x="685800" y="4673918"/>
              <a:chExt cx="5076586" cy="510063"/>
            </a:xfrm>
          </p:grpSpPr>
          <p:sp>
            <p:nvSpPr>
              <p:cNvPr id="26" name="Ellipse 26"/>
              <p:cNvSpPr/>
              <p:nvPr/>
            </p:nvSpPr>
            <p:spPr>
              <a:xfrm>
                <a:off x="685800" y="4676775"/>
                <a:ext cx="457200" cy="457200"/>
              </a:xfrm>
              <a:prstGeom prst="ellipse">
                <a:avLst/>
              </a:prstGeom>
              <a:solidFill>
                <a:srgbClr val="38BDF8"/>
              </a:solidFill>
              <a:ln>
                <a:noFill/>
              </a:ln>
            </p:spPr>
          </p:sp>
          <p:grpSp>
            <p:nvGrpSpPr>
              <p:cNvPr id="29" name="Group 29"/>
              <p:cNvGrpSpPr/>
              <p:nvPr/>
            </p:nvGrpSpPr>
            <p:grpSpPr>
              <a:xfrm>
                <a:off x="810822" y="4805362"/>
                <a:ext cx="203591" cy="203591"/>
                <a:chOff x="810822" y="4805362"/>
                <a:chExt cx="203591" cy="203591"/>
              </a:xfrm>
            </p:grpSpPr>
            <p:sp>
              <p:nvSpPr>
                <p:cNvPr id="27" name="Freeform 27"/>
                <p:cNvSpPr/>
                <p:nvPr/>
              </p:nvSpPr>
              <p:spPr>
                <a:xfrm>
                  <a:off x="892175" y="4805362"/>
                  <a:ext cx="122237" cy="122238"/>
                </a:xfrm>
                <a:custGeom>
                  <a:avLst/>
                  <a:gdLst/>
                  <a:ahLst/>
                  <a:cxnLst/>
                  <a:rect l="l" t="t" r="r" b="b"/>
                  <a:pathLst>
                    <a:path w="122237" h="122238">
                      <a:moveTo>
                        <a:pt x="0" y="122238"/>
                      </a:moveTo>
                      <a:lnTo>
                        <a:pt x="122237" y="0"/>
                      </a:lnTo>
                    </a:path>
                  </a:pathLst>
                </a:custGeom>
                <a:noFill/>
                <a:ln w="19050">
                  <a:solidFill>
                    <a:srgbClr val="FFFFFF"/>
                  </a:solidFill>
                </a:ln>
              </p:spPr>
            </p:sp>
            <p:sp>
              <p:nvSpPr>
                <p:cNvPr id="28" name="Freeform 28"/>
                <p:cNvSpPr/>
                <p:nvPr/>
              </p:nvSpPr>
              <p:spPr>
                <a:xfrm>
                  <a:off x="810822" y="4805362"/>
                  <a:ext cx="203591" cy="203591"/>
                </a:xfrm>
                <a:custGeom>
                  <a:avLst/>
                  <a:gdLst/>
                  <a:ahLst/>
                  <a:cxnLst/>
                  <a:rect l="l" t="t" r="r" b="b"/>
                  <a:pathLst>
                    <a:path w="203591" h="203591">
                      <a:moveTo>
                        <a:pt x="203591" y="0"/>
                      </a:moveTo>
                      <a:lnTo>
                        <a:pt x="131359" y="200025"/>
                      </a:lnTo>
                      <a:cubicBezTo>
                        <a:pt x="130364" y="202198"/>
                        <a:pt x="128193" y="203591"/>
                        <a:pt x="125803" y="203591"/>
                      </a:cubicBezTo>
                      <a:cubicBezTo>
                        <a:pt x="123413" y="203591"/>
                        <a:pt x="121243" y="202198"/>
                        <a:pt x="120247" y="200025"/>
                      </a:cubicBezTo>
                      <a:lnTo>
                        <a:pt x="81353" y="122238"/>
                      </a:lnTo>
                      <a:lnTo>
                        <a:pt x="3566" y="83344"/>
                      </a:lnTo>
                      <a:cubicBezTo>
                        <a:pt x="1393" y="82348"/>
                        <a:pt x="0" y="80177"/>
                        <a:pt x="0" y="77787"/>
                      </a:cubicBezTo>
                      <a:cubicBezTo>
                        <a:pt x="0" y="75398"/>
                        <a:pt x="1393" y="73227"/>
                        <a:pt x="3566" y="72231"/>
                      </a:cubicBezTo>
                      <a:lnTo>
                        <a:pt x="203591" y="0"/>
                      </a:lnTo>
                    </a:path>
                  </a:pathLst>
                </a:custGeom>
                <a:noFill/>
                <a:ln w="19050">
                  <a:solidFill>
                    <a:srgbClr val="FFFFFF"/>
                  </a:solidFill>
                </a:ln>
              </p:spPr>
            </p:sp>
          </p:grpSp>
          <p:sp>
            <p:nvSpPr>
              <p:cNvPr id="30" name="TextBox 30"/>
              <p:cNvSpPr txBox="1"/>
              <p:nvPr/>
            </p:nvSpPr>
            <p:spPr>
              <a:xfrm>
                <a:off x="1335405" y="4673918"/>
                <a:ext cx="1933977"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Slack digest is ready</a:t>
                </a:r>
              </a:p>
            </p:txBody>
          </p:sp>
          <p:sp>
            <p:nvSpPr>
              <p:cNvPr id="31" name="TextBox 31"/>
              <p:cNvSpPr txBox="1"/>
              <p:nvPr/>
            </p:nvSpPr>
            <p:spPr>
              <a:xfrm>
                <a:off x="1338262" y="4955381"/>
                <a:ext cx="4424124"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The seller can move from insight to team action in one flow.</a:t>
                </a:r>
              </a:p>
            </p:txBody>
          </p:sp>
        </p:grpSp>
      </p:grpSp>
      <p:grpSp>
        <p:nvGrpSpPr>
          <p:cNvPr id="38" name="Group 38"/>
          <p:cNvGrpSpPr/>
          <p:nvPr/>
        </p:nvGrpSpPr>
        <p:grpSpPr>
          <a:xfrm>
            <a:off x="4857750" y="1352550"/>
            <a:ext cx="6343650" cy="4448175"/>
            <a:chOff x="4857750" y="1352550"/>
            <a:chExt cx="6343650" cy="4448175"/>
          </a:xfrm>
        </p:grpSpPr>
        <p:sp>
          <p:nvSpPr>
            <p:cNvPr id="34" name="Rectangle 34"/>
            <p:cNvSpPr/>
            <p:nvPr/>
          </p:nvSpPr>
          <p:spPr>
            <a:xfrm>
              <a:off x="4857750" y="1352550"/>
              <a:ext cx="6343650" cy="4448175"/>
            </a:xfrm>
            <a:prstGeom prst="roundRect">
              <a:avLst>
                <a:gd name="adj" fmla="val 5139"/>
              </a:avLst>
            </a:prstGeom>
            <a:solidFill>
              <a:srgbClr val="0F172A">
                <a:alpha val="8000"/>
              </a:srgbClr>
            </a:solidFill>
            <a:ln>
              <a:noFill/>
            </a:ln>
          </p:spPr>
        </p:sp>
        <p:sp>
          <p:nvSpPr>
            <p:cNvPr id="35" name="Rectangle 35"/>
            <p:cNvSpPr/>
            <p:nvPr/>
          </p:nvSpPr>
          <p:spPr>
            <a:xfrm>
              <a:off x="4933950" y="1428750"/>
              <a:ext cx="6191250" cy="4295775"/>
            </a:xfrm>
            <a:prstGeom prst="roundRect">
              <a:avLst>
                <a:gd name="adj" fmla="val 3991"/>
              </a:avLst>
            </a:prstGeom>
            <a:solidFill>
              <a:srgbClr val="FFFFFF"/>
            </a:solidFill>
            <a:ln w="14288">
              <a:solidFill>
                <a:srgbClr val="E2E8F0"/>
              </a:solidFill>
            </a:ln>
          </p:spPr>
        </p:sp>
        <p:pic>
          <p:nvPicPr>
            <p:cNvPr id="36" name="Image 36"/>
            <p:cNvPicPr>
              <a:picLocks noChangeAspect="1"/>
            </p:cNvPicPr>
            <p:nvPr/>
          </p:nvPicPr>
          <p:blipFill>
            <a:blip r:embed="rId2"/>
            <a:stretch>
              <a:fillRect/>
            </a:stretch>
          </p:blipFill>
          <p:spPr>
            <a:xfrm>
              <a:off x="4933950" y="1428750"/>
              <a:ext cx="6191250" cy="4295775"/>
            </a:xfrm>
            <a:prstGeom prst="roundRect">
              <a:avLst>
                <a:gd name="adj" fmla="val 3991"/>
              </a:avLst>
            </a:prstGeom>
          </p:spPr>
        </p:pic>
        <p:sp>
          <p:nvSpPr>
            <p:cNvPr id="37" name="Rectangle 37"/>
            <p:cNvSpPr/>
            <p:nvPr/>
          </p:nvSpPr>
          <p:spPr>
            <a:xfrm>
              <a:off x="4933950" y="1428750"/>
              <a:ext cx="6191250" cy="4295775"/>
            </a:xfrm>
            <a:prstGeom prst="roundRect">
              <a:avLst>
                <a:gd name="adj" fmla="val 3991"/>
              </a:avLst>
            </a:prstGeom>
            <a:noFill/>
            <a:ln w="19050">
              <a:solidFill>
                <a:srgbClr val="10B981"/>
              </a:solidFill>
            </a:ln>
          </p:spPr>
        </p:sp>
      </p:grpSp>
      <p:grpSp>
        <p:nvGrpSpPr>
          <p:cNvPr id="41" name="Group 41"/>
          <p:cNvGrpSpPr/>
          <p:nvPr/>
        </p:nvGrpSpPr>
        <p:grpSpPr>
          <a:xfrm>
            <a:off x="2745543" y="6000750"/>
            <a:ext cx="6700914" cy="400050"/>
            <a:chOff x="2745543" y="6000750"/>
            <a:chExt cx="6700914" cy="400050"/>
          </a:xfrm>
        </p:grpSpPr>
        <p:sp>
          <p:nvSpPr>
            <p:cNvPr id="39" name="Rectangle 39"/>
            <p:cNvSpPr/>
            <p:nvPr/>
          </p:nvSpPr>
          <p:spPr>
            <a:xfrm>
              <a:off x="2876550" y="6000750"/>
              <a:ext cx="6438900" cy="400050"/>
            </a:xfrm>
            <a:prstGeom prst="roundRect">
              <a:avLst>
                <a:gd name="adj" fmla="val 50000"/>
              </a:avLst>
            </a:prstGeom>
            <a:solidFill>
              <a:srgbClr val="F8FAFC"/>
            </a:solidFill>
            <a:ln w="9525">
              <a:solidFill>
                <a:srgbClr val="E2E8F0"/>
              </a:solidFill>
            </a:ln>
          </p:spPr>
        </p:sp>
        <p:sp>
          <p:nvSpPr>
            <p:cNvPr id="40" name="TextBox 40"/>
            <p:cNvSpPr txBox="1"/>
            <p:nvPr/>
          </p:nvSpPr>
          <p:spPr>
            <a:xfrm>
              <a:off x="2745543" y="6128385"/>
              <a:ext cx="6700914" cy="243840"/>
            </a:xfrm>
            <a:prstGeom prst="rect">
              <a:avLst/>
            </a:prstGeom>
            <a:noFill/>
            <a:ln>
              <a:noFill/>
            </a:ln>
          </p:spPr>
          <p:txBody>
            <a:bodyPr wrap="none" lIns="0" tIns="0" rIns="0" bIns="0" anchor="t" anchorCtr="0">
              <a:spAutoFit/>
            </a:bodyPr>
            <a:lstStyle/>
            <a:p>
              <a:pPr algn="ctr"/>
              <a:r>
                <a:rPr lang="zh-CN" sz="1200" b="1" dirty="0">
                  <a:solidFill>
                    <a:srgbClr val="0F172A"/>
                  </a:solidFill>
                  <a:latin typeface="Arial"/>
                  <a:ea typeface="Microsoft YaHei"/>
                  <a:cs typeface="Arial"/>
                </a:rPr>
                <a:t>This is enough for a hackathon demo: ingest, rank, explain, draft, and hand off.</a:t>
              </a:r>
            </a:p>
          </p:txBody>
        </p:sp>
      </p:grpSp>
      <p:grpSp>
        <p:nvGrpSpPr>
          <p:cNvPr id="44" name="Group 44"/>
          <p:cNvGrpSpPr/>
          <p:nvPr/>
        </p:nvGrpSpPr>
        <p:grpSpPr>
          <a:xfrm>
            <a:off x="521970" y="6417945"/>
            <a:ext cx="11148060" cy="182880"/>
            <a:chOff x="521970" y="6417945"/>
            <a:chExt cx="11148060" cy="182880"/>
          </a:xfrm>
        </p:grpSpPr>
        <p:sp>
          <p:nvSpPr>
            <p:cNvPr id="42" name="TextBox 42"/>
            <p:cNvSpPr txBox="1"/>
            <p:nvPr/>
          </p:nvSpPr>
          <p:spPr>
            <a:xfrm>
              <a:off x="521970" y="6417945"/>
              <a:ext cx="3337074"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Fresh screenshot captured from the running local app</a:t>
              </a:r>
            </a:p>
          </p:txBody>
        </p:sp>
        <p:sp>
          <p:nvSpPr>
            <p:cNvPr id="43" name="TextBox 43"/>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06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400"/>
                                        <p:tgtEl>
                                          <p:spTgt spid="33"/>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wipe(left)">
                                      <p:cBhvr>
                                        <p:cTn id="11" dur="400"/>
                                        <p:tgtEl>
                                          <p:spTgt spid="38"/>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fade">
                                      <p:cBhvr>
                                        <p:cTn id="15"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8" grpId="0"/>
      <p:bldP spid="4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7" name="Group 7"/>
          <p:cNvGrpSpPr/>
          <p:nvPr/>
        </p:nvGrpSpPr>
        <p:grpSpPr>
          <a:xfrm>
            <a:off x="493395" y="381000"/>
            <a:ext cx="8636479" cy="1195388"/>
            <a:chOff x="493395" y="381000"/>
            <a:chExt cx="8636479" cy="1195388"/>
          </a:xfrm>
        </p:grpSpPr>
        <p:sp>
          <p:nvSpPr>
            <p:cNvPr id="3" name="Rectangle 3"/>
            <p:cNvSpPr/>
            <p:nvPr/>
          </p:nvSpPr>
          <p:spPr>
            <a:xfrm>
              <a:off x="533400" y="381000"/>
              <a:ext cx="1257300" cy="266700"/>
            </a:xfrm>
            <a:prstGeom prst="roundRect">
              <a:avLst>
                <a:gd name="adj" fmla="val 50000"/>
              </a:avLst>
            </a:prstGeom>
            <a:solidFill>
              <a:srgbClr val="FFFFFF"/>
            </a:solidFill>
            <a:ln w="9525">
              <a:solidFill>
                <a:srgbClr val="E2E8F0"/>
              </a:solidFill>
            </a:ln>
          </p:spPr>
        </p:sp>
        <p:sp>
          <p:nvSpPr>
            <p:cNvPr id="4" name="TextBox 4"/>
            <p:cNvSpPr txBox="1"/>
            <p:nvPr/>
          </p:nvSpPr>
          <p:spPr>
            <a:xfrm>
              <a:off x="794626" y="474345"/>
              <a:ext cx="734849" cy="182880"/>
            </a:xfrm>
            <a:prstGeom prst="rect">
              <a:avLst/>
            </a:prstGeom>
            <a:noFill/>
            <a:ln>
              <a:noFill/>
            </a:ln>
          </p:spPr>
          <p:txBody>
            <a:bodyPr wrap="none" lIns="0" tIns="0" rIns="0" bIns="0" anchor="t" anchorCtr="0">
              <a:spAutoFit/>
            </a:bodyPr>
            <a:lstStyle/>
            <a:p>
              <a:pPr algn="ctr"/>
              <a:r>
                <a:rPr lang="zh-CN" sz="900" b="1" dirty="0">
                  <a:solidFill>
                    <a:srgbClr val="475569"/>
                  </a:solidFill>
                  <a:latin typeface="Arial"/>
                  <a:ea typeface="Microsoft YaHei"/>
                  <a:cs typeface="Arial"/>
                </a:rPr>
                <a:t>DEMO VALUE</a:t>
              </a:r>
            </a:p>
          </p:txBody>
        </p:sp>
        <p:sp>
          <p:nvSpPr>
            <p:cNvPr id="5" name="TextBox 5"/>
            <p:cNvSpPr txBox="1"/>
            <p:nvPr/>
          </p:nvSpPr>
          <p:spPr>
            <a:xfrm>
              <a:off x="493395" y="764858"/>
              <a:ext cx="8636479"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What judges should see in the live demo.</a:t>
              </a:r>
            </a:p>
          </p:txBody>
        </p:sp>
        <p:sp>
          <p:nvSpPr>
            <p:cNvPr id="6" name="TextBox 6"/>
            <p:cNvSpPr txBox="1"/>
            <p:nvPr/>
          </p:nvSpPr>
          <p:spPr>
            <a:xfrm>
              <a:off x="516255" y="1302068"/>
              <a:ext cx="8522351"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SignalScout compresses prospect research into a workflow that can be repeated every morning.</a:t>
              </a:r>
            </a:p>
          </p:txBody>
        </p:sp>
      </p:grpSp>
      <p:grpSp>
        <p:nvGrpSpPr>
          <p:cNvPr id="20" name="Group 20"/>
          <p:cNvGrpSpPr/>
          <p:nvPr/>
        </p:nvGrpSpPr>
        <p:grpSpPr>
          <a:xfrm>
            <a:off x="533400" y="1866900"/>
            <a:ext cx="3352800" cy="3429000"/>
            <a:chOff x="533400" y="1866900"/>
            <a:chExt cx="3352800" cy="3429000"/>
          </a:xfrm>
        </p:grpSpPr>
        <p:sp>
          <p:nvSpPr>
            <p:cNvPr id="8" name="Rectangle 8"/>
            <p:cNvSpPr/>
            <p:nvPr/>
          </p:nvSpPr>
          <p:spPr>
            <a:xfrm>
              <a:off x="533400" y="1866900"/>
              <a:ext cx="3352800" cy="990600"/>
            </a:xfrm>
            <a:prstGeom prst="roundRect">
              <a:avLst>
                <a:gd name="adj" fmla="val 13462"/>
              </a:avLst>
            </a:prstGeom>
            <a:solidFill>
              <a:srgbClr val="FFFFFF"/>
            </a:solidFill>
            <a:ln w="9525">
              <a:solidFill>
                <a:srgbClr val="E2E8F0"/>
              </a:solidFill>
            </a:ln>
          </p:spPr>
        </p:sp>
        <p:sp>
          <p:nvSpPr>
            <p:cNvPr id="9" name="TextBox 9"/>
            <p:cNvSpPr txBox="1"/>
            <p:nvPr/>
          </p:nvSpPr>
          <p:spPr>
            <a:xfrm>
              <a:off x="763905" y="1911668"/>
              <a:ext cx="730822" cy="579120"/>
            </a:xfrm>
            <a:prstGeom prst="rect">
              <a:avLst/>
            </a:prstGeom>
            <a:noFill/>
            <a:ln>
              <a:noFill/>
            </a:ln>
          </p:spPr>
          <p:txBody>
            <a:bodyPr wrap="none" lIns="0" tIns="0" rIns="0" bIns="0" anchor="t" anchorCtr="0">
              <a:spAutoFit/>
            </a:bodyPr>
            <a:lstStyle/>
            <a:p>
              <a:pPr algn="l"/>
              <a:r>
                <a:rPr lang="zh-CN" sz="2850" b="1" dirty="0">
                  <a:solidFill>
                    <a:srgbClr val="10B981"/>
                  </a:solidFill>
                  <a:latin typeface="Georgia"/>
                  <a:ea typeface="Microsoft YaHei"/>
                  <a:cs typeface="Georgia"/>
                </a:rPr>
                <a:t>260</a:t>
              </a:r>
            </a:p>
          </p:txBody>
        </p:sp>
        <p:sp>
          <p:nvSpPr>
            <p:cNvPr id="10" name="TextBox 10"/>
            <p:cNvSpPr txBox="1"/>
            <p:nvPr/>
          </p:nvSpPr>
          <p:spPr>
            <a:xfrm>
              <a:off x="1642110" y="2051685"/>
              <a:ext cx="929392" cy="243840"/>
            </a:xfrm>
            <a:prstGeom prst="rect">
              <a:avLst/>
            </a:prstGeom>
            <a:noFill/>
            <a:ln>
              <a:noFill/>
            </a:ln>
          </p:spPr>
          <p:txBody>
            <a:bodyPr wrap="none" lIns="0" tIns="0" rIns="0" bIns="0" anchor="t" anchorCtr="0">
              <a:spAutoFit/>
            </a:bodyPr>
            <a:lstStyle/>
            <a:p>
              <a:pPr algn="l"/>
              <a:r>
                <a:rPr lang="zh-CN" sz="1200" b="1" dirty="0">
                  <a:solidFill>
                    <a:srgbClr val="0F172A"/>
                  </a:solidFill>
                  <a:latin typeface="Arial"/>
                  <a:ea typeface="Microsoft YaHei"/>
                  <a:cs typeface="Arial"/>
                </a:rPr>
                <a:t>jobs visible</a:t>
              </a:r>
            </a:p>
          </p:txBody>
        </p:sp>
        <p:sp>
          <p:nvSpPr>
            <p:cNvPr id="11" name="TextBox 11"/>
            <p:cNvSpPr txBox="1"/>
            <p:nvPr/>
          </p:nvSpPr>
          <p:spPr>
            <a:xfrm>
              <a:off x="1644015" y="2296478"/>
              <a:ext cx="1734884"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in the local demo dataset</a:t>
              </a:r>
            </a:p>
          </p:txBody>
        </p:sp>
        <p:sp>
          <p:nvSpPr>
            <p:cNvPr id="12" name="Rectangle 12"/>
            <p:cNvSpPr/>
            <p:nvPr/>
          </p:nvSpPr>
          <p:spPr>
            <a:xfrm>
              <a:off x="533400" y="3086100"/>
              <a:ext cx="3352800" cy="990600"/>
            </a:xfrm>
            <a:prstGeom prst="roundRect">
              <a:avLst>
                <a:gd name="adj" fmla="val 13462"/>
              </a:avLst>
            </a:prstGeom>
            <a:solidFill>
              <a:srgbClr val="FFFFFF"/>
            </a:solidFill>
            <a:ln w="9525">
              <a:solidFill>
                <a:srgbClr val="E2E8F0"/>
              </a:solidFill>
            </a:ln>
          </p:spPr>
        </p:sp>
        <p:sp>
          <p:nvSpPr>
            <p:cNvPr id="13" name="TextBox 13"/>
            <p:cNvSpPr txBox="1"/>
            <p:nvPr/>
          </p:nvSpPr>
          <p:spPr>
            <a:xfrm>
              <a:off x="763905" y="3130868"/>
              <a:ext cx="511345" cy="579120"/>
            </a:xfrm>
            <a:prstGeom prst="rect">
              <a:avLst/>
            </a:prstGeom>
            <a:noFill/>
            <a:ln>
              <a:noFill/>
            </a:ln>
          </p:spPr>
          <p:txBody>
            <a:bodyPr wrap="none" lIns="0" tIns="0" rIns="0" bIns="0" anchor="t" anchorCtr="0">
              <a:spAutoFit/>
            </a:bodyPr>
            <a:lstStyle/>
            <a:p>
              <a:pPr algn="l"/>
              <a:r>
                <a:rPr lang="zh-CN" sz="2850" b="1" dirty="0">
                  <a:solidFill>
                    <a:srgbClr val="38BDF8"/>
                  </a:solidFill>
                  <a:latin typeface="Georgia"/>
                  <a:ea typeface="Microsoft YaHei"/>
                  <a:cs typeface="Georgia"/>
                </a:rPr>
                <a:t>63</a:t>
              </a:r>
            </a:p>
          </p:txBody>
        </p:sp>
        <p:sp>
          <p:nvSpPr>
            <p:cNvPr id="14" name="TextBox 14"/>
            <p:cNvSpPr txBox="1"/>
            <p:nvPr/>
          </p:nvSpPr>
          <p:spPr>
            <a:xfrm>
              <a:off x="1642110" y="3270885"/>
              <a:ext cx="1055408" cy="243840"/>
            </a:xfrm>
            <a:prstGeom prst="rect">
              <a:avLst/>
            </a:prstGeom>
            <a:noFill/>
            <a:ln>
              <a:noFill/>
            </a:ln>
          </p:spPr>
          <p:txBody>
            <a:bodyPr wrap="none" lIns="0" tIns="0" rIns="0" bIns="0" anchor="t" anchorCtr="0">
              <a:spAutoFit/>
            </a:bodyPr>
            <a:lstStyle/>
            <a:p>
              <a:pPr algn="l"/>
              <a:r>
                <a:rPr lang="zh-CN" sz="1200" b="1" dirty="0">
                  <a:solidFill>
                    <a:srgbClr val="0F172A"/>
                  </a:solidFill>
                  <a:latin typeface="Arial"/>
                  <a:ea typeface="Microsoft YaHei"/>
                  <a:cs typeface="Arial"/>
                </a:rPr>
                <a:t>ranked leads</a:t>
              </a:r>
            </a:p>
          </p:txBody>
        </p:sp>
        <p:sp>
          <p:nvSpPr>
            <p:cNvPr id="15" name="TextBox 15"/>
            <p:cNvSpPr txBox="1"/>
            <p:nvPr/>
          </p:nvSpPr>
          <p:spPr>
            <a:xfrm>
              <a:off x="1644015" y="3515678"/>
              <a:ext cx="2070925"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with evidence-backed context</a:t>
              </a:r>
            </a:p>
          </p:txBody>
        </p:sp>
        <p:sp>
          <p:nvSpPr>
            <p:cNvPr id="16" name="Rectangle 16"/>
            <p:cNvSpPr/>
            <p:nvPr/>
          </p:nvSpPr>
          <p:spPr>
            <a:xfrm>
              <a:off x="533400" y="4305300"/>
              <a:ext cx="3352800" cy="990600"/>
            </a:xfrm>
            <a:prstGeom prst="roundRect">
              <a:avLst>
                <a:gd name="adj" fmla="val 13462"/>
              </a:avLst>
            </a:prstGeom>
            <a:solidFill>
              <a:srgbClr val="0F172A"/>
            </a:solidFill>
            <a:ln>
              <a:noFill/>
            </a:ln>
          </p:spPr>
        </p:sp>
        <p:sp>
          <p:nvSpPr>
            <p:cNvPr id="17" name="TextBox 17"/>
            <p:cNvSpPr txBox="1"/>
            <p:nvPr/>
          </p:nvSpPr>
          <p:spPr>
            <a:xfrm>
              <a:off x="763905" y="4350068"/>
              <a:ext cx="730822" cy="579120"/>
            </a:xfrm>
            <a:prstGeom prst="rect">
              <a:avLst/>
            </a:prstGeom>
            <a:noFill/>
            <a:ln>
              <a:noFill/>
            </a:ln>
          </p:spPr>
          <p:txBody>
            <a:bodyPr wrap="none" lIns="0" tIns="0" rIns="0" bIns="0" anchor="t" anchorCtr="0">
              <a:spAutoFit/>
            </a:bodyPr>
            <a:lstStyle/>
            <a:p>
              <a:pPr algn="l"/>
              <a:r>
                <a:rPr lang="zh-CN" sz="2850" b="1" dirty="0">
                  <a:solidFill>
                    <a:srgbClr val="FFFFFF"/>
                  </a:solidFill>
                  <a:latin typeface="Georgia"/>
                  <a:ea typeface="Microsoft YaHei"/>
                  <a:cs typeface="Georgia"/>
                </a:rPr>
                <a:t>100</a:t>
              </a:r>
            </a:p>
          </p:txBody>
        </p:sp>
        <p:sp>
          <p:nvSpPr>
            <p:cNvPr id="18" name="TextBox 18"/>
            <p:cNvSpPr txBox="1"/>
            <p:nvPr/>
          </p:nvSpPr>
          <p:spPr>
            <a:xfrm>
              <a:off x="1794510" y="4490085"/>
              <a:ext cx="1198226"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top lead score</a:t>
              </a:r>
            </a:p>
          </p:txBody>
        </p:sp>
        <p:sp>
          <p:nvSpPr>
            <p:cNvPr id="19" name="TextBox 19"/>
            <p:cNvSpPr txBox="1"/>
            <p:nvPr/>
          </p:nvSpPr>
          <p:spPr>
            <a:xfrm>
              <a:off x="1796415" y="4734878"/>
              <a:ext cx="1769888"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Arial"/>
                  <a:ea typeface="Microsoft YaHei"/>
                  <a:cs typeface="Arial"/>
                </a:rPr>
                <a:t>shown for Atlas Logistics</a:t>
              </a:r>
            </a:p>
          </p:txBody>
        </p:sp>
      </p:grpSp>
      <p:grpSp>
        <p:nvGrpSpPr>
          <p:cNvPr id="56" name="Group 56"/>
          <p:cNvGrpSpPr/>
          <p:nvPr/>
        </p:nvGrpSpPr>
        <p:grpSpPr>
          <a:xfrm>
            <a:off x="4476750" y="1866900"/>
            <a:ext cx="7181850" cy="3429000"/>
            <a:chOff x="4476750" y="1866900"/>
            <a:chExt cx="7181850" cy="3429000"/>
          </a:xfrm>
        </p:grpSpPr>
        <p:sp>
          <p:nvSpPr>
            <p:cNvPr id="21" name="Rectangle 21"/>
            <p:cNvSpPr/>
            <p:nvPr/>
          </p:nvSpPr>
          <p:spPr>
            <a:xfrm>
              <a:off x="4476750" y="1866900"/>
              <a:ext cx="7181850" cy="3429000"/>
            </a:xfrm>
            <a:prstGeom prst="roundRect">
              <a:avLst>
                <a:gd name="adj" fmla="val 5000"/>
              </a:avLst>
            </a:prstGeom>
            <a:solidFill>
              <a:srgbClr val="FFFFFF"/>
            </a:solidFill>
            <a:ln w="9525">
              <a:solidFill>
                <a:srgbClr val="E2E8F0"/>
              </a:solidFill>
            </a:ln>
          </p:spPr>
        </p:sp>
        <p:sp>
          <p:nvSpPr>
            <p:cNvPr id="22" name="Line 22"/>
            <p:cNvSpPr/>
            <p:nvPr/>
          </p:nvSpPr>
          <p:spPr>
            <a:xfrm>
              <a:off x="5010150" y="2438400"/>
              <a:ext cx="9525" cy="2247900"/>
            </a:xfrm>
            <a:custGeom>
              <a:avLst/>
              <a:gdLst/>
              <a:ahLst/>
              <a:cxnLst/>
              <a:rect l="l" t="t" r="r" b="b"/>
              <a:pathLst>
                <a:path w="9525" h="2247900">
                  <a:moveTo>
                    <a:pt x="0" y="0"/>
                  </a:moveTo>
                  <a:lnTo>
                    <a:pt x="0" y="2247900"/>
                  </a:lnTo>
                </a:path>
              </a:pathLst>
            </a:custGeom>
            <a:noFill/>
            <a:ln w="28575">
              <a:solidFill>
                <a:srgbClr val="E2E8F0"/>
              </a:solidFill>
            </a:ln>
          </p:spPr>
        </p:sp>
        <p:grpSp>
          <p:nvGrpSpPr>
            <p:cNvPr id="30" name="Group 30"/>
            <p:cNvGrpSpPr/>
            <p:nvPr/>
          </p:nvGrpSpPr>
          <p:grpSpPr>
            <a:xfrm>
              <a:off x="4781550" y="2209800"/>
              <a:ext cx="6055756" cy="545306"/>
              <a:chOff x="4781550" y="2209800"/>
              <a:chExt cx="6055756" cy="545306"/>
            </a:xfrm>
          </p:grpSpPr>
          <p:sp>
            <p:nvSpPr>
              <p:cNvPr id="23" name="Ellipse 23"/>
              <p:cNvSpPr/>
              <p:nvPr/>
            </p:nvSpPr>
            <p:spPr>
              <a:xfrm>
                <a:off x="4781550" y="2209800"/>
                <a:ext cx="457200" cy="457200"/>
              </a:xfrm>
              <a:prstGeom prst="ellipse">
                <a:avLst/>
              </a:prstGeom>
              <a:solidFill>
                <a:srgbClr val="10B981"/>
              </a:solidFill>
              <a:ln>
                <a:noFill/>
              </a:ln>
            </p:spPr>
          </p:sp>
          <p:grpSp>
            <p:nvGrpSpPr>
              <p:cNvPr id="27" name="Group 27"/>
              <p:cNvGrpSpPr/>
              <p:nvPr/>
            </p:nvGrpSpPr>
            <p:grpSpPr>
              <a:xfrm>
                <a:off x="4910138" y="2338388"/>
                <a:ext cx="200025" cy="200025"/>
                <a:chOff x="4910138" y="2338388"/>
                <a:chExt cx="200025" cy="200025"/>
              </a:xfrm>
            </p:grpSpPr>
            <p:sp>
              <p:nvSpPr>
                <p:cNvPr id="24" name="Freeform 24"/>
                <p:cNvSpPr/>
                <p:nvPr/>
              </p:nvSpPr>
              <p:spPr>
                <a:xfrm>
                  <a:off x="4999038" y="2427288"/>
                  <a:ext cx="22225" cy="22225"/>
                </a:xfrm>
                <a:custGeom>
                  <a:avLst/>
                  <a:gdLst/>
                  <a:ahLst/>
                  <a:cxnLst/>
                  <a:rect l="l" t="t" r="r" b="b"/>
                  <a:pathLst>
                    <a:path w="22225" h="22225">
                      <a:moveTo>
                        <a:pt x="0" y="11112"/>
                      </a:moveTo>
                      <a:cubicBezTo>
                        <a:pt x="0" y="17250"/>
                        <a:pt x="4975" y="22225"/>
                        <a:pt x="11112" y="22225"/>
                      </a:cubicBezTo>
                      <a:cubicBezTo>
                        <a:pt x="17250" y="22225"/>
                        <a:pt x="22225" y="17250"/>
                        <a:pt x="22225" y="11112"/>
                      </a:cubicBezTo>
                      <a:cubicBezTo>
                        <a:pt x="22225" y="4975"/>
                        <a:pt x="17250" y="0"/>
                        <a:pt x="11112" y="0"/>
                      </a:cubicBezTo>
                      <a:cubicBezTo>
                        <a:pt x="4975" y="0"/>
                        <a:pt x="0" y="4975"/>
                        <a:pt x="0" y="11112"/>
                      </a:cubicBezTo>
                    </a:path>
                  </a:pathLst>
                </a:custGeom>
                <a:noFill/>
                <a:ln w="19050">
                  <a:solidFill>
                    <a:srgbClr val="FFFFFF"/>
                  </a:solidFill>
                </a:ln>
              </p:spPr>
            </p:sp>
            <p:sp>
              <p:nvSpPr>
                <p:cNvPr id="25" name="Freeform 25"/>
                <p:cNvSpPr/>
                <p:nvPr/>
              </p:nvSpPr>
              <p:spPr>
                <a:xfrm>
                  <a:off x="4954588" y="2382838"/>
                  <a:ext cx="111125" cy="111125"/>
                </a:xfrm>
                <a:custGeom>
                  <a:avLst/>
                  <a:gdLst/>
                  <a:ahLst/>
                  <a:cxnLst/>
                  <a:rect l="l" t="t" r="r" b="b"/>
                  <a:pathLst>
                    <a:path w="111125" h="111125">
                      <a:moveTo>
                        <a:pt x="0" y="55563"/>
                      </a:moveTo>
                      <a:cubicBezTo>
                        <a:pt x="0" y="86249"/>
                        <a:pt x="24876" y="111125"/>
                        <a:pt x="55563" y="111125"/>
                      </a:cubicBezTo>
                      <a:cubicBezTo>
                        <a:pt x="86249" y="111125"/>
                        <a:pt x="111125" y="86249"/>
                        <a:pt x="111125" y="55563"/>
                      </a:cubicBezTo>
                      <a:cubicBezTo>
                        <a:pt x="111125" y="24876"/>
                        <a:pt x="86249" y="0"/>
                        <a:pt x="55563" y="0"/>
                      </a:cubicBezTo>
                      <a:cubicBezTo>
                        <a:pt x="24876" y="0"/>
                        <a:pt x="0" y="24876"/>
                        <a:pt x="0" y="55563"/>
                      </a:cubicBezTo>
                    </a:path>
                  </a:pathLst>
                </a:custGeom>
                <a:noFill/>
                <a:ln w="19050">
                  <a:solidFill>
                    <a:srgbClr val="FFFFFF"/>
                  </a:solidFill>
                </a:ln>
              </p:spPr>
            </p:sp>
            <p:sp>
              <p:nvSpPr>
                <p:cNvPr id="26" name="Freeform 26"/>
                <p:cNvSpPr/>
                <p:nvPr/>
              </p:nvSpPr>
              <p:spPr>
                <a:xfrm>
                  <a:off x="4910138" y="2338388"/>
                  <a:ext cx="200025" cy="200025"/>
                </a:xfrm>
                <a:custGeom>
                  <a:avLst/>
                  <a:gdLst/>
                  <a:ahLst/>
                  <a:cxnLst/>
                  <a:rect l="l" t="t" r="r" b="b"/>
                  <a:pathLst>
                    <a:path w="200025" h="200025">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19050">
                  <a:solidFill>
                    <a:srgbClr val="FFFFFF"/>
                  </a:solidFill>
                </a:ln>
              </p:spPr>
            </p:sp>
          </p:grpSp>
          <p:sp>
            <p:nvSpPr>
              <p:cNvPr id="28" name="TextBox 28"/>
              <p:cNvSpPr txBox="1"/>
              <p:nvPr/>
            </p:nvSpPr>
            <p:spPr>
              <a:xfrm>
                <a:off x="5448300" y="2219325"/>
                <a:ext cx="2432399"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Timing replaces list age</a:t>
                </a:r>
              </a:p>
            </p:txBody>
          </p:sp>
          <p:sp>
            <p:nvSpPr>
              <p:cNvPr id="29" name="TextBox 29"/>
              <p:cNvSpPr txBox="1"/>
              <p:nvPr/>
            </p:nvSpPr>
            <p:spPr>
              <a:xfrm>
                <a:off x="5453062" y="2526506"/>
                <a:ext cx="5384244"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The conversation starts while the company is actively changing its team.</a:t>
                </a:r>
              </a:p>
            </p:txBody>
          </p:sp>
        </p:grpSp>
        <p:grpSp>
          <p:nvGrpSpPr>
            <p:cNvPr id="39" name="Group 39"/>
            <p:cNvGrpSpPr/>
            <p:nvPr/>
          </p:nvGrpSpPr>
          <p:grpSpPr>
            <a:xfrm>
              <a:off x="4781550" y="2962275"/>
              <a:ext cx="6768345" cy="545306"/>
              <a:chOff x="4781550" y="2962275"/>
              <a:chExt cx="6768345" cy="545306"/>
            </a:xfrm>
          </p:grpSpPr>
          <p:sp>
            <p:nvSpPr>
              <p:cNvPr id="31" name="Ellipse 31"/>
              <p:cNvSpPr/>
              <p:nvPr/>
            </p:nvSpPr>
            <p:spPr>
              <a:xfrm>
                <a:off x="4781550" y="2962275"/>
                <a:ext cx="457200" cy="457200"/>
              </a:xfrm>
              <a:prstGeom prst="ellipse">
                <a:avLst/>
              </a:prstGeom>
              <a:solidFill>
                <a:srgbClr val="38BDF8"/>
              </a:solidFill>
              <a:ln>
                <a:noFill/>
              </a:ln>
            </p:spPr>
          </p:sp>
          <p:grpSp>
            <p:nvGrpSpPr>
              <p:cNvPr id="36" name="Group 36"/>
              <p:cNvGrpSpPr/>
              <p:nvPr/>
            </p:nvGrpSpPr>
            <p:grpSpPr>
              <a:xfrm>
                <a:off x="4921250" y="3124200"/>
                <a:ext cx="205581" cy="172243"/>
                <a:chOff x="4921250" y="3124200"/>
                <a:chExt cx="205581" cy="172243"/>
              </a:xfrm>
            </p:grpSpPr>
            <p:sp>
              <p:nvSpPr>
                <p:cNvPr id="32" name="Freeform 32"/>
                <p:cNvSpPr/>
                <p:nvPr/>
              </p:nvSpPr>
              <p:spPr>
                <a:xfrm>
                  <a:off x="4921250" y="3124200"/>
                  <a:ext cx="177800" cy="9525"/>
                </a:xfrm>
                <a:custGeom>
                  <a:avLst/>
                  <a:gdLst/>
                  <a:ahLst/>
                  <a:cxnLst/>
                  <a:rect l="l" t="t" r="r" b="b"/>
                  <a:pathLst>
                    <a:path w="177800" h="9525">
                      <a:moveTo>
                        <a:pt x="0" y="0"/>
                      </a:moveTo>
                      <a:lnTo>
                        <a:pt x="177800" y="0"/>
                      </a:lnTo>
                    </a:path>
                  </a:pathLst>
                </a:custGeom>
                <a:noFill/>
                <a:ln w="19050">
                  <a:solidFill>
                    <a:srgbClr val="FFFFFF"/>
                  </a:solidFill>
                </a:ln>
              </p:spPr>
            </p:sp>
            <p:sp>
              <p:nvSpPr>
                <p:cNvPr id="33" name="Freeform 33"/>
                <p:cNvSpPr/>
                <p:nvPr/>
              </p:nvSpPr>
              <p:spPr>
                <a:xfrm>
                  <a:off x="4943475" y="3190875"/>
                  <a:ext cx="105569" cy="9525"/>
                </a:xfrm>
                <a:custGeom>
                  <a:avLst/>
                  <a:gdLst/>
                  <a:ahLst/>
                  <a:cxnLst/>
                  <a:rect l="l" t="t" r="r" b="b"/>
                  <a:pathLst>
                    <a:path w="105569" h="9525">
                      <a:moveTo>
                        <a:pt x="0" y="0"/>
                      </a:moveTo>
                      <a:lnTo>
                        <a:pt x="105569" y="0"/>
                      </a:lnTo>
                    </a:path>
                  </a:pathLst>
                </a:custGeom>
                <a:noFill/>
                <a:ln w="19050">
                  <a:solidFill>
                    <a:srgbClr val="FFFFFF"/>
                  </a:solidFill>
                </a:ln>
              </p:spPr>
            </p:sp>
            <p:sp>
              <p:nvSpPr>
                <p:cNvPr id="34" name="Freeform 34"/>
                <p:cNvSpPr/>
                <p:nvPr/>
              </p:nvSpPr>
              <p:spPr>
                <a:xfrm>
                  <a:off x="4976812" y="3257550"/>
                  <a:ext cx="27781" cy="9525"/>
                </a:xfrm>
                <a:custGeom>
                  <a:avLst/>
                  <a:gdLst/>
                  <a:ahLst/>
                  <a:cxnLst/>
                  <a:rect l="l" t="t" r="r" b="b"/>
                  <a:pathLst>
                    <a:path w="27781" h="9525">
                      <a:moveTo>
                        <a:pt x="0" y="0"/>
                      </a:moveTo>
                      <a:lnTo>
                        <a:pt x="27781" y="0"/>
                      </a:lnTo>
                    </a:path>
                  </a:pathLst>
                </a:custGeom>
                <a:noFill/>
                <a:ln w="19050">
                  <a:solidFill>
                    <a:srgbClr val="FFFFFF"/>
                  </a:solidFill>
                </a:ln>
              </p:spPr>
            </p:sp>
            <p:sp>
              <p:nvSpPr>
                <p:cNvPr id="35" name="Freeform 35"/>
                <p:cNvSpPr/>
                <p:nvPr/>
              </p:nvSpPr>
              <p:spPr>
                <a:xfrm>
                  <a:off x="5049044" y="3218656"/>
                  <a:ext cx="77787" cy="77787"/>
                </a:xfrm>
                <a:custGeom>
                  <a:avLst/>
                  <a:gdLst/>
                  <a:ahLst/>
                  <a:cxnLst/>
                  <a:rect l="l" t="t" r="r" b="b"/>
                  <a:pathLst>
                    <a:path w="77787" h="77787">
                      <a:moveTo>
                        <a:pt x="38894" y="77787"/>
                      </a:moveTo>
                      <a:cubicBezTo>
                        <a:pt x="41172" y="68353"/>
                        <a:pt x="46017" y="59730"/>
                        <a:pt x="52873" y="52873"/>
                      </a:cubicBezTo>
                      <a:cubicBezTo>
                        <a:pt x="59730" y="46017"/>
                        <a:pt x="68353" y="41172"/>
                        <a:pt x="77787" y="38894"/>
                      </a:cubicBezTo>
                      <a:cubicBezTo>
                        <a:pt x="68353" y="36616"/>
                        <a:pt x="59730" y="31771"/>
                        <a:pt x="52873" y="24914"/>
                      </a:cubicBezTo>
                      <a:cubicBezTo>
                        <a:pt x="46017" y="18058"/>
                        <a:pt x="41172" y="9435"/>
                        <a:pt x="38894" y="0"/>
                      </a:cubicBezTo>
                      <a:cubicBezTo>
                        <a:pt x="36616" y="9435"/>
                        <a:pt x="31771" y="18058"/>
                        <a:pt x="24914" y="24914"/>
                      </a:cubicBezTo>
                      <a:cubicBezTo>
                        <a:pt x="18058" y="31771"/>
                        <a:pt x="9435" y="36616"/>
                        <a:pt x="0" y="38894"/>
                      </a:cubicBezTo>
                      <a:cubicBezTo>
                        <a:pt x="9435" y="41172"/>
                        <a:pt x="18058" y="46017"/>
                        <a:pt x="24914" y="52873"/>
                      </a:cubicBezTo>
                      <a:cubicBezTo>
                        <a:pt x="31771" y="59730"/>
                        <a:pt x="36616" y="68353"/>
                        <a:pt x="38894" y="77787"/>
                      </a:cubicBezTo>
                    </a:path>
                  </a:pathLst>
                </a:custGeom>
                <a:noFill/>
                <a:ln w="19050">
                  <a:solidFill>
                    <a:srgbClr val="FFFFFF"/>
                  </a:solidFill>
                </a:ln>
              </p:spPr>
            </p:sp>
          </p:grpSp>
          <p:sp>
            <p:nvSpPr>
              <p:cNvPr id="37" name="TextBox 37"/>
              <p:cNvSpPr txBox="1"/>
              <p:nvPr/>
            </p:nvSpPr>
            <p:spPr>
              <a:xfrm>
                <a:off x="5448300" y="2971800"/>
                <a:ext cx="2778943"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Evidence replaces guessing</a:t>
                </a:r>
              </a:p>
            </p:txBody>
          </p:sp>
          <p:sp>
            <p:nvSpPr>
              <p:cNvPr id="38" name="TextBox 38"/>
              <p:cNvSpPr txBox="1"/>
              <p:nvPr/>
            </p:nvSpPr>
            <p:spPr>
              <a:xfrm>
                <a:off x="5453062" y="3278981"/>
                <a:ext cx="6096833"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Each account includes roles, matched patterns, inferred pain, and draft context.</a:t>
                </a:r>
              </a:p>
            </p:txBody>
          </p:sp>
        </p:grpSp>
        <p:grpSp>
          <p:nvGrpSpPr>
            <p:cNvPr id="48" name="Group 48"/>
            <p:cNvGrpSpPr/>
            <p:nvPr/>
          </p:nvGrpSpPr>
          <p:grpSpPr>
            <a:xfrm>
              <a:off x="4781550" y="3714750"/>
              <a:ext cx="6655831" cy="545306"/>
              <a:chOff x="4781550" y="3714750"/>
              <a:chExt cx="6655831" cy="545306"/>
            </a:xfrm>
          </p:grpSpPr>
          <p:sp>
            <p:nvSpPr>
              <p:cNvPr id="40" name="Ellipse 40"/>
              <p:cNvSpPr/>
              <p:nvPr/>
            </p:nvSpPr>
            <p:spPr>
              <a:xfrm>
                <a:off x="4781550" y="3714750"/>
                <a:ext cx="457200" cy="457200"/>
              </a:xfrm>
              <a:prstGeom prst="ellipse">
                <a:avLst/>
              </a:prstGeom>
              <a:solidFill>
                <a:srgbClr val="0F172A"/>
              </a:solidFill>
              <a:ln>
                <a:noFill/>
              </a:ln>
            </p:spPr>
          </p:sp>
          <p:grpSp>
            <p:nvGrpSpPr>
              <p:cNvPr id="45" name="Group 45"/>
              <p:cNvGrpSpPr/>
              <p:nvPr/>
            </p:nvGrpSpPr>
            <p:grpSpPr>
              <a:xfrm>
                <a:off x="4910138" y="3854450"/>
                <a:ext cx="200025" cy="187325"/>
                <a:chOff x="4910138" y="3854450"/>
                <a:chExt cx="200025" cy="187325"/>
              </a:xfrm>
            </p:grpSpPr>
            <p:sp>
              <p:nvSpPr>
                <p:cNvPr id="41" name="Freeform 41"/>
                <p:cNvSpPr/>
                <p:nvPr/>
              </p:nvSpPr>
              <p:spPr>
                <a:xfrm>
                  <a:off x="4910138" y="3943350"/>
                  <a:ext cx="66675" cy="88900"/>
                </a:xfrm>
                <a:custGeom>
                  <a:avLst/>
                  <a:gdLst/>
                  <a:ahLst/>
                  <a:cxnLst/>
                  <a:rect l="l" t="t" r="r" b="b"/>
                  <a:pathLst>
                    <a:path w="66675" h="88900">
                      <a:moveTo>
                        <a:pt x="0" y="11113"/>
                      </a:moveTo>
                      <a:cubicBezTo>
                        <a:pt x="0" y="4975"/>
                        <a:pt x="4975" y="0"/>
                        <a:pt x="11112" y="0"/>
                      </a:cubicBezTo>
                      <a:lnTo>
                        <a:pt x="55563" y="0"/>
                      </a:lnTo>
                      <a:cubicBezTo>
                        <a:pt x="61700" y="0"/>
                        <a:pt x="66675" y="4975"/>
                        <a:pt x="66675" y="11113"/>
                      </a:cubicBezTo>
                      <a:lnTo>
                        <a:pt x="66675" y="77788"/>
                      </a:lnTo>
                      <a:cubicBezTo>
                        <a:pt x="66675" y="83925"/>
                        <a:pt x="61700" y="88900"/>
                        <a:pt x="55563" y="88900"/>
                      </a:cubicBezTo>
                      <a:lnTo>
                        <a:pt x="11112" y="88900"/>
                      </a:lnTo>
                      <a:cubicBezTo>
                        <a:pt x="4975" y="88900"/>
                        <a:pt x="0" y="83925"/>
                        <a:pt x="0" y="77788"/>
                      </a:cubicBezTo>
                      <a:lnTo>
                        <a:pt x="0" y="11113"/>
                      </a:lnTo>
                    </a:path>
                  </a:pathLst>
                </a:custGeom>
                <a:noFill/>
                <a:ln w="19050">
                  <a:solidFill>
                    <a:srgbClr val="FFFFFF"/>
                  </a:solidFill>
                </a:ln>
              </p:spPr>
            </p:sp>
            <p:sp>
              <p:nvSpPr>
                <p:cNvPr id="42" name="Freeform 42"/>
                <p:cNvSpPr/>
                <p:nvPr/>
              </p:nvSpPr>
              <p:spPr>
                <a:xfrm>
                  <a:off x="5043488" y="3898900"/>
                  <a:ext cx="66675" cy="133350"/>
                </a:xfrm>
                <a:custGeom>
                  <a:avLst/>
                  <a:gdLst/>
                  <a:ahLst/>
                  <a:cxnLst/>
                  <a:rect l="l" t="t" r="r" b="b"/>
                  <a:pathLst>
                    <a:path w="66675" h="133350">
                      <a:moveTo>
                        <a:pt x="0" y="11113"/>
                      </a:moveTo>
                      <a:cubicBezTo>
                        <a:pt x="0" y="4975"/>
                        <a:pt x="4975" y="0"/>
                        <a:pt x="11112" y="0"/>
                      </a:cubicBezTo>
                      <a:lnTo>
                        <a:pt x="55563" y="0"/>
                      </a:lnTo>
                      <a:cubicBezTo>
                        <a:pt x="61700" y="0"/>
                        <a:pt x="66675" y="4975"/>
                        <a:pt x="66675" y="11113"/>
                      </a:cubicBezTo>
                      <a:lnTo>
                        <a:pt x="66675" y="122238"/>
                      </a:lnTo>
                      <a:cubicBezTo>
                        <a:pt x="66675" y="128375"/>
                        <a:pt x="61700" y="133350"/>
                        <a:pt x="55563" y="133350"/>
                      </a:cubicBezTo>
                      <a:lnTo>
                        <a:pt x="11112" y="133350"/>
                      </a:lnTo>
                      <a:cubicBezTo>
                        <a:pt x="4975" y="133350"/>
                        <a:pt x="0" y="128375"/>
                        <a:pt x="0" y="122238"/>
                      </a:cubicBezTo>
                      <a:lnTo>
                        <a:pt x="0" y="11113"/>
                      </a:lnTo>
                    </a:path>
                  </a:pathLst>
                </a:custGeom>
                <a:noFill/>
                <a:ln w="19050">
                  <a:solidFill>
                    <a:srgbClr val="FFFFFF"/>
                  </a:solidFill>
                </a:ln>
              </p:spPr>
            </p:sp>
            <p:sp>
              <p:nvSpPr>
                <p:cNvPr id="43" name="Freeform 43"/>
                <p:cNvSpPr/>
                <p:nvPr/>
              </p:nvSpPr>
              <p:spPr>
                <a:xfrm>
                  <a:off x="4976812" y="3854450"/>
                  <a:ext cx="66675" cy="177800"/>
                </a:xfrm>
                <a:custGeom>
                  <a:avLst/>
                  <a:gdLst/>
                  <a:ahLst/>
                  <a:cxnLst/>
                  <a:rect l="l" t="t" r="r" b="b"/>
                  <a:pathLst>
                    <a:path w="66675" h="177800">
                      <a:moveTo>
                        <a:pt x="0" y="11112"/>
                      </a:moveTo>
                      <a:cubicBezTo>
                        <a:pt x="0" y="4975"/>
                        <a:pt x="4975" y="0"/>
                        <a:pt x="11112" y="0"/>
                      </a:cubicBezTo>
                      <a:lnTo>
                        <a:pt x="55563" y="0"/>
                      </a:lnTo>
                      <a:cubicBezTo>
                        <a:pt x="61700" y="0"/>
                        <a:pt x="66675" y="4975"/>
                        <a:pt x="66675" y="11112"/>
                      </a:cubicBezTo>
                      <a:lnTo>
                        <a:pt x="66675" y="166688"/>
                      </a:lnTo>
                      <a:cubicBezTo>
                        <a:pt x="66675" y="172825"/>
                        <a:pt x="61700" y="177800"/>
                        <a:pt x="55563" y="177800"/>
                      </a:cubicBezTo>
                      <a:lnTo>
                        <a:pt x="11112" y="177800"/>
                      </a:lnTo>
                      <a:cubicBezTo>
                        <a:pt x="4975" y="177800"/>
                        <a:pt x="0" y="172825"/>
                        <a:pt x="0" y="166688"/>
                      </a:cubicBezTo>
                      <a:lnTo>
                        <a:pt x="0" y="11112"/>
                      </a:lnTo>
                    </a:path>
                  </a:pathLst>
                </a:custGeom>
                <a:noFill/>
                <a:ln w="19050">
                  <a:solidFill>
                    <a:srgbClr val="FFFFFF"/>
                  </a:solidFill>
                </a:ln>
              </p:spPr>
            </p:sp>
            <p:sp>
              <p:nvSpPr>
                <p:cNvPr id="44" name="Freeform 44"/>
                <p:cNvSpPr/>
                <p:nvPr/>
              </p:nvSpPr>
              <p:spPr>
                <a:xfrm>
                  <a:off x="4921250" y="4032250"/>
                  <a:ext cx="155575" cy="9525"/>
                </a:xfrm>
                <a:custGeom>
                  <a:avLst/>
                  <a:gdLst/>
                  <a:ahLst/>
                  <a:cxnLst/>
                  <a:rect l="l" t="t" r="r" b="b"/>
                  <a:pathLst>
                    <a:path w="155575" h="9525">
                      <a:moveTo>
                        <a:pt x="0" y="0"/>
                      </a:moveTo>
                      <a:lnTo>
                        <a:pt x="155575" y="0"/>
                      </a:lnTo>
                    </a:path>
                  </a:pathLst>
                </a:custGeom>
                <a:noFill/>
                <a:ln w="19050">
                  <a:solidFill>
                    <a:srgbClr val="FFFFFF"/>
                  </a:solidFill>
                </a:ln>
              </p:spPr>
            </p:sp>
          </p:grpSp>
          <p:sp>
            <p:nvSpPr>
              <p:cNvPr id="46" name="TextBox 46"/>
              <p:cNvSpPr txBox="1"/>
              <p:nvPr/>
            </p:nvSpPr>
            <p:spPr>
              <a:xfrm>
                <a:off x="5448300" y="3724275"/>
                <a:ext cx="3177992"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Ranking replaces manual triage</a:t>
                </a:r>
              </a:p>
            </p:txBody>
          </p:sp>
          <p:sp>
            <p:nvSpPr>
              <p:cNvPr id="47" name="TextBox 47"/>
              <p:cNvSpPr txBox="1"/>
              <p:nvPr/>
            </p:nvSpPr>
            <p:spPr>
              <a:xfrm>
                <a:off x="5453062" y="4031456"/>
                <a:ext cx="5984319"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A seller can begin with the highest-fit accounts instead of sorting raw postings.</a:t>
                </a:r>
              </a:p>
            </p:txBody>
          </p:sp>
        </p:grpSp>
        <p:grpSp>
          <p:nvGrpSpPr>
            <p:cNvPr id="55" name="Group 55"/>
            <p:cNvGrpSpPr/>
            <p:nvPr/>
          </p:nvGrpSpPr>
          <p:grpSpPr>
            <a:xfrm>
              <a:off x="4781550" y="4457700"/>
              <a:ext cx="6520814" cy="545306"/>
              <a:chOff x="4781550" y="4457700"/>
              <a:chExt cx="6520814" cy="545306"/>
            </a:xfrm>
          </p:grpSpPr>
          <p:sp>
            <p:nvSpPr>
              <p:cNvPr id="49" name="Ellipse 49"/>
              <p:cNvSpPr/>
              <p:nvPr/>
            </p:nvSpPr>
            <p:spPr>
              <a:xfrm>
                <a:off x="4781550" y="4457700"/>
                <a:ext cx="457200" cy="457200"/>
              </a:xfrm>
              <a:prstGeom prst="ellipse">
                <a:avLst/>
              </a:prstGeom>
              <a:solidFill>
                <a:srgbClr val="F59E0B"/>
              </a:solidFill>
              <a:ln>
                <a:noFill/>
              </a:ln>
            </p:spPr>
          </p:sp>
          <p:grpSp>
            <p:nvGrpSpPr>
              <p:cNvPr id="52" name="Group 52"/>
              <p:cNvGrpSpPr/>
              <p:nvPr/>
            </p:nvGrpSpPr>
            <p:grpSpPr>
              <a:xfrm>
                <a:off x="4906572" y="4586288"/>
                <a:ext cx="203591" cy="203591"/>
                <a:chOff x="4906572" y="4586288"/>
                <a:chExt cx="203591" cy="203591"/>
              </a:xfrm>
            </p:grpSpPr>
            <p:sp>
              <p:nvSpPr>
                <p:cNvPr id="50" name="Freeform 50"/>
                <p:cNvSpPr/>
                <p:nvPr/>
              </p:nvSpPr>
              <p:spPr>
                <a:xfrm>
                  <a:off x="4987925" y="4586288"/>
                  <a:ext cx="122238" cy="122237"/>
                </a:xfrm>
                <a:custGeom>
                  <a:avLst/>
                  <a:gdLst/>
                  <a:ahLst/>
                  <a:cxnLst/>
                  <a:rect l="l" t="t" r="r" b="b"/>
                  <a:pathLst>
                    <a:path w="122238" h="122237">
                      <a:moveTo>
                        <a:pt x="0" y="122237"/>
                      </a:moveTo>
                      <a:lnTo>
                        <a:pt x="122238" y="0"/>
                      </a:lnTo>
                    </a:path>
                  </a:pathLst>
                </a:custGeom>
                <a:noFill/>
                <a:ln w="19050">
                  <a:solidFill>
                    <a:srgbClr val="FFFFFF"/>
                  </a:solidFill>
                </a:ln>
              </p:spPr>
            </p:sp>
            <p:sp>
              <p:nvSpPr>
                <p:cNvPr id="51" name="Freeform 51"/>
                <p:cNvSpPr/>
                <p:nvPr/>
              </p:nvSpPr>
              <p:spPr>
                <a:xfrm>
                  <a:off x="4906572" y="4586288"/>
                  <a:ext cx="203591" cy="203591"/>
                </a:xfrm>
                <a:custGeom>
                  <a:avLst/>
                  <a:gdLst/>
                  <a:ahLst/>
                  <a:cxnLst/>
                  <a:rect l="l" t="t" r="r" b="b"/>
                  <a:pathLst>
                    <a:path w="203591" h="203591">
                      <a:moveTo>
                        <a:pt x="203591" y="0"/>
                      </a:moveTo>
                      <a:lnTo>
                        <a:pt x="131359" y="200025"/>
                      </a:lnTo>
                      <a:cubicBezTo>
                        <a:pt x="130364" y="202198"/>
                        <a:pt x="128193" y="203591"/>
                        <a:pt x="125803" y="203591"/>
                      </a:cubicBezTo>
                      <a:cubicBezTo>
                        <a:pt x="123413" y="203591"/>
                        <a:pt x="121243" y="202198"/>
                        <a:pt x="120247" y="200025"/>
                      </a:cubicBezTo>
                      <a:lnTo>
                        <a:pt x="81353" y="122237"/>
                      </a:lnTo>
                      <a:lnTo>
                        <a:pt x="3566" y="83344"/>
                      </a:lnTo>
                      <a:cubicBezTo>
                        <a:pt x="1393" y="82348"/>
                        <a:pt x="0" y="80177"/>
                        <a:pt x="0" y="77788"/>
                      </a:cubicBezTo>
                      <a:cubicBezTo>
                        <a:pt x="0" y="75398"/>
                        <a:pt x="1393" y="73227"/>
                        <a:pt x="3566" y="72231"/>
                      </a:cubicBezTo>
                      <a:lnTo>
                        <a:pt x="203591" y="0"/>
                      </a:lnTo>
                    </a:path>
                  </a:pathLst>
                </a:custGeom>
                <a:noFill/>
                <a:ln w="19050">
                  <a:solidFill>
                    <a:srgbClr val="FFFFFF"/>
                  </a:solidFill>
                </a:ln>
              </p:spPr>
            </p:sp>
          </p:grpSp>
          <p:sp>
            <p:nvSpPr>
              <p:cNvPr id="53" name="TextBox 53"/>
              <p:cNvSpPr txBox="1"/>
              <p:nvPr/>
            </p:nvSpPr>
            <p:spPr>
              <a:xfrm>
                <a:off x="5448300" y="4467225"/>
                <a:ext cx="4060103"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Slack handoff replaces hidden research</a:t>
                </a:r>
              </a:p>
            </p:txBody>
          </p:sp>
          <p:sp>
            <p:nvSpPr>
              <p:cNvPr id="54" name="TextBox 54"/>
              <p:cNvSpPr txBox="1"/>
              <p:nvPr/>
            </p:nvSpPr>
            <p:spPr>
              <a:xfrm>
                <a:off x="5453062" y="4774406"/>
                <a:ext cx="5849302"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The output lands where the team already reviews and assigns selling priorities.</a:t>
                </a:r>
              </a:p>
            </p:txBody>
          </p:sp>
        </p:grpSp>
      </p:grpSp>
      <p:grpSp>
        <p:nvGrpSpPr>
          <p:cNvPr id="59" name="Group 59"/>
          <p:cNvGrpSpPr/>
          <p:nvPr/>
        </p:nvGrpSpPr>
        <p:grpSpPr>
          <a:xfrm>
            <a:off x="4476750" y="5581650"/>
            <a:ext cx="7181850" cy="552450"/>
            <a:chOff x="4476750" y="5581650"/>
            <a:chExt cx="7181850" cy="552450"/>
          </a:xfrm>
        </p:grpSpPr>
        <p:sp>
          <p:nvSpPr>
            <p:cNvPr id="57" name="Rectangle 57"/>
            <p:cNvSpPr/>
            <p:nvPr/>
          </p:nvSpPr>
          <p:spPr>
            <a:xfrm>
              <a:off x="4476750" y="5581650"/>
              <a:ext cx="7181850" cy="552450"/>
            </a:xfrm>
            <a:prstGeom prst="roundRect">
              <a:avLst>
                <a:gd name="adj" fmla="val 50000"/>
              </a:avLst>
            </a:prstGeom>
            <a:solidFill>
              <a:srgbClr val="0F172A"/>
            </a:solidFill>
            <a:ln>
              <a:noFill/>
            </a:ln>
          </p:spPr>
        </p:sp>
        <p:sp>
          <p:nvSpPr>
            <p:cNvPr id="58" name="TextBox 58"/>
            <p:cNvSpPr txBox="1"/>
            <p:nvPr/>
          </p:nvSpPr>
          <p:spPr>
            <a:xfrm>
              <a:off x="5134841" y="5778818"/>
              <a:ext cx="5865669"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The live website should prove the loop, not explain more slides.</a:t>
              </a:r>
            </a:p>
          </p:txBody>
        </p:sp>
      </p:grpSp>
      <p:grpSp>
        <p:nvGrpSpPr>
          <p:cNvPr id="62" name="Group 62"/>
          <p:cNvGrpSpPr/>
          <p:nvPr/>
        </p:nvGrpSpPr>
        <p:grpSpPr>
          <a:xfrm>
            <a:off x="521970" y="6417945"/>
            <a:ext cx="11148060" cy="182880"/>
            <a:chOff x="521970" y="6417945"/>
            <a:chExt cx="11148060" cy="182880"/>
          </a:xfrm>
        </p:grpSpPr>
        <p:sp>
          <p:nvSpPr>
            <p:cNvPr id="60" name="TextBox 60"/>
            <p:cNvSpPr txBox="1"/>
            <p:nvPr/>
          </p:nvSpPr>
          <p:spPr>
            <a:xfrm>
              <a:off x="521970" y="6417945"/>
              <a:ext cx="3563903"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Demo setup: frame the value, then switch to the product</a:t>
              </a:r>
            </a:p>
          </p:txBody>
        </p:sp>
        <p:sp>
          <p:nvSpPr>
            <p:cNvPr id="61" name="TextBox 61"/>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07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image">
                                      <p:cBhvr>
                                        <p:cTn id="7" dur="400"/>
                                        <p:tgtEl>
                                          <p:spTgt spid="2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56"/>
                                        </p:tgtEl>
                                        <p:attrNameLst>
                                          <p:attrName>style.visibility</p:attrName>
                                        </p:attrNameLst>
                                      </p:cBhvr>
                                      <p:to>
                                        <p:strVal val="visible"/>
                                      </p:to>
                                    </p:set>
                                    <p:animEffect transition="in" filter="fade">
                                      <p:cBhvr>
                                        <p:cTn id="11" dur="400"/>
                                        <p:tgtEl>
                                          <p:spTgt spid="56"/>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59"/>
                                        </p:tgtEl>
                                        <p:attrNameLst>
                                          <p:attrName>style.visibility</p:attrName>
                                        </p:attrNameLst>
                                      </p:cBhvr>
                                      <p:to>
                                        <p:strVal val="visible"/>
                                      </p:to>
                                    </p:set>
                                    <p:animEffect transition="in" filter="wipe(left)">
                                      <p:cBhvr>
                                        <p:cTn id="15" dur="4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56" grpId="0"/>
      <p:bldP spid="5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9" name="Group 9"/>
          <p:cNvGrpSpPr/>
          <p:nvPr/>
        </p:nvGrpSpPr>
        <p:grpSpPr>
          <a:xfrm>
            <a:off x="571500" y="514350"/>
            <a:ext cx="10858500" cy="533400"/>
            <a:chOff x="571500" y="514350"/>
            <a:chExt cx="10858500" cy="533400"/>
          </a:xfrm>
        </p:grpSpPr>
        <p:sp>
          <p:nvSpPr>
            <p:cNvPr id="3" name="Ellipse 3"/>
            <p:cNvSpPr/>
            <p:nvPr/>
          </p:nvSpPr>
          <p:spPr>
            <a:xfrm>
              <a:off x="571500" y="514350"/>
              <a:ext cx="533400" cy="533400"/>
            </a:xfrm>
            <a:prstGeom prst="ellipse">
              <a:avLst/>
            </a:prstGeom>
            <a:solidFill>
              <a:srgbClr val="0F172A"/>
            </a:solidFill>
            <a:ln>
              <a:noFill/>
            </a:ln>
          </p:spPr>
        </p:sp>
        <p:sp>
          <p:nvSpPr>
            <p:cNvPr id="4" name="Freeform 4"/>
            <p:cNvSpPr/>
            <p:nvPr/>
          </p:nvSpPr>
          <p:spPr>
            <a:xfrm>
              <a:off x="685800" y="647700"/>
              <a:ext cx="323850" cy="190500"/>
            </a:xfrm>
            <a:custGeom>
              <a:avLst/>
              <a:gdLst/>
              <a:ahLst/>
              <a:cxnLst/>
              <a:rect l="l" t="t" r="r" b="b"/>
              <a:pathLst>
                <a:path w="323850" h="190500">
                  <a:moveTo>
                    <a:pt x="0" y="190500"/>
                  </a:moveTo>
                  <a:cubicBezTo>
                    <a:pt x="95250" y="0"/>
                    <a:pt x="266700" y="0"/>
                    <a:pt x="323850" y="190500"/>
                  </a:cubicBezTo>
                </a:path>
              </a:pathLst>
            </a:custGeom>
            <a:noFill/>
            <a:ln w="38100" cap="rnd">
              <a:solidFill>
                <a:srgbClr val="10B981"/>
              </a:solidFill>
            </a:ln>
          </p:spPr>
        </p:sp>
        <p:sp>
          <p:nvSpPr>
            <p:cNvPr id="5" name="Ellipse 5"/>
            <p:cNvSpPr/>
            <p:nvPr/>
          </p:nvSpPr>
          <p:spPr>
            <a:xfrm>
              <a:off x="800100" y="733425"/>
              <a:ext cx="114300" cy="114300"/>
            </a:xfrm>
            <a:prstGeom prst="ellipse">
              <a:avLst/>
            </a:prstGeom>
            <a:solidFill>
              <a:srgbClr val="38BDF8"/>
            </a:solidFill>
            <a:ln>
              <a:noFill/>
            </a:ln>
          </p:spPr>
        </p:sp>
        <p:sp>
          <p:nvSpPr>
            <p:cNvPr id="6" name="TextBox 6"/>
            <p:cNvSpPr txBox="1"/>
            <p:nvPr/>
          </p:nvSpPr>
          <p:spPr>
            <a:xfrm>
              <a:off x="1259205" y="692468"/>
              <a:ext cx="1300748"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SignalScout AI</a:t>
              </a:r>
            </a:p>
          </p:txBody>
        </p:sp>
        <p:sp>
          <p:nvSpPr>
            <p:cNvPr id="7" name="Rectangle 7"/>
            <p:cNvSpPr/>
            <p:nvPr/>
          </p:nvSpPr>
          <p:spPr>
            <a:xfrm>
              <a:off x="9886950" y="552450"/>
              <a:ext cx="1543050" cy="304800"/>
            </a:xfrm>
            <a:prstGeom prst="roundRect">
              <a:avLst>
                <a:gd name="adj" fmla="val 50000"/>
              </a:avLst>
            </a:prstGeom>
            <a:solidFill>
              <a:srgbClr val="10B981">
                <a:alpha val="12000"/>
              </a:srgbClr>
            </a:solidFill>
            <a:ln w="9525">
              <a:solidFill>
                <a:srgbClr val="10B981"/>
              </a:solidFill>
            </a:ln>
          </p:spPr>
        </p:sp>
        <p:sp>
          <p:nvSpPr>
            <p:cNvPr id="8" name="TextBox 8"/>
            <p:cNvSpPr txBox="1"/>
            <p:nvPr/>
          </p:nvSpPr>
          <p:spPr>
            <a:xfrm>
              <a:off x="10083125" y="655320"/>
              <a:ext cx="1150701"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LIVE WEBSITE DEMO</a:t>
              </a:r>
            </a:p>
          </p:txBody>
        </p:sp>
      </p:grpSp>
      <p:grpSp>
        <p:nvGrpSpPr>
          <p:cNvPr id="14" name="Group 14"/>
          <p:cNvGrpSpPr/>
          <p:nvPr/>
        </p:nvGrpSpPr>
        <p:grpSpPr>
          <a:xfrm>
            <a:off x="771525" y="1776412"/>
            <a:ext cx="9699386" cy="1997869"/>
            <a:chOff x="771525" y="1776412"/>
            <a:chExt cx="9699386" cy="1997869"/>
          </a:xfrm>
        </p:grpSpPr>
        <p:sp>
          <p:nvSpPr>
            <p:cNvPr id="10" name="TextBox 10"/>
            <p:cNvSpPr txBox="1"/>
            <p:nvPr/>
          </p:nvSpPr>
          <p:spPr>
            <a:xfrm>
              <a:off x="771525" y="1776412"/>
              <a:ext cx="6822686" cy="1066800"/>
            </a:xfrm>
            <a:prstGeom prst="rect">
              <a:avLst/>
            </a:prstGeom>
            <a:noFill/>
            <a:ln>
              <a:noFill/>
            </a:ln>
          </p:spPr>
          <p:txBody>
            <a:bodyPr wrap="none" lIns="0" tIns="0" rIns="0" bIns="0" anchor="t" anchorCtr="0">
              <a:spAutoFit/>
            </a:bodyPr>
            <a:lstStyle/>
            <a:p>
              <a:pPr algn="l"/>
              <a:r>
                <a:rPr lang="zh-CN" sz="5250" b="1" dirty="0">
                  <a:solidFill>
                    <a:srgbClr val="0F172A"/>
                  </a:solidFill>
                  <a:latin typeface="Georgia"/>
                  <a:ea typeface="Microsoft YaHei"/>
                  <a:cs typeface="Georgia"/>
                </a:rPr>
                <a:t>Now we run it live.</a:t>
              </a:r>
            </a:p>
          </p:txBody>
        </p:sp>
        <p:sp>
          <p:nvSpPr>
            <p:cNvPr id="11" name="Rectangle 11"/>
            <p:cNvSpPr/>
            <p:nvPr/>
          </p:nvSpPr>
          <p:spPr>
            <a:xfrm>
              <a:off x="876300" y="2628900"/>
              <a:ext cx="4267200" cy="76200"/>
            </a:xfrm>
            <a:prstGeom prst="roundRect">
              <a:avLst>
                <a:gd name="adj" fmla="val 50000"/>
              </a:avLst>
            </a:prstGeom>
            <a:solidFill>
              <a:srgbClr val="10B981"/>
            </a:solidFill>
            <a:ln>
              <a:noFill/>
            </a:ln>
          </p:spPr>
        </p:sp>
        <p:sp>
          <p:nvSpPr>
            <p:cNvPr id="12" name="TextBox 12"/>
            <p:cNvSpPr txBox="1"/>
            <p:nvPr/>
          </p:nvSpPr>
          <p:spPr>
            <a:xfrm>
              <a:off x="851535" y="2989898"/>
              <a:ext cx="9619376" cy="396240"/>
            </a:xfrm>
            <a:prstGeom prst="rect">
              <a:avLst/>
            </a:prstGeom>
            <a:noFill/>
            <a:ln>
              <a:noFill/>
            </a:ln>
          </p:spPr>
          <p:txBody>
            <a:bodyPr wrap="none" lIns="0" tIns="0" rIns="0" bIns="0" anchor="t" anchorCtr="0">
              <a:spAutoFit/>
            </a:bodyPr>
            <a:lstStyle/>
            <a:p>
              <a:pPr algn="l"/>
              <a:r>
                <a:rPr lang="zh-CN" sz="1950" b="1" dirty="0">
                  <a:solidFill>
                    <a:srgbClr val="0F172A"/>
                  </a:solidFill>
                  <a:latin typeface="Arial"/>
                  <a:ea typeface="Microsoft YaHei"/>
                  <a:cs typeface="Arial"/>
                </a:rPr>
                <a:t>Watch the loop convert public hiring signals into a sales-ready account.</a:t>
              </a:r>
            </a:p>
          </p:txBody>
        </p:sp>
        <p:sp>
          <p:nvSpPr>
            <p:cNvPr id="13" name="TextBox 13"/>
            <p:cNvSpPr txBox="1"/>
            <p:nvPr/>
          </p:nvSpPr>
          <p:spPr>
            <a:xfrm>
              <a:off x="858202" y="3484721"/>
              <a:ext cx="6715530" cy="289560"/>
            </a:xfrm>
            <a:prstGeom prst="rect">
              <a:avLst/>
            </a:prstGeom>
            <a:noFill/>
            <a:ln>
              <a:noFill/>
            </a:ln>
          </p:spPr>
          <p:txBody>
            <a:bodyPr wrap="none" lIns="0" tIns="0" rIns="0" bIns="0" anchor="t" anchorCtr="0">
              <a:spAutoFit/>
            </a:bodyPr>
            <a:lstStyle/>
            <a:p>
              <a:pPr algn="l"/>
              <a:r>
                <a:rPr lang="zh-CN" sz="1425" dirty="0">
                  <a:solidFill>
                    <a:srgbClr val="475569"/>
                  </a:solidFill>
                  <a:latin typeface="Arial"/>
                  <a:ea typeface="Microsoft YaHei"/>
                  <a:cs typeface="Arial"/>
                </a:rPr>
                <a:t>Job data -&gt; hiring signal -&gt; lead score -&gt; outreach draft -&gt; Slack digest</a:t>
              </a:r>
            </a:p>
          </p:txBody>
        </p:sp>
      </p:grpSp>
      <p:grpSp>
        <p:nvGrpSpPr>
          <p:cNvPr id="52" name="Group 52"/>
          <p:cNvGrpSpPr/>
          <p:nvPr/>
        </p:nvGrpSpPr>
        <p:grpSpPr>
          <a:xfrm>
            <a:off x="7591425" y="1734502"/>
            <a:ext cx="3295650" cy="3270886"/>
            <a:chOff x="7591425" y="1734502"/>
            <a:chExt cx="3295650" cy="3270886"/>
          </a:xfrm>
        </p:grpSpPr>
        <p:sp>
          <p:nvSpPr>
            <p:cNvPr id="15" name="Ellipse 15"/>
            <p:cNvSpPr/>
            <p:nvPr/>
          </p:nvSpPr>
          <p:spPr>
            <a:xfrm>
              <a:off x="7810500" y="1828800"/>
              <a:ext cx="2933700" cy="2933700"/>
            </a:xfrm>
            <a:prstGeom prst="ellipse">
              <a:avLst/>
            </a:prstGeom>
            <a:solidFill>
              <a:srgbClr val="F8FAFC"/>
            </a:solidFill>
            <a:ln w="19050">
              <a:solidFill>
                <a:srgbClr val="E2E8F0"/>
              </a:solidFill>
            </a:ln>
          </p:spPr>
        </p:sp>
        <p:sp>
          <p:nvSpPr>
            <p:cNvPr id="16" name="Ellipse 16"/>
            <p:cNvSpPr/>
            <p:nvPr/>
          </p:nvSpPr>
          <p:spPr>
            <a:xfrm>
              <a:off x="8382000" y="2400300"/>
              <a:ext cx="1790700" cy="1790700"/>
            </a:xfrm>
            <a:prstGeom prst="ellipse">
              <a:avLst/>
            </a:prstGeom>
            <a:solidFill>
              <a:srgbClr val="FFFFFF"/>
            </a:solidFill>
            <a:ln w="19050">
              <a:solidFill>
                <a:srgbClr val="E2E8F0"/>
              </a:solidFill>
            </a:ln>
          </p:spPr>
        </p:sp>
        <p:sp>
          <p:nvSpPr>
            <p:cNvPr id="17" name="Ellipse 17"/>
            <p:cNvSpPr/>
            <p:nvPr/>
          </p:nvSpPr>
          <p:spPr>
            <a:xfrm>
              <a:off x="8877300" y="2895600"/>
              <a:ext cx="800100" cy="800100"/>
            </a:xfrm>
            <a:prstGeom prst="ellipse">
              <a:avLst/>
            </a:prstGeom>
            <a:solidFill>
              <a:srgbClr val="0F172A"/>
            </a:solidFill>
            <a:ln>
              <a:noFill/>
            </a:ln>
          </p:spPr>
        </p:sp>
        <p:grpSp>
          <p:nvGrpSpPr>
            <p:cNvPr id="20" name="Group 20"/>
            <p:cNvGrpSpPr/>
            <p:nvPr/>
          </p:nvGrpSpPr>
          <p:grpSpPr>
            <a:xfrm>
              <a:off x="9099787" y="3124200"/>
              <a:ext cx="349013" cy="349013"/>
              <a:chOff x="9099787" y="3124200"/>
              <a:chExt cx="349013" cy="349013"/>
            </a:xfrm>
          </p:grpSpPr>
          <p:sp>
            <p:nvSpPr>
              <p:cNvPr id="18" name="Freeform 18"/>
              <p:cNvSpPr/>
              <p:nvPr/>
            </p:nvSpPr>
            <p:spPr>
              <a:xfrm>
                <a:off x="9239250" y="3124200"/>
                <a:ext cx="209550" cy="209550"/>
              </a:xfrm>
              <a:custGeom>
                <a:avLst/>
                <a:gdLst/>
                <a:ahLst/>
                <a:cxnLst/>
                <a:rect l="l" t="t" r="r" b="b"/>
                <a:pathLst>
                  <a:path w="209550" h="209550">
                    <a:moveTo>
                      <a:pt x="0" y="209550"/>
                    </a:moveTo>
                    <a:lnTo>
                      <a:pt x="209550" y="0"/>
                    </a:lnTo>
                  </a:path>
                </a:pathLst>
              </a:custGeom>
              <a:noFill/>
              <a:ln w="19050">
                <a:solidFill>
                  <a:srgbClr val="FFFFFF"/>
                </a:solidFill>
              </a:ln>
            </p:spPr>
          </p:sp>
          <p:sp>
            <p:nvSpPr>
              <p:cNvPr id="19" name="Freeform 19"/>
              <p:cNvSpPr/>
              <p:nvPr/>
            </p:nvSpPr>
            <p:spPr>
              <a:xfrm>
                <a:off x="9099787" y="3124200"/>
                <a:ext cx="349013" cy="349013"/>
              </a:xfrm>
              <a:custGeom>
                <a:avLst/>
                <a:gdLst/>
                <a:ahLst/>
                <a:cxnLst/>
                <a:rect l="l" t="t" r="r" b="b"/>
                <a:pathLst>
                  <a:path w="349013" h="349013">
                    <a:moveTo>
                      <a:pt x="349013" y="0"/>
                    </a:moveTo>
                    <a:lnTo>
                      <a:pt x="225188" y="342900"/>
                    </a:lnTo>
                    <a:cubicBezTo>
                      <a:pt x="223481" y="346625"/>
                      <a:pt x="219760" y="349013"/>
                      <a:pt x="215663" y="349013"/>
                    </a:cubicBezTo>
                    <a:cubicBezTo>
                      <a:pt x="211566" y="349013"/>
                      <a:pt x="207844" y="346625"/>
                      <a:pt x="206138" y="342900"/>
                    </a:cubicBezTo>
                    <a:lnTo>
                      <a:pt x="139463" y="209550"/>
                    </a:lnTo>
                    <a:lnTo>
                      <a:pt x="6113" y="142875"/>
                    </a:lnTo>
                    <a:cubicBezTo>
                      <a:pt x="2388" y="141168"/>
                      <a:pt x="0" y="137447"/>
                      <a:pt x="0" y="133350"/>
                    </a:cubicBezTo>
                    <a:cubicBezTo>
                      <a:pt x="0" y="129253"/>
                      <a:pt x="2388" y="125532"/>
                      <a:pt x="6113" y="123825"/>
                    </a:cubicBezTo>
                    <a:lnTo>
                      <a:pt x="349013" y="0"/>
                    </a:lnTo>
                  </a:path>
                </a:pathLst>
              </a:custGeom>
              <a:noFill/>
              <a:ln w="19050">
                <a:solidFill>
                  <a:srgbClr val="FFFFFF"/>
                </a:solidFill>
              </a:ln>
            </p:spPr>
          </p:sp>
        </p:grpSp>
        <p:grpSp>
          <p:nvGrpSpPr>
            <p:cNvPr id="27" name="Group 27"/>
            <p:cNvGrpSpPr/>
            <p:nvPr/>
          </p:nvGrpSpPr>
          <p:grpSpPr>
            <a:xfrm>
              <a:off x="7953375" y="1734502"/>
              <a:ext cx="590550" cy="827723"/>
              <a:chOff x="7953375" y="1734502"/>
              <a:chExt cx="590550" cy="827723"/>
            </a:xfrm>
          </p:grpSpPr>
          <p:sp>
            <p:nvSpPr>
              <p:cNvPr id="21" name="Ellipse 21"/>
              <p:cNvSpPr/>
              <p:nvPr/>
            </p:nvSpPr>
            <p:spPr>
              <a:xfrm>
                <a:off x="7953375" y="1971675"/>
                <a:ext cx="590550" cy="590550"/>
              </a:xfrm>
              <a:prstGeom prst="ellipse">
                <a:avLst/>
              </a:prstGeom>
              <a:solidFill>
                <a:srgbClr val="10B981"/>
              </a:solidFill>
              <a:ln>
                <a:noFill/>
              </a:ln>
            </p:spPr>
          </p:sp>
          <p:grpSp>
            <p:nvGrpSpPr>
              <p:cNvPr id="25" name="Group 25"/>
              <p:cNvGrpSpPr/>
              <p:nvPr/>
            </p:nvGrpSpPr>
            <p:grpSpPr>
              <a:xfrm>
                <a:off x="8134350" y="2138362"/>
                <a:ext cx="228600" cy="257176"/>
                <a:chOff x="8134350" y="2138362"/>
                <a:chExt cx="228600" cy="257176"/>
              </a:xfrm>
            </p:grpSpPr>
            <p:sp>
              <p:nvSpPr>
                <p:cNvPr id="22" name="Freeform 22"/>
                <p:cNvSpPr/>
                <p:nvPr/>
              </p:nvSpPr>
              <p:spPr>
                <a:xfrm>
                  <a:off x="8134350" y="2138362"/>
                  <a:ext cx="228600" cy="85725"/>
                </a:xfrm>
                <a:custGeom>
                  <a:avLst/>
                  <a:gdLst/>
                  <a:ahLst/>
                  <a:cxnLst/>
                  <a:rect l="l" t="t" r="r" b="b"/>
                  <a:pathLst>
                    <a:path w="228600" h="85725">
                      <a:moveTo>
                        <a:pt x="0" y="42862"/>
                      </a:moveTo>
                      <a:cubicBezTo>
                        <a:pt x="0" y="66535"/>
                        <a:pt x="51174" y="85725"/>
                        <a:pt x="114300" y="85725"/>
                      </a:cubicBezTo>
                      <a:cubicBezTo>
                        <a:pt x="177426" y="85725"/>
                        <a:pt x="228600" y="66535"/>
                        <a:pt x="228600" y="42862"/>
                      </a:cubicBezTo>
                      <a:cubicBezTo>
                        <a:pt x="228600" y="19190"/>
                        <a:pt x="177426" y="0"/>
                        <a:pt x="114300" y="0"/>
                      </a:cubicBezTo>
                      <a:cubicBezTo>
                        <a:pt x="51174" y="0"/>
                        <a:pt x="0" y="19190"/>
                        <a:pt x="0" y="42862"/>
                      </a:cubicBezTo>
                    </a:path>
                  </a:pathLst>
                </a:custGeom>
                <a:noFill/>
                <a:ln w="19050">
                  <a:solidFill>
                    <a:srgbClr val="FFFFFF"/>
                  </a:solidFill>
                </a:ln>
              </p:spPr>
            </p:sp>
            <p:sp>
              <p:nvSpPr>
                <p:cNvPr id="23" name="Freeform 23"/>
                <p:cNvSpPr/>
                <p:nvPr/>
              </p:nvSpPr>
              <p:spPr>
                <a:xfrm>
                  <a:off x="8134350" y="2181225"/>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FFFFFF"/>
                  </a:solidFill>
                </a:ln>
              </p:spPr>
            </p:sp>
            <p:sp>
              <p:nvSpPr>
                <p:cNvPr id="24" name="Freeform 24"/>
                <p:cNvSpPr/>
                <p:nvPr/>
              </p:nvSpPr>
              <p:spPr>
                <a:xfrm>
                  <a:off x="8134350" y="2266950"/>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FFFFFF"/>
                  </a:solidFill>
                </a:ln>
              </p:spPr>
            </p:sp>
          </p:grpSp>
          <p:sp>
            <p:nvSpPr>
              <p:cNvPr id="26" name="TextBox 26"/>
              <p:cNvSpPr txBox="1"/>
              <p:nvPr/>
            </p:nvSpPr>
            <p:spPr>
              <a:xfrm>
                <a:off x="8073595" y="1734502"/>
                <a:ext cx="350110"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Data</a:t>
                </a:r>
              </a:p>
            </p:txBody>
          </p:sp>
        </p:grpSp>
        <p:grpSp>
          <p:nvGrpSpPr>
            <p:cNvPr id="35" name="Group 35"/>
            <p:cNvGrpSpPr/>
            <p:nvPr/>
          </p:nvGrpSpPr>
          <p:grpSpPr>
            <a:xfrm>
              <a:off x="10296525" y="2096452"/>
              <a:ext cx="590550" cy="827723"/>
              <a:chOff x="10296525" y="2096452"/>
              <a:chExt cx="590550" cy="827723"/>
            </a:xfrm>
          </p:grpSpPr>
          <p:sp>
            <p:nvSpPr>
              <p:cNvPr id="28" name="Ellipse 28"/>
              <p:cNvSpPr/>
              <p:nvPr/>
            </p:nvSpPr>
            <p:spPr>
              <a:xfrm>
                <a:off x="10296525" y="2333625"/>
                <a:ext cx="590550" cy="590550"/>
              </a:xfrm>
              <a:prstGeom prst="ellipse">
                <a:avLst/>
              </a:prstGeom>
              <a:solidFill>
                <a:srgbClr val="38BDF8"/>
              </a:solidFill>
              <a:ln>
                <a:noFill/>
              </a:ln>
            </p:spPr>
          </p:sp>
          <p:grpSp>
            <p:nvGrpSpPr>
              <p:cNvPr id="33" name="Group 33"/>
              <p:cNvGrpSpPr/>
              <p:nvPr/>
            </p:nvGrpSpPr>
            <p:grpSpPr>
              <a:xfrm>
                <a:off x="10463212" y="2514600"/>
                <a:ext cx="257175" cy="238125"/>
                <a:chOff x="10463212" y="2514600"/>
                <a:chExt cx="257175" cy="238125"/>
              </a:xfrm>
            </p:grpSpPr>
            <p:sp>
              <p:nvSpPr>
                <p:cNvPr id="29" name="Freeform 29"/>
                <p:cNvSpPr/>
                <p:nvPr/>
              </p:nvSpPr>
              <p:spPr>
                <a:xfrm>
                  <a:off x="10463212" y="2628900"/>
                  <a:ext cx="85725" cy="114300"/>
                </a:xfrm>
                <a:custGeom>
                  <a:avLst/>
                  <a:gdLst/>
                  <a:ahLst/>
                  <a:cxnLst/>
                  <a:rect l="l" t="t" r="r" b="b"/>
                  <a:pathLst>
                    <a:path w="85725" h="114300">
                      <a:moveTo>
                        <a:pt x="0" y="14288"/>
                      </a:moveTo>
                      <a:cubicBezTo>
                        <a:pt x="0" y="6397"/>
                        <a:pt x="6397" y="0"/>
                        <a:pt x="14288" y="0"/>
                      </a:cubicBezTo>
                      <a:lnTo>
                        <a:pt x="71438" y="0"/>
                      </a:lnTo>
                      <a:cubicBezTo>
                        <a:pt x="79328" y="0"/>
                        <a:pt x="85725" y="6397"/>
                        <a:pt x="85725" y="14288"/>
                      </a:cubicBezTo>
                      <a:lnTo>
                        <a:pt x="85725" y="100012"/>
                      </a:lnTo>
                      <a:cubicBezTo>
                        <a:pt x="85725" y="107903"/>
                        <a:pt x="79328" y="114300"/>
                        <a:pt x="71438" y="114300"/>
                      </a:cubicBezTo>
                      <a:lnTo>
                        <a:pt x="14288" y="114300"/>
                      </a:lnTo>
                      <a:cubicBezTo>
                        <a:pt x="6397" y="114300"/>
                        <a:pt x="0" y="107903"/>
                        <a:pt x="0" y="100012"/>
                      </a:cubicBezTo>
                      <a:lnTo>
                        <a:pt x="0" y="14288"/>
                      </a:lnTo>
                    </a:path>
                  </a:pathLst>
                </a:custGeom>
                <a:noFill/>
                <a:ln w="19050">
                  <a:solidFill>
                    <a:srgbClr val="FFFFFF"/>
                  </a:solidFill>
                </a:ln>
              </p:spPr>
            </p:sp>
            <p:sp>
              <p:nvSpPr>
                <p:cNvPr id="30" name="Freeform 30"/>
                <p:cNvSpPr/>
                <p:nvPr/>
              </p:nvSpPr>
              <p:spPr>
                <a:xfrm>
                  <a:off x="10634662" y="2571750"/>
                  <a:ext cx="85725" cy="171450"/>
                </a:xfrm>
                <a:custGeom>
                  <a:avLst/>
                  <a:gdLst/>
                  <a:ahLst/>
                  <a:cxnLst/>
                  <a:rect l="l" t="t" r="r" b="b"/>
                  <a:pathLst>
                    <a:path w="85725" h="171450">
                      <a:moveTo>
                        <a:pt x="0" y="14288"/>
                      </a:moveTo>
                      <a:cubicBezTo>
                        <a:pt x="0" y="6397"/>
                        <a:pt x="6397" y="0"/>
                        <a:pt x="14288" y="0"/>
                      </a:cubicBezTo>
                      <a:lnTo>
                        <a:pt x="71438" y="0"/>
                      </a:lnTo>
                      <a:cubicBezTo>
                        <a:pt x="79328" y="0"/>
                        <a:pt x="85725" y="6397"/>
                        <a:pt x="85725" y="14288"/>
                      </a:cubicBezTo>
                      <a:lnTo>
                        <a:pt x="85725" y="157162"/>
                      </a:lnTo>
                      <a:cubicBezTo>
                        <a:pt x="85725" y="165053"/>
                        <a:pt x="79328" y="171450"/>
                        <a:pt x="71438" y="171450"/>
                      </a:cubicBezTo>
                      <a:lnTo>
                        <a:pt x="14288" y="171450"/>
                      </a:lnTo>
                      <a:cubicBezTo>
                        <a:pt x="6397" y="171450"/>
                        <a:pt x="0" y="165053"/>
                        <a:pt x="0" y="157162"/>
                      </a:cubicBezTo>
                      <a:lnTo>
                        <a:pt x="0" y="14288"/>
                      </a:lnTo>
                    </a:path>
                  </a:pathLst>
                </a:custGeom>
                <a:noFill/>
                <a:ln w="19050">
                  <a:solidFill>
                    <a:srgbClr val="FFFFFF"/>
                  </a:solidFill>
                </a:ln>
              </p:spPr>
            </p:sp>
            <p:sp>
              <p:nvSpPr>
                <p:cNvPr id="31" name="Freeform 31"/>
                <p:cNvSpPr/>
                <p:nvPr/>
              </p:nvSpPr>
              <p:spPr>
                <a:xfrm>
                  <a:off x="10548938" y="2514600"/>
                  <a:ext cx="85725" cy="228600"/>
                </a:xfrm>
                <a:custGeom>
                  <a:avLst/>
                  <a:gdLst/>
                  <a:ahLst/>
                  <a:cxnLst/>
                  <a:rect l="l" t="t" r="r" b="b"/>
                  <a:pathLst>
                    <a:path w="85725" h="228600">
                      <a:moveTo>
                        <a:pt x="0" y="14288"/>
                      </a:moveTo>
                      <a:cubicBezTo>
                        <a:pt x="0" y="6397"/>
                        <a:pt x="6397" y="0"/>
                        <a:pt x="14288" y="0"/>
                      </a:cubicBezTo>
                      <a:lnTo>
                        <a:pt x="71438" y="0"/>
                      </a:lnTo>
                      <a:cubicBezTo>
                        <a:pt x="79328" y="0"/>
                        <a:pt x="85725" y="6397"/>
                        <a:pt x="85725" y="14288"/>
                      </a:cubicBezTo>
                      <a:lnTo>
                        <a:pt x="85725" y="214312"/>
                      </a:lnTo>
                      <a:cubicBezTo>
                        <a:pt x="85725" y="222203"/>
                        <a:pt x="79328" y="228600"/>
                        <a:pt x="71438" y="228600"/>
                      </a:cubicBezTo>
                      <a:lnTo>
                        <a:pt x="14288" y="228600"/>
                      </a:lnTo>
                      <a:cubicBezTo>
                        <a:pt x="6397" y="228600"/>
                        <a:pt x="0" y="222203"/>
                        <a:pt x="0" y="214312"/>
                      </a:cubicBezTo>
                      <a:lnTo>
                        <a:pt x="0" y="14288"/>
                      </a:lnTo>
                    </a:path>
                  </a:pathLst>
                </a:custGeom>
                <a:noFill/>
                <a:ln w="19050">
                  <a:solidFill>
                    <a:srgbClr val="FFFFFF"/>
                  </a:solidFill>
                </a:ln>
              </p:spPr>
            </p:sp>
            <p:sp>
              <p:nvSpPr>
                <p:cNvPr id="32" name="Freeform 32"/>
                <p:cNvSpPr/>
                <p:nvPr/>
              </p:nvSpPr>
              <p:spPr>
                <a:xfrm>
                  <a:off x="10477500" y="2743200"/>
                  <a:ext cx="200025" cy="9525"/>
                </a:xfrm>
                <a:custGeom>
                  <a:avLst/>
                  <a:gdLst/>
                  <a:ahLst/>
                  <a:cxnLst/>
                  <a:rect l="l" t="t" r="r" b="b"/>
                  <a:pathLst>
                    <a:path w="200025" h="9525">
                      <a:moveTo>
                        <a:pt x="0" y="0"/>
                      </a:moveTo>
                      <a:lnTo>
                        <a:pt x="200025" y="0"/>
                      </a:lnTo>
                    </a:path>
                  </a:pathLst>
                </a:custGeom>
                <a:noFill/>
                <a:ln w="19050">
                  <a:solidFill>
                    <a:srgbClr val="FFFFFF"/>
                  </a:solidFill>
                </a:ln>
              </p:spPr>
            </p:sp>
          </p:grpSp>
          <p:sp>
            <p:nvSpPr>
              <p:cNvPr id="34" name="TextBox 34"/>
              <p:cNvSpPr txBox="1"/>
              <p:nvPr/>
            </p:nvSpPr>
            <p:spPr>
              <a:xfrm>
                <a:off x="10376315" y="2096452"/>
                <a:ext cx="430971"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Score</a:t>
                </a:r>
              </a:p>
            </p:txBody>
          </p:sp>
        </p:grpSp>
        <p:grpSp>
          <p:nvGrpSpPr>
            <p:cNvPr id="43" name="Group 43"/>
            <p:cNvGrpSpPr/>
            <p:nvPr/>
          </p:nvGrpSpPr>
          <p:grpSpPr>
            <a:xfrm>
              <a:off x="10063852" y="4067175"/>
              <a:ext cx="636796" cy="938213"/>
              <a:chOff x="10063852" y="4067175"/>
              <a:chExt cx="636796" cy="938213"/>
            </a:xfrm>
          </p:grpSpPr>
          <p:sp>
            <p:nvSpPr>
              <p:cNvPr id="36" name="Ellipse 36"/>
              <p:cNvSpPr/>
              <p:nvPr/>
            </p:nvSpPr>
            <p:spPr>
              <a:xfrm>
                <a:off x="10086975" y="4067175"/>
                <a:ext cx="590550" cy="590550"/>
              </a:xfrm>
              <a:prstGeom prst="ellipse">
                <a:avLst/>
              </a:prstGeom>
              <a:solidFill>
                <a:srgbClr val="0F172A"/>
              </a:solidFill>
              <a:ln>
                <a:noFill/>
              </a:ln>
            </p:spPr>
          </p:sp>
          <p:grpSp>
            <p:nvGrpSpPr>
              <p:cNvPr id="41" name="Group 41"/>
              <p:cNvGrpSpPr/>
              <p:nvPr/>
            </p:nvGrpSpPr>
            <p:grpSpPr>
              <a:xfrm>
                <a:off x="10253662" y="4248150"/>
                <a:ext cx="257175" cy="242888"/>
                <a:chOff x="10253662" y="4248150"/>
                <a:chExt cx="257175" cy="242888"/>
              </a:xfrm>
            </p:grpSpPr>
            <p:sp>
              <p:nvSpPr>
                <p:cNvPr id="37" name="Freeform 37"/>
                <p:cNvSpPr/>
                <p:nvPr/>
              </p:nvSpPr>
              <p:spPr>
                <a:xfrm>
                  <a:off x="10325100" y="4319588"/>
                  <a:ext cx="114300" cy="9525"/>
                </a:xfrm>
                <a:custGeom>
                  <a:avLst/>
                  <a:gdLst/>
                  <a:ahLst/>
                  <a:cxnLst/>
                  <a:rect l="l" t="t" r="r" b="b"/>
                  <a:pathLst>
                    <a:path w="114300" h="9525">
                      <a:moveTo>
                        <a:pt x="0" y="0"/>
                      </a:moveTo>
                      <a:lnTo>
                        <a:pt x="114300" y="0"/>
                      </a:lnTo>
                    </a:path>
                  </a:pathLst>
                </a:custGeom>
                <a:noFill/>
                <a:ln w="19050">
                  <a:solidFill>
                    <a:srgbClr val="FFFFFF"/>
                  </a:solidFill>
                </a:ln>
              </p:spPr>
            </p:sp>
            <p:sp>
              <p:nvSpPr>
                <p:cNvPr id="38" name="Freeform 38"/>
                <p:cNvSpPr/>
                <p:nvPr/>
              </p:nvSpPr>
              <p:spPr>
                <a:xfrm>
                  <a:off x="10325100" y="4376738"/>
                  <a:ext cx="85725" cy="9525"/>
                </a:xfrm>
                <a:custGeom>
                  <a:avLst/>
                  <a:gdLst/>
                  <a:ahLst/>
                  <a:cxnLst/>
                  <a:rect l="l" t="t" r="r" b="b"/>
                  <a:pathLst>
                    <a:path w="85725" h="9525">
                      <a:moveTo>
                        <a:pt x="0" y="0"/>
                      </a:moveTo>
                      <a:lnTo>
                        <a:pt x="85725" y="0"/>
                      </a:lnTo>
                    </a:path>
                  </a:pathLst>
                </a:custGeom>
                <a:noFill/>
                <a:ln w="19050">
                  <a:solidFill>
                    <a:srgbClr val="FFFFFF"/>
                  </a:solidFill>
                </a:ln>
              </p:spPr>
            </p:sp>
            <p:sp>
              <p:nvSpPr>
                <p:cNvPr id="39" name="Freeform 39"/>
                <p:cNvSpPr/>
                <p:nvPr/>
              </p:nvSpPr>
              <p:spPr>
                <a:xfrm>
                  <a:off x="10253662" y="4248150"/>
                  <a:ext cx="257175" cy="242888"/>
                </a:xfrm>
                <a:custGeom>
                  <a:avLst/>
                  <a:gdLst/>
                  <a:ahLst/>
                  <a:cxnLst/>
                  <a:rect l="l" t="t" r="r" b="b"/>
                  <a:pathLst>
                    <a:path w="257175" h="242888">
                      <a:moveTo>
                        <a:pt x="128588" y="242888"/>
                      </a:moveTo>
                      <a:lnTo>
                        <a:pt x="114300" y="228600"/>
                      </a:lnTo>
                      <a:lnTo>
                        <a:pt x="85725" y="200025"/>
                      </a:lnTo>
                      <a:lnTo>
                        <a:pt x="42862" y="200025"/>
                      </a:lnTo>
                      <a:cubicBezTo>
                        <a:pt x="19190" y="200025"/>
                        <a:pt x="0" y="180835"/>
                        <a:pt x="0" y="157162"/>
                      </a:cubicBezTo>
                      <a:lnTo>
                        <a:pt x="0" y="42862"/>
                      </a:lnTo>
                      <a:cubicBezTo>
                        <a:pt x="0" y="19190"/>
                        <a:pt x="19190" y="0"/>
                        <a:pt x="42862" y="0"/>
                      </a:cubicBezTo>
                      <a:lnTo>
                        <a:pt x="214312" y="0"/>
                      </a:lnTo>
                      <a:cubicBezTo>
                        <a:pt x="237985" y="0"/>
                        <a:pt x="257175" y="19190"/>
                        <a:pt x="257175" y="42862"/>
                      </a:cubicBezTo>
                      <a:lnTo>
                        <a:pt x="257175" y="128588"/>
                      </a:lnTo>
                    </a:path>
                  </a:pathLst>
                </a:custGeom>
                <a:noFill/>
                <a:ln w="19050">
                  <a:solidFill>
                    <a:srgbClr val="FFFFFF"/>
                  </a:solidFill>
                </a:ln>
              </p:spPr>
            </p:sp>
            <p:sp>
              <p:nvSpPr>
                <p:cNvPr id="40" name="Freeform 40"/>
                <p:cNvSpPr/>
                <p:nvPr/>
              </p:nvSpPr>
              <p:spPr>
                <a:xfrm>
                  <a:off x="10425112" y="4433888"/>
                  <a:ext cx="85725" cy="57150"/>
                </a:xfrm>
                <a:custGeom>
                  <a:avLst/>
                  <a:gdLst/>
                  <a:ahLst/>
                  <a:cxnLst/>
                  <a:rect l="l" t="t" r="r" b="b"/>
                  <a:pathLst>
                    <a:path w="85725" h="57150">
                      <a:moveTo>
                        <a:pt x="0" y="28575"/>
                      </a:moveTo>
                      <a:lnTo>
                        <a:pt x="28575" y="57150"/>
                      </a:lnTo>
                      <a:lnTo>
                        <a:pt x="85725" y="0"/>
                      </a:lnTo>
                    </a:path>
                  </a:pathLst>
                </a:custGeom>
                <a:noFill/>
                <a:ln w="19050">
                  <a:solidFill>
                    <a:srgbClr val="FFFFFF"/>
                  </a:solidFill>
                </a:ln>
              </p:spPr>
            </p:sp>
          </p:grpSp>
          <p:sp>
            <p:nvSpPr>
              <p:cNvPr id="42" name="TextBox 42"/>
              <p:cNvSpPr txBox="1"/>
              <p:nvPr/>
            </p:nvSpPr>
            <p:spPr>
              <a:xfrm>
                <a:off x="10063852" y="4792028"/>
                <a:ext cx="636796"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Evidence</a:t>
                </a:r>
              </a:p>
            </p:txBody>
          </p:sp>
        </p:grpSp>
        <p:grpSp>
          <p:nvGrpSpPr>
            <p:cNvPr id="51" name="Group 51"/>
            <p:cNvGrpSpPr/>
            <p:nvPr/>
          </p:nvGrpSpPr>
          <p:grpSpPr>
            <a:xfrm>
              <a:off x="7591425" y="3971925"/>
              <a:ext cx="590550" cy="938213"/>
              <a:chOff x="7591425" y="3971925"/>
              <a:chExt cx="590550" cy="938213"/>
            </a:xfrm>
          </p:grpSpPr>
          <p:sp>
            <p:nvSpPr>
              <p:cNvPr id="44" name="Ellipse 44"/>
              <p:cNvSpPr/>
              <p:nvPr/>
            </p:nvSpPr>
            <p:spPr>
              <a:xfrm>
                <a:off x="7591425" y="3971925"/>
                <a:ext cx="590550" cy="590550"/>
              </a:xfrm>
              <a:prstGeom prst="ellipse">
                <a:avLst/>
              </a:prstGeom>
              <a:solidFill>
                <a:srgbClr val="F59E0B"/>
              </a:solidFill>
              <a:ln>
                <a:noFill/>
              </a:ln>
            </p:spPr>
          </p:sp>
          <p:grpSp>
            <p:nvGrpSpPr>
              <p:cNvPr id="49" name="Group 49"/>
              <p:cNvGrpSpPr/>
              <p:nvPr/>
            </p:nvGrpSpPr>
            <p:grpSpPr>
              <a:xfrm>
                <a:off x="7758112" y="4138612"/>
                <a:ext cx="257175" cy="257176"/>
                <a:chOff x="7758112" y="4138612"/>
                <a:chExt cx="257175" cy="257176"/>
              </a:xfrm>
            </p:grpSpPr>
            <p:sp>
              <p:nvSpPr>
                <p:cNvPr id="45" name="Freeform 45"/>
                <p:cNvSpPr/>
                <p:nvPr/>
              </p:nvSpPr>
              <p:spPr>
                <a:xfrm>
                  <a:off x="7786688" y="4138612"/>
                  <a:ext cx="114300" cy="114300"/>
                </a:xfrm>
                <a:custGeom>
                  <a:avLst/>
                  <a:gdLst/>
                  <a:ahLst/>
                  <a:cxnLst/>
                  <a:rect l="l" t="t" r="r" b="b"/>
                  <a:pathLst>
                    <a:path w="114300" h="114300">
                      <a:moveTo>
                        <a:pt x="0" y="57150"/>
                      </a:moveTo>
                      <a:cubicBezTo>
                        <a:pt x="0" y="88713"/>
                        <a:pt x="25587" y="114300"/>
                        <a:pt x="57150" y="114300"/>
                      </a:cubicBezTo>
                      <a:cubicBezTo>
                        <a:pt x="88713" y="114300"/>
                        <a:pt x="114300" y="88713"/>
                        <a:pt x="114300" y="57150"/>
                      </a:cubicBezTo>
                      <a:cubicBezTo>
                        <a:pt x="114300" y="25587"/>
                        <a:pt x="88713" y="0"/>
                        <a:pt x="57150" y="0"/>
                      </a:cubicBezTo>
                      <a:cubicBezTo>
                        <a:pt x="25587" y="0"/>
                        <a:pt x="0" y="25587"/>
                        <a:pt x="0" y="57150"/>
                      </a:cubicBezTo>
                    </a:path>
                  </a:pathLst>
                </a:custGeom>
                <a:noFill/>
                <a:ln w="19050">
                  <a:solidFill>
                    <a:srgbClr val="FFFFFF"/>
                  </a:solidFill>
                </a:ln>
              </p:spPr>
            </p:sp>
            <p:sp>
              <p:nvSpPr>
                <p:cNvPr id="46" name="Freeform 46"/>
                <p:cNvSpPr/>
                <p:nvPr/>
              </p:nvSpPr>
              <p:spPr>
                <a:xfrm>
                  <a:off x="7758112" y="4310062"/>
                  <a:ext cx="171450" cy="85725"/>
                </a:xfrm>
                <a:custGeom>
                  <a:avLst/>
                  <a:gdLst/>
                  <a:ahLst/>
                  <a:cxnLst/>
                  <a:rect l="l" t="t" r="r" b="b"/>
                  <a:pathLst>
                    <a:path w="171450" h="85725">
                      <a:moveTo>
                        <a:pt x="0" y="85725"/>
                      </a:moveTo>
                      <a:lnTo>
                        <a:pt x="0" y="57150"/>
                      </a:lnTo>
                      <a:cubicBezTo>
                        <a:pt x="0" y="25587"/>
                        <a:pt x="25587" y="0"/>
                        <a:pt x="57150" y="0"/>
                      </a:cubicBezTo>
                      <a:lnTo>
                        <a:pt x="114300" y="0"/>
                      </a:lnTo>
                      <a:cubicBezTo>
                        <a:pt x="145863" y="0"/>
                        <a:pt x="171450" y="25587"/>
                        <a:pt x="171450" y="57150"/>
                      </a:cubicBezTo>
                      <a:lnTo>
                        <a:pt x="171450" y="85725"/>
                      </a:lnTo>
                    </a:path>
                  </a:pathLst>
                </a:custGeom>
                <a:noFill/>
                <a:ln w="19050">
                  <a:solidFill>
                    <a:srgbClr val="FFFFFF"/>
                  </a:solidFill>
                </a:ln>
              </p:spPr>
            </p:sp>
            <p:sp>
              <p:nvSpPr>
                <p:cNvPr id="47" name="Freeform 47"/>
                <p:cNvSpPr/>
                <p:nvPr/>
              </p:nvSpPr>
              <p:spPr>
                <a:xfrm>
                  <a:off x="7943850" y="4140470"/>
                  <a:ext cx="42975" cy="110728"/>
                </a:xfrm>
                <a:custGeom>
                  <a:avLst/>
                  <a:gdLst/>
                  <a:ahLst/>
                  <a:cxnLst/>
                  <a:rect l="l" t="t" r="r" b="b"/>
                  <a:pathLst>
                    <a:path w="42975" h="110728">
                      <a:moveTo>
                        <a:pt x="0" y="0"/>
                      </a:moveTo>
                      <a:cubicBezTo>
                        <a:pt x="25288" y="6475"/>
                        <a:pt x="42975" y="29261"/>
                        <a:pt x="42975" y="55364"/>
                      </a:cubicBezTo>
                      <a:cubicBezTo>
                        <a:pt x="42975" y="81467"/>
                        <a:pt x="25288" y="104253"/>
                        <a:pt x="0" y="110728"/>
                      </a:cubicBezTo>
                    </a:path>
                  </a:pathLst>
                </a:custGeom>
                <a:noFill/>
                <a:ln w="19050">
                  <a:solidFill>
                    <a:srgbClr val="FFFFFF"/>
                  </a:solidFill>
                </a:ln>
              </p:spPr>
            </p:sp>
            <p:sp>
              <p:nvSpPr>
                <p:cNvPr id="48" name="Freeform 48"/>
                <p:cNvSpPr/>
                <p:nvPr/>
              </p:nvSpPr>
              <p:spPr>
                <a:xfrm>
                  <a:off x="7972425" y="4312206"/>
                  <a:ext cx="42862" cy="83582"/>
                </a:xfrm>
                <a:custGeom>
                  <a:avLst/>
                  <a:gdLst/>
                  <a:ahLst/>
                  <a:cxnLst/>
                  <a:rect l="l" t="t" r="r" b="b"/>
                  <a:pathLst>
                    <a:path w="42862" h="83582">
                      <a:moveTo>
                        <a:pt x="42862" y="83582"/>
                      </a:moveTo>
                      <a:lnTo>
                        <a:pt x="42862" y="55007"/>
                      </a:lnTo>
                      <a:cubicBezTo>
                        <a:pt x="42713" y="29069"/>
                        <a:pt x="25115" y="6484"/>
                        <a:pt x="0" y="0"/>
                      </a:cubicBezTo>
                    </a:path>
                  </a:pathLst>
                </a:custGeom>
                <a:noFill/>
                <a:ln w="19050">
                  <a:solidFill>
                    <a:srgbClr val="FFFFFF"/>
                  </a:solidFill>
                </a:ln>
              </p:spPr>
            </p:sp>
          </p:grpSp>
          <p:sp>
            <p:nvSpPr>
              <p:cNvPr id="50" name="TextBox 50"/>
              <p:cNvSpPr txBox="1"/>
              <p:nvPr/>
            </p:nvSpPr>
            <p:spPr>
              <a:xfrm>
                <a:off x="7696943" y="4696778"/>
                <a:ext cx="379514"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Team</a:t>
                </a:r>
              </a:p>
            </p:txBody>
          </p:sp>
        </p:grpSp>
      </p:grpSp>
      <p:grpSp>
        <p:nvGrpSpPr>
          <p:cNvPr id="55" name="Group 55"/>
          <p:cNvGrpSpPr/>
          <p:nvPr/>
        </p:nvGrpSpPr>
        <p:grpSpPr>
          <a:xfrm>
            <a:off x="838200" y="5314950"/>
            <a:ext cx="5562600" cy="609600"/>
            <a:chOff x="838200" y="5314950"/>
            <a:chExt cx="5562600" cy="609600"/>
          </a:xfrm>
        </p:grpSpPr>
        <p:sp>
          <p:nvSpPr>
            <p:cNvPr id="53" name="Rectangle 53"/>
            <p:cNvSpPr/>
            <p:nvPr/>
          </p:nvSpPr>
          <p:spPr>
            <a:xfrm>
              <a:off x="838200" y="5314950"/>
              <a:ext cx="5562600" cy="609600"/>
            </a:xfrm>
            <a:prstGeom prst="roundRect">
              <a:avLst>
                <a:gd name="adj" fmla="val 50000"/>
              </a:avLst>
            </a:prstGeom>
            <a:solidFill>
              <a:srgbClr val="0F172A"/>
            </a:solidFill>
            <a:ln>
              <a:noFill/>
            </a:ln>
          </p:spPr>
        </p:sp>
        <p:sp>
          <p:nvSpPr>
            <p:cNvPr id="54" name="TextBox 54"/>
            <p:cNvSpPr txBox="1"/>
            <p:nvPr/>
          </p:nvSpPr>
          <p:spPr>
            <a:xfrm>
              <a:off x="1319895" y="5550218"/>
              <a:ext cx="459921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The next 8 to 10 minutes are product, not slides.</a:t>
              </a:r>
            </a:p>
          </p:txBody>
        </p:sp>
      </p:grpSp>
      <p:grpSp>
        <p:nvGrpSpPr>
          <p:cNvPr id="58" name="Group 58"/>
          <p:cNvGrpSpPr/>
          <p:nvPr/>
        </p:nvGrpSpPr>
        <p:grpSpPr>
          <a:xfrm>
            <a:off x="521970" y="6417945"/>
            <a:ext cx="11148060" cy="182880"/>
            <a:chOff x="521970" y="6417945"/>
            <a:chExt cx="11148060" cy="182880"/>
          </a:xfrm>
        </p:grpSpPr>
        <p:sp>
          <p:nvSpPr>
            <p:cNvPr id="56" name="TextBox 56"/>
            <p:cNvSpPr txBox="1"/>
            <p:nvPr/>
          </p:nvSpPr>
          <p:spPr>
            <a:xfrm>
              <a:off x="521970" y="6417945"/>
              <a:ext cx="974279"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Transition slide</a:t>
              </a:r>
            </a:p>
          </p:txBody>
        </p:sp>
        <p:sp>
          <p:nvSpPr>
            <p:cNvPr id="57" name="TextBox 57"/>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08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Bottom)">
                                      <p:cBhvr>
                                        <p:cTn id="7" dur="400"/>
                                        <p:tgtEl>
                                          <p:spTgt spid="9"/>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dissolve">
                                      <p:cBhvr>
                                        <p:cTn id="11" dur="400"/>
                                        <p:tgtEl>
                                          <p:spTgt spid="14"/>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fade">
                                      <p:cBhvr>
                                        <p:cTn id="15" dur="400"/>
                                        <p:tgtEl>
                                          <p:spTgt spid="52"/>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wipe(left)">
                                      <p:cBhvr>
                                        <p:cTn id="19"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52" grpId="0"/>
      <p:bldP spid="5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2026-06-12T13:14:16Z</dcterms:created>
  <dcterms:modified xsi:type="dcterms:W3CDTF">2026-06-12T13:14:16Z</dcterms:modified>
  <cp:category/>
  <cp:contentStatus/>
</cp:coreProperties>
</file>