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40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demo expectation early: this is not a CRM replacement and not a lead list marketplace. It is a workflow that starts from job postings, finds business pain, ranks accounts, drafts outreach, and packages the result for the sales team.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lead lists age quickly. Generic intent data can be broad and expensive. Manual research is useful, but it is slow and usually stays trapped in a seller's notes. The opportunity is to convert a public, current behavior into a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For example, RevOps and BI roles suggest reporting pressure, pipeline visibility gaps, or dashboard backlog. Security roles can suggest compliance and access work. The product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50 to 60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the artifacts at each stage. The output is not just a score. It is the evidence, the inferred pain, the ranked account, the opening line, and the team handoff. That is why the workflow is demoable and defensible.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Data-dashboard agencies, cloud migration firms, cybersecurity vendors, and AI automation providers all need a timely reason to start a conversation. SignalScout gives them a reason that is anchored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Move from concept to product proof. SignalScout already shows the full loop: postings are ingested, leads are ranked, a top account is selected, evidence is displayed, outreach is drafted, and a Slack digest is ready.</a:t>
            </a:r>
          </a:p>
          <a:p>
            <a:endParaRPr lang="zh-CN" dirty="0"/>
          </a:p>
          <a:p>
            <a:r>
              <a:rPr lang="zh-CN" dirty="0"/>
              <a:t>Point to the screenshot as product evidence, not as a mockup. Keep this slide short because the next proof should happen inside the running product, not on the deck.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Make the commercial case before switching to the live product. SignalScout is built for B2B agencies and consultancies that need a timely reason to reach accounts already showing operational change.</a:t>
            </a:r>
          </a:p>
          <a:p>
            <a:endParaRPr lang="zh-CN" dirty="0"/>
          </a:p>
          <a:p>
            <a:r>
              <a:rPr lang="zh-CN" dirty="0"/>
              <a:t>The product is marketable because it uses public data, creates a daily priority list, produces usable sales artifacts, and fits existing sales workflows through Slack and export paths.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20 to 30 seconds.</a:t>
            </a:r>
          </a:p>
          <a:p>
            <a:endParaRPr lang="zh-CN" dirty="0"/>
          </a:p>
          <a:p>
            <a:r>
              <a:rPr lang="zh-CN" dirty="0"/>
              <a:t>Transition cleanly. The slide section is complete. Now switch to the running website and prove the loop with the demo path: job data to hiring signal to lead score to outreach draft to Slack digest.</a:t>
            </a:r>
          </a:p>
          <a:p>
            <a:endParaRPr lang="zh-CN" dirty="0"/>
          </a:p>
          <a:p>
            <a:r>
              <a:rPr lang="zh-CN" dirty="0"/>
              <a:t>Do not add another explanation here. Start the live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402980374992232.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db4333caf353d8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sp>
        <p:sp>
          <p:nvSpPr>
            <p:cNvPr id="4" name="Ellipse 4"/>
            <p:cNvSpPr/>
            <p:nvPr/>
          </p:nvSpPr>
          <p:spPr>
            <a:xfrm>
              <a:off x="7905750" y="3810000"/>
              <a:ext cx="4000500" cy="4000500"/>
            </a:xfrm>
            <a:prstGeom prst="ellipse">
              <a:avLst/>
            </a:prstGeom>
            <a:solidFill>
              <a:srgbClr val="10B981">
                <a:alpha val="8000"/>
              </a:srgbClr>
            </a:solidFill>
            <a:ln>
              <a:noFill/>
            </a:ln>
          </p:spPr>
        </p:sp>
        <p:sp>
          <p:nvSpPr>
            <p:cNvPr id="5" name="Rectangle 5"/>
            <p:cNvSpPr/>
            <p:nvPr/>
          </p:nvSpPr>
          <p:spPr>
            <a:xfrm>
              <a:off x="571500" y="5676900"/>
              <a:ext cx="4267200" cy="19050"/>
            </a:xfrm>
            <a:prstGeom prst="rect">
              <a:avLst/>
            </a:prstGeom>
            <a:solidFill>
              <a:srgbClr val="10B981"/>
            </a:solidFill>
            <a:ln>
              <a:noFill/>
            </a:ln>
          </p:spPr>
        </p:sp>
      </p:grpSp>
      <p:grpSp>
        <p:nvGrpSpPr>
          <p:cNvPr id="13" name="Group 13"/>
          <p:cNvGrpSpPr/>
          <p:nvPr/>
        </p:nvGrpSpPr>
        <p:grpSpPr>
          <a:xfrm>
            <a:off x="571500" y="552450"/>
            <a:ext cx="3790950" cy="552450"/>
            <a:chOff x="571500" y="552450"/>
            <a:chExt cx="3790950" cy="552450"/>
          </a:xfrm>
        </p:grpSpPr>
        <p:sp>
          <p:nvSpPr>
            <p:cNvPr id="7" name="Ellipse 7"/>
            <p:cNvSpPr/>
            <p:nvPr/>
          </p:nvSpPr>
          <p:spPr>
            <a:xfrm>
              <a:off x="571500" y="552450"/>
              <a:ext cx="552450" cy="552450"/>
            </a:xfrm>
            <a:prstGeom prst="ellipse">
              <a:avLst/>
            </a:prstGeom>
            <a:solidFill>
              <a:srgbClr val="0F172A"/>
            </a:solidFill>
            <a:ln>
              <a:noFill/>
            </a:ln>
          </p:spPr>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sp>
        <p:sp>
          <p:nvSpPr>
            <p:cNvPr id="9" name="Ellipse 9"/>
            <p:cNvSpPr/>
            <p:nvPr/>
          </p:nvSpPr>
          <p:spPr>
            <a:xfrm>
              <a:off x="809625" y="781050"/>
              <a:ext cx="114300" cy="114300"/>
            </a:xfrm>
            <a:prstGeom prst="ellipse">
              <a:avLst/>
            </a:prstGeom>
            <a:solidFill>
              <a:srgbClr val="38BDF8"/>
            </a:solidFill>
            <a:ln>
              <a:noFill/>
            </a:ln>
          </p:spPr>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676400" cy="285750"/>
            </a:xfrm>
            <a:prstGeom prst="roundRect">
              <a:avLst>
                <a:gd name="adj" fmla="val 50000"/>
              </a:avLst>
            </a:prstGeom>
            <a:solidFill>
              <a:srgbClr val="38BDF8">
                <a:alpha val="12000"/>
              </a:srgbClr>
            </a:solidFill>
            <a:ln w="9525">
              <a:solidFill>
                <a:srgbClr val="38BDF8"/>
              </a:solidFill>
            </a:ln>
          </p:spPr>
        </p:sp>
        <p:sp>
          <p:nvSpPr>
            <p:cNvPr id="12" name="TextBox 12"/>
            <p:cNvSpPr txBox="1"/>
            <p:nvPr/>
          </p:nvSpPr>
          <p:spPr>
            <a:xfrm>
              <a:off x="2856586" y="771049"/>
              <a:ext cx="1335329"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Marketable product</a:t>
              </a:r>
            </a:p>
          </p:txBody>
        </p:sp>
      </p:grpSp>
      <p:grpSp>
        <p:nvGrpSpPr>
          <p:cNvPr id="16" name="Group 16"/>
          <p:cNvGrpSpPr/>
          <p:nvPr/>
        </p:nvGrpSpPr>
        <p:grpSpPr>
          <a:xfrm>
            <a:off x="502920" y="1664970"/>
            <a:ext cx="6450330" cy="3611880"/>
            <a:chOff x="502920" y="1664970"/>
            <a:chExt cx="6450330" cy="3611880"/>
          </a:xfrm>
        </p:grpSpPr>
        <p:sp>
          <p:nvSpPr>
            <p:cNvPr id="14" name="TextBox 14"/>
            <p:cNvSpPr txBox="1"/>
            <p:nvPr/>
          </p:nvSpPr>
          <p:spPr>
            <a:xfrm>
              <a:off x="502920" y="1664970"/>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 xml:space="preserve">Turn job postings </a:t>
              </a:r>
              <a:r>
                <a:rPr lang="zh-CN" sz="5400" b="1" dirty="0">
                  <a:solidFill>
                    <a:srgbClr val="0F172A"/>
                  </a:solidFill>
                  <a:latin typeface="Georgia"/>
                  <a:ea typeface="Microsoft YaHei"/>
                  <a:cs typeface="Georgia"/>
                </a:rPr>
                <a:t xml:space="preserve">into B2B buying </a:t>
              </a:r>
              <a:r>
                <a:rPr lang="zh-CN" sz="5400" b="1" dirty="0">
                  <a:solidFill>
                    <a:srgbClr val="0F172A"/>
                  </a:solidFill>
                  <a:latin typeface="Georgia"/>
                  <a:ea typeface="Microsoft YaHei"/>
                  <a:cs typeface="Georgia"/>
                </a:rPr>
                <a:t>signals.</a:t>
              </a:r>
            </a:p>
          </p:txBody>
        </p:sp>
        <p:sp>
          <p:nvSpPr>
            <p:cNvPr id="15" name="TextBox 15"/>
            <p:cNvSpPr txBox="1"/>
            <p:nvPr/>
          </p:nvSpPr>
          <p:spPr>
            <a:xfrm>
              <a:off x="586740" y="4587240"/>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 xml:space="preserve">SignalScout connects public hiring behavior </a:t>
              </a:r>
              <a:r>
                <a:rPr lang="zh-CN" sz="1800" dirty="0">
                  <a:solidFill>
                    <a:srgbClr val="475569"/>
                  </a:solidFill>
                  <a:latin typeface="Arial"/>
                  <a:ea typeface="Microsoft YaHei"/>
                  <a:cs typeface="Arial"/>
                </a:rPr>
                <a:t>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sp>
        <p:pic>
          <p:nvPicPr>
            <p:cNvPr id="19" name="Image 19"/>
            <p:cNvPicPr>
              <a:picLocks noChangeAspect="1"/>
            </p:cNvPicPr>
            <p:nvPr/>
          </p:nvPicPr>
          <p:blipFill>
            <a:blip r:embed="rId2"/>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sp>
        <p:sp>
          <p:nvSpPr>
            <p:cNvPr id="21" name="Rectangle 21"/>
            <p:cNvSpPr/>
            <p:nvPr/>
          </p:nvSpPr>
          <p:spPr>
            <a:xfrm>
              <a:off x="7010400" y="5124450"/>
              <a:ext cx="4343400" cy="419100"/>
            </a:xfrm>
            <a:prstGeom prst="roundRect">
              <a:avLst>
                <a:gd name="adj" fmla="val 50000"/>
              </a:avLst>
            </a:prstGeom>
            <a:solidFill>
              <a:srgbClr val="0F172A"/>
            </a:solidFill>
            <a:ln>
              <a:noFill/>
            </a:ln>
          </p:spPr>
        </p:sp>
        <p:sp>
          <p:nvSpPr>
            <p:cNvPr id="22" name="TextBox 22"/>
            <p:cNvSpPr txBox="1"/>
            <p:nvPr/>
          </p:nvSpPr>
          <p:spPr>
            <a:xfrm>
              <a:off x="7939159" y="5269706"/>
              <a:ext cx="24858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Live product is the proof object</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137122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Hackathon demo setup</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sp>
        <p:sp>
          <p:nvSpPr>
            <p:cNvPr id="9" name="Rectangle 9"/>
            <p:cNvSpPr/>
            <p:nvPr/>
          </p:nvSpPr>
          <p:spPr>
            <a:xfrm>
              <a:off x="685800" y="2076450"/>
              <a:ext cx="4762500" cy="514350"/>
            </a:xfrm>
            <a:prstGeom prst="roundRect">
              <a:avLst>
                <a:gd name="adj" fmla="val 25926"/>
              </a:avLst>
            </a:prstGeom>
            <a:solidFill>
              <a:srgbClr val="0F172A"/>
            </a:solidFill>
            <a:ln>
              <a:noFill/>
            </a:ln>
          </p:spPr>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sp>
        <p:sp>
          <p:nvSpPr>
            <p:cNvPr id="21" name="Rectangle 21"/>
            <p:cNvSpPr/>
            <p:nvPr/>
          </p:nvSpPr>
          <p:spPr>
            <a:xfrm>
              <a:off x="6743700" y="2076450"/>
              <a:ext cx="4762500" cy="514350"/>
            </a:xfrm>
            <a:prstGeom prst="roundRect">
              <a:avLst>
                <a:gd name="adj" fmla="val 25926"/>
              </a:avLst>
            </a:prstGeom>
            <a:solidFill>
              <a:srgbClr val="10B981"/>
            </a:solidFill>
            <a:ln>
              <a:noFill/>
            </a:ln>
          </p:spPr>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sp>
        <p:sp>
          <p:nvSpPr>
            <p:cNvPr id="33" name="Ellipse 33"/>
            <p:cNvSpPr/>
            <p:nvPr/>
          </p:nvSpPr>
          <p:spPr>
            <a:xfrm>
              <a:off x="5734050" y="3067050"/>
              <a:ext cx="723900" cy="723900"/>
            </a:xfrm>
            <a:prstGeom prst="ellipse">
              <a:avLst/>
            </a:prstGeom>
            <a:solidFill>
              <a:srgbClr val="FFFFFF"/>
            </a:solidFill>
            <a:ln w="19050">
              <a:solidFill>
                <a:srgbClr val="E2E8F0"/>
              </a:solidFill>
            </a:ln>
          </p:spPr>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17744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Source: slide prep narrative</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sp>
        <p:sp>
          <p:nvSpPr>
            <p:cNvPr id="9" name="Rectangle 9"/>
            <p:cNvSpPr/>
            <p:nvPr/>
          </p:nvSpPr>
          <p:spPr>
            <a:xfrm>
              <a:off x="685800" y="1905000"/>
              <a:ext cx="10820400" cy="533400"/>
            </a:xfrm>
            <a:prstGeom prst="roundRect">
              <a:avLst>
                <a:gd name="adj" fmla="val 25000"/>
              </a:avLst>
            </a:prstGeom>
            <a:solidFill>
              <a:srgbClr val="0F172A"/>
            </a:solidFill>
            <a:ln>
              <a:noFill/>
            </a:ln>
          </p:spPr>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555495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Slide setup: hiring patterns are interpreted as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sp>
          <p:sp>
            <p:nvSpPr>
              <p:cNvPr id="10" name="Ellipse 10"/>
              <p:cNvSpPr/>
              <p:nvPr/>
            </p:nvSpPr>
            <p:spPr>
              <a:xfrm>
                <a:off x="1381125" y="2295525"/>
                <a:ext cx="590550" cy="590550"/>
              </a:xfrm>
              <a:prstGeom prst="ellipse">
                <a:avLst/>
              </a:prstGeom>
              <a:solidFill>
                <a:srgbClr val="FFFFFF"/>
              </a:solidFill>
              <a:ln w="19050">
                <a:solidFill>
                  <a:srgbClr val="10B981"/>
                </a:solidFill>
              </a:ln>
            </p:spPr>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Postings by company </a:t>
                </a:r>
                <a:r>
                  <a:rPr lang="zh-CN" sz="1125" dirty="0">
                    <a:solidFill>
                      <a:srgbClr val="475569"/>
                    </a:solidFill>
                    <a:latin typeface="Arial"/>
                    <a:ea typeface="Microsoft YaHei"/>
                    <a:cs typeface="Arial"/>
                  </a:rPr>
                  <a:t>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sp>
          <p:sp>
            <p:nvSpPr>
              <p:cNvPr id="21" name="Ellipse 21"/>
              <p:cNvSpPr/>
              <p:nvPr/>
            </p:nvSpPr>
            <p:spPr>
              <a:xfrm>
                <a:off x="3552825" y="2295525"/>
                <a:ext cx="590550" cy="590550"/>
              </a:xfrm>
              <a:prstGeom prst="ellipse">
                <a:avLst/>
              </a:prstGeom>
              <a:solidFill>
                <a:srgbClr val="FFFFFF"/>
              </a:solidFill>
              <a:ln w="19050">
                <a:solidFill>
                  <a:srgbClr val="10B981"/>
                </a:solidFill>
              </a:ln>
            </p:spPr>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Role pattern plus </a:t>
                </a:r>
                <a:r>
                  <a:rPr lang="zh-CN" sz="1125" dirty="0">
                    <a:solidFill>
                      <a:srgbClr val="475569"/>
                    </a:solidFill>
                    <a:latin typeface="Arial"/>
                    <a:ea typeface="Microsoft YaHei"/>
                    <a:cs typeface="Arial"/>
                  </a:rPr>
                  <a:t>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sp>
          <p:sp>
            <p:nvSpPr>
              <p:cNvPr id="33" name="Ellipse 33"/>
              <p:cNvSpPr/>
              <p:nvPr/>
            </p:nvSpPr>
            <p:spPr>
              <a:xfrm>
                <a:off x="5724525" y="2295525"/>
                <a:ext cx="590550" cy="590550"/>
              </a:xfrm>
              <a:prstGeom prst="ellipse">
                <a:avLst/>
              </a:prstGeom>
              <a:solidFill>
                <a:srgbClr val="0F172A"/>
              </a:solidFill>
              <a:ln>
                <a:noFill/>
              </a:ln>
            </p:spPr>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Relevance, urgency, </a:t>
                </a:r>
                <a:r>
                  <a:rPr lang="zh-CN" sz="1125" dirty="0">
                    <a:solidFill>
                      <a:srgbClr val="475569"/>
                    </a:solidFill>
                    <a:latin typeface="Arial"/>
                    <a:ea typeface="Microsoft YaHei"/>
                    <a:cs typeface="Arial"/>
                  </a:rPr>
                  <a:t>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sp>
          <p:sp>
            <p:nvSpPr>
              <p:cNvPr id="45" name="Ellipse 45"/>
              <p:cNvSpPr/>
              <p:nvPr/>
            </p:nvSpPr>
            <p:spPr>
              <a:xfrm>
                <a:off x="7896225" y="2295525"/>
                <a:ext cx="590550" cy="590550"/>
              </a:xfrm>
              <a:prstGeom prst="ellipse">
                <a:avLst/>
              </a:prstGeom>
              <a:solidFill>
                <a:srgbClr val="FFFFFF"/>
              </a:solidFill>
              <a:ln w="19050">
                <a:solidFill>
                  <a:srgbClr val="10B981"/>
                </a:solidFill>
              </a:ln>
            </p:spPr>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Grounded opening </a:t>
                </a:r>
                <a:r>
                  <a:rPr lang="zh-CN" sz="1125" dirty="0">
                    <a:solidFill>
                      <a:srgbClr val="475569"/>
                    </a:solidFill>
                    <a:latin typeface="Arial"/>
                    <a:ea typeface="Microsoft YaHei"/>
                    <a:cs typeface="Arial"/>
                  </a:rPr>
                  <a:t>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sp>
          <p:sp>
            <p:nvSpPr>
              <p:cNvPr id="57" name="Ellipse 57"/>
              <p:cNvSpPr/>
              <p:nvPr/>
            </p:nvSpPr>
            <p:spPr>
              <a:xfrm>
                <a:off x="10067925" y="2295525"/>
                <a:ext cx="590550" cy="590550"/>
              </a:xfrm>
              <a:prstGeom prst="ellipse">
                <a:avLst/>
              </a:prstGeom>
              <a:solidFill>
                <a:srgbClr val="FFFFFF"/>
              </a:solidFill>
              <a:ln w="19050">
                <a:solidFill>
                  <a:srgbClr val="10B981"/>
                </a:solidFill>
              </a:ln>
            </p:spPr>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Morning team </a:t>
                </a:r>
                <a:r>
                  <a:rPr lang="zh-CN" sz="1125" dirty="0">
                    <a:solidFill>
                      <a:srgbClr val="475569"/>
                    </a:solidFill>
                    <a:latin typeface="Arial"/>
                    <a:ea typeface="Microsoft YaHei"/>
                    <a:cs typeface="Arial"/>
                  </a:rPr>
                  <a:t>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26418" y="5631656"/>
              <a:ext cx="4739164"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workflow credible for a real sales team.</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sp>
          </p:grpSp>
          <p:sp>
            <p:nvSpPr>
              <p:cNvPr id="15" name="TextBox 15"/>
              <p:cNvSpPr txBox="1"/>
              <p:nvPr/>
            </p:nvSpPr>
            <p:spPr>
              <a:xfrm>
                <a:off x="1363980" y="219741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73505" y="24450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RevOps and BI roles </a:t>
                </a:r>
                <a:r>
                  <a:rPr lang="zh-CN" sz="1200" dirty="0">
                    <a:solidFill>
                      <a:srgbClr val="475569"/>
                    </a:solidFill>
                    <a:latin typeface="Arial"/>
                    <a:ea typeface="Microsoft YaHei"/>
                    <a:cs typeface="Arial"/>
                  </a:rPr>
                  <a:t xml:space="preserve">signal reporting pain, </a:t>
                </a:r>
                <a:r>
                  <a:rPr lang="zh-CN" sz="1200" dirty="0">
                    <a:solidFill>
                      <a:srgbClr val="475569"/>
                    </a:solidFill>
                    <a:latin typeface="Arial"/>
                    <a:ea typeface="Microsoft YaHei"/>
                    <a:cs typeface="Arial"/>
                  </a:rPr>
                  <a:t xml:space="preserve">dashboard backlog, and </a:t>
                </a:r>
                <a:r>
                  <a:rPr lang="zh-CN" sz="1200" dirty="0">
                    <a:solidFill>
                      <a:srgbClr val="475569"/>
                    </a:solidFill>
                    <a:latin typeface="Arial"/>
                    <a:ea typeface="Microsoft YaHei"/>
                    <a:cs typeface="Arial"/>
                  </a:rPr>
                  <a:t>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grpSp>
          <p:sp>
            <p:nvSpPr>
              <p:cNvPr id="25" name="TextBox 25"/>
              <p:cNvSpPr txBox="1"/>
              <p:nvPr/>
            </p:nvSpPr>
            <p:spPr>
              <a:xfrm>
                <a:off x="4116705" y="2206942"/>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16705" y="246411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Cloud engineers and SRE </a:t>
                </a:r>
                <a:r>
                  <a:rPr lang="zh-CN" sz="1200" dirty="0">
                    <a:solidFill>
                      <a:srgbClr val="475569"/>
                    </a:solidFill>
                    <a:latin typeface="Arial"/>
                    <a:ea typeface="Microsoft YaHei"/>
                    <a:cs typeface="Arial"/>
                  </a:rPr>
                  <a:t xml:space="preserve">roles point to reliability, </a:t>
                </a:r>
                <a:r>
                  <a:rPr lang="zh-CN" sz="1200" dirty="0">
                    <a:solidFill>
                      <a:srgbClr val="475569"/>
                    </a:solidFill>
                    <a:latin typeface="Arial"/>
                    <a:ea typeface="Microsoft YaHei"/>
                    <a:cs typeface="Arial"/>
                  </a:rPr>
                  <a:t xml:space="preserve">modernization, and platform </a:t>
                </a:r>
                <a:r>
                  <a:rPr lang="zh-CN" sz="1200" dirty="0">
                    <a:solidFill>
                      <a:srgbClr val="475569"/>
                    </a:solidFill>
                    <a:latin typeface="Arial"/>
                    <a:ea typeface="Microsoft YaHei"/>
                    <a:cs typeface="Arial"/>
                  </a:rPr>
                  <a:t>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sp>
          </p:grpSp>
          <p:sp>
            <p:nvSpPr>
              <p:cNvPr id="35" name="TextBox 35"/>
              <p:cNvSpPr txBox="1"/>
              <p:nvPr/>
            </p:nvSpPr>
            <p:spPr>
              <a:xfrm>
                <a:off x="6888480" y="21783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4450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Security, compliance, and </a:t>
                </a:r>
                <a:r>
                  <a:rPr lang="zh-CN" sz="1200" dirty="0">
                    <a:solidFill>
                      <a:srgbClr val="475569"/>
                    </a:solidFill>
                    <a:latin typeface="Arial"/>
                    <a:ea typeface="Microsoft YaHei"/>
                    <a:cs typeface="Arial"/>
                  </a:rPr>
                  <a:t xml:space="preserve">IAM hiring can reveal access, </a:t>
                </a:r>
                <a:r>
                  <a:rPr lang="zh-CN" sz="1200" dirty="0">
                    <a:solidFill>
                      <a:srgbClr val="475569"/>
                    </a:solidFill>
                    <a:latin typeface="Arial"/>
                    <a:ea typeface="Microsoft YaHei"/>
                    <a:cs typeface="Arial"/>
                  </a:rPr>
                  <a:t xml:space="preserve">risk readiness, and audit </a:t>
                </a:r>
                <a:r>
                  <a:rPr lang="zh-CN" sz="1200" dirty="0">
                    <a:solidFill>
                      <a:srgbClr val="475569"/>
                    </a:solidFill>
                    <a:latin typeface="Arial"/>
                    <a:ea typeface="Microsoft YaHei"/>
                    <a:cs typeface="Arial"/>
                  </a:rPr>
                  <a:t>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sp>
          </p:grpSp>
          <p:sp>
            <p:nvSpPr>
              <p:cNvPr id="46" name="TextBox 46"/>
              <p:cNvSpPr txBox="1"/>
              <p:nvPr/>
            </p:nvSpPr>
            <p:spPr>
              <a:xfrm>
                <a:off x="9641205" y="2168842"/>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69780" y="2435542"/>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Automation and operations </a:t>
                </a:r>
                <a:r>
                  <a:rPr lang="zh-CN" sz="1200" dirty="0">
                    <a:solidFill>
                      <a:srgbClr val="475569"/>
                    </a:solidFill>
                    <a:latin typeface="Arial"/>
                    <a:ea typeface="Microsoft YaHei"/>
                    <a:cs typeface="Arial"/>
                  </a:rPr>
                  <a:t xml:space="preserve">roles suggest process gaps </a:t>
                </a:r>
                <a:r>
                  <a:rPr lang="zh-CN" sz="1200" dirty="0">
                    <a:solidFill>
                      <a:srgbClr val="475569"/>
                    </a:solidFill>
                    <a:latin typeface="Arial"/>
                    <a:ea typeface="Microsoft YaHei"/>
                    <a:cs typeface="Arial"/>
                  </a:rPr>
                  <a:t xml:space="preserve">that service providers can </a:t>
                </a:r>
                <a:r>
                  <a:rPr lang="zh-CN" sz="1200" dirty="0">
                    <a:solidFill>
                      <a:srgbClr val="475569"/>
                    </a:solidFill>
                    <a:latin typeface="Arial"/>
                    <a:ea typeface="Microsoft YaHei"/>
                    <a:cs typeface="Arial"/>
                  </a:rPr>
                  <a:t>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sp>
        </p:grpSp>
        <p:sp>
          <p:nvSpPr>
            <p:cNvPr id="57" name="TextBox 57"/>
            <p:cNvSpPr txBox="1"/>
            <p:nvPr/>
          </p:nvSpPr>
          <p:spPr>
            <a:xfrm>
              <a:off x="2058379" y="5825014"/>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186899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Initial ICP from SLIDE_PREP.md</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sp>
        <p:sp>
          <p:nvSpPr>
            <p:cNvPr id="4" name="TextBox 4"/>
            <p:cNvSpPr txBox="1"/>
            <p:nvPr/>
          </p:nvSpPr>
          <p:spPr>
            <a:xfrm>
              <a:off x="535186" y="474345"/>
              <a:ext cx="967978"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 PROOF</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already completes the loop.</a:t>
              </a:r>
            </a:p>
          </p:txBody>
        </p:sp>
        <p:sp>
          <p:nvSpPr>
            <p:cNvPr id="6" name="TextBox 6"/>
            <p:cNvSpPr txBox="1"/>
            <p:nvPr/>
          </p:nvSpPr>
          <p:spPr>
            <a:xfrm>
              <a:off x="516255" y="1302068"/>
              <a:ext cx="347272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ranked sales action.</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sp>
        <p:grpSp>
          <p:nvGrpSpPr>
            <p:cNvPr id="16" name="Group 16"/>
            <p:cNvGrpSpPr/>
            <p:nvPr/>
          </p:nvGrpSpPr>
          <p:grpSpPr>
            <a:xfrm>
              <a:off x="685800" y="2054542"/>
              <a:ext cx="2678094" cy="710089"/>
              <a:chOff x="685800" y="2054542"/>
              <a:chExt cx="2678094" cy="710089"/>
            </a:xfrm>
          </p:grpSpPr>
          <p:sp>
            <p:nvSpPr>
              <p:cNvPr id="9" name="Ellipse 9"/>
              <p:cNvSpPr/>
              <p:nvPr/>
            </p:nvSpPr>
            <p:spPr>
              <a:xfrm>
                <a:off x="685800" y="2057400"/>
                <a:ext cx="457200" cy="457200"/>
              </a:xfrm>
              <a:prstGeom prst="ellipse">
                <a:avLst/>
              </a:prstGeom>
              <a:solidFill>
                <a:srgbClr val="10B981"/>
              </a:solidFill>
              <a:ln>
                <a:noFill/>
              </a:ln>
            </p:spPr>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14" name="TextBox 14"/>
              <p:cNvSpPr txBox="1"/>
              <p:nvPr/>
            </p:nvSpPr>
            <p:spPr>
              <a:xfrm>
                <a:off x="1335405" y="2054542"/>
                <a:ext cx="202848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ingested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Seed postings become </a:t>
                </a:r>
                <a:r>
                  <a:rPr lang="zh-CN" sz="1125" dirty="0">
                    <a:solidFill>
                      <a:srgbClr val="475569"/>
                    </a:solidFill>
                    <a:latin typeface="Arial"/>
                    <a:ea typeface="Microsoft YaHei"/>
                    <a:cs typeface="Arial"/>
                  </a:rPr>
                  <a:t>provider-style job signals.</a:t>
                </a:r>
              </a:p>
            </p:txBody>
          </p:sp>
        </p:grpSp>
        <p:grpSp>
          <p:nvGrpSpPr>
            <p:cNvPr id="25" name="Group 25"/>
            <p:cNvGrpSpPr/>
            <p:nvPr/>
          </p:nvGrpSpPr>
          <p:grpSpPr>
            <a:xfrm>
              <a:off x="685800" y="3368992"/>
              <a:ext cx="3160104" cy="710089"/>
              <a:chOff x="685800" y="3368992"/>
              <a:chExt cx="3160104" cy="710089"/>
            </a:xfrm>
          </p:grpSpPr>
          <p:sp>
            <p:nvSpPr>
              <p:cNvPr id="17" name="Ellipse 17"/>
              <p:cNvSpPr/>
              <p:nvPr/>
            </p:nvSpPr>
            <p:spPr>
              <a:xfrm>
                <a:off x="685800" y="3371850"/>
                <a:ext cx="457200" cy="457200"/>
              </a:xfrm>
              <a:prstGeom prst="ellipse">
                <a:avLst/>
              </a:prstGeom>
              <a:solidFill>
                <a:srgbClr val="0F172A"/>
              </a:solidFill>
              <a:ln>
                <a:noFill/>
              </a:ln>
            </p:spPr>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23" name="TextBox 23"/>
              <p:cNvSpPr txBox="1"/>
              <p:nvPr/>
            </p:nvSpPr>
            <p:spPr>
              <a:xfrm>
                <a:off x="1335405" y="336899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ranks first</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Score, evidence, and pain </a:t>
                </a:r>
                <a:r>
                  <a:rPr lang="zh-CN" sz="1125" dirty="0">
                    <a:solidFill>
                      <a:srgbClr val="475569"/>
                    </a:solidFill>
                    <a:latin typeface="Arial"/>
                    <a:ea typeface="Microsoft YaHei"/>
                    <a:cs typeface="Arial"/>
                  </a:rPr>
                  <a:t>sit in one workspace.</a:t>
                </a:r>
              </a:p>
            </p:txBody>
          </p:sp>
        </p:grpSp>
        <p:grpSp>
          <p:nvGrpSpPr>
            <p:cNvPr id="32" name="Group 32"/>
            <p:cNvGrpSpPr/>
            <p:nvPr/>
          </p:nvGrpSpPr>
          <p:grpSpPr>
            <a:xfrm>
              <a:off x="685800" y="4673918"/>
              <a:ext cx="2583582" cy="710088"/>
              <a:chOff x="685800" y="4673918"/>
              <a:chExt cx="2583582" cy="710088"/>
            </a:xfrm>
          </p:grpSpPr>
          <p:sp>
            <p:nvSpPr>
              <p:cNvPr id="26" name="Ellipse 26"/>
              <p:cNvSpPr/>
              <p:nvPr/>
            </p:nvSpPr>
            <p:spPr>
              <a:xfrm>
                <a:off x="685800" y="4676775"/>
                <a:ext cx="457200" cy="457200"/>
              </a:xfrm>
              <a:prstGeom prst="ellipse">
                <a:avLst/>
              </a:prstGeom>
              <a:solidFill>
                <a:srgbClr val="38BDF8"/>
              </a:solidFill>
              <a:ln>
                <a:noFill/>
              </a:ln>
            </p:spPr>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sp>
          </p:grpSp>
          <p:sp>
            <p:nvSpPr>
              <p:cNvPr id="30" name="TextBox 30"/>
              <p:cNvSpPr txBox="1"/>
              <p:nvPr/>
            </p:nvSpPr>
            <p:spPr>
              <a:xfrm>
                <a:off x="1335405" y="4673918"/>
                <a:ext cx="193397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Slack digest is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The seller moves from </a:t>
                </a:r>
                <a:r>
                  <a:rPr lang="zh-CN" sz="1125" dirty="0">
                    <a:solidFill>
                      <a:srgbClr val="475569"/>
                    </a:solidFill>
                    <a:latin typeface="Arial"/>
                    <a:ea typeface="Microsoft YaHei"/>
                    <a:cs typeface="Arial"/>
                  </a:rPr>
                  <a:t>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sp>
        <p:pic>
          <p:nvPicPr>
            <p:cNvPr id="36" name="Image 36"/>
            <p:cNvPicPr>
              <a:picLocks noChangeAspect="1"/>
            </p:cNvPicPr>
            <p:nvPr/>
          </p:nvPicPr>
          <p:blipFill>
            <a:blip r:embed="rId2"/>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sp>
      </p:grpSp>
      <p:grpSp>
        <p:nvGrpSpPr>
          <p:cNvPr id="41" name="Group 41"/>
          <p:cNvGrpSpPr/>
          <p:nvPr/>
        </p:nvGrpSpPr>
        <p:grpSpPr>
          <a:xfrm>
            <a:off x="2876550" y="6000750"/>
            <a:ext cx="6438900" cy="400050"/>
            <a:chOff x="2876550" y="6000750"/>
            <a:chExt cx="6438900"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sp>
        <p:sp>
          <p:nvSpPr>
            <p:cNvPr id="40" name="TextBox 40"/>
            <p:cNvSpPr txBox="1"/>
            <p:nvPr/>
          </p:nvSpPr>
          <p:spPr>
            <a:xfrm>
              <a:off x="3274809" y="6128385"/>
              <a:ext cx="564238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A marketable workflow: ingest, rank, explain, draft, and hand 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3337074"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Fresh screenshot captured from the running local app</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8509206" cy="1195388"/>
            <a:chOff x="493395" y="381000"/>
            <a:chExt cx="8509206" cy="1195388"/>
          </a:xfrm>
        </p:grpSpPr>
        <p:sp>
          <p:nvSpPr>
            <p:cNvPr id="3" name="Rectangle 3"/>
            <p:cNvSpPr/>
            <p:nvPr/>
          </p:nvSpPr>
          <p:spPr>
            <a:xfrm>
              <a:off x="533400" y="381000"/>
              <a:ext cx="146685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694625" y="474345"/>
              <a:ext cx="1144400"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COMMERCIAL READY</a:t>
              </a:r>
            </a:p>
          </p:txBody>
        </p:sp>
        <p:sp>
          <p:nvSpPr>
            <p:cNvPr id="5" name="TextBox 5"/>
            <p:cNvSpPr txBox="1"/>
            <p:nvPr/>
          </p:nvSpPr>
          <p:spPr>
            <a:xfrm>
              <a:off x="493395" y="764858"/>
              <a:ext cx="7180998"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Ready to sell into service teams.</a:t>
              </a:r>
            </a:p>
          </p:txBody>
        </p:sp>
        <p:sp>
          <p:nvSpPr>
            <p:cNvPr id="6" name="TextBox 6"/>
            <p:cNvSpPr txBox="1"/>
            <p:nvPr/>
          </p:nvSpPr>
          <p:spPr>
            <a:xfrm>
              <a:off x="516255" y="1302068"/>
              <a:ext cx="848634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product packages a daily outbound workflow agencies can adopt without changing their CRM.</a:t>
              </a:r>
            </a:p>
          </p:txBody>
        </p:sp>
      </p:grpSp>
      <p:grpSp>
        <p:nvGrpSpPr>
          <p:cNvPr id="14" name="Group 14"/>
          <p:cNvGrpSpPr/>
          <p:nvPr/>
        </p:nvGrpSpPr>
        <p:grpSpPr>
          <a:xfrm>
            <a:off x="533400" y="1962150"/>
            <a:ext cx="3638550" cy="3390900"/>
            <a:chOff x="533400" y="1962150"/>
            <a:chExt cx="3638550" cy="3390900"/>
          </a:xfrm>
        </p:grpSpPr>
        <p:sp>
          <p:nvSpPr>
            <p:cNvPr id="8" name="Rectangle 8"/>
            <p:cNvSpPr/>
            <p:nvPr/>
          </p:nvSpPr>
          <p:spPr>
            <a:xfrm>
              <a:off x="533400" y="1962150"/>
              <a:ext cx="3638550" cy="3390900"/>
            </a:xfrm>
            <a:prstGeom prst="roundRect">
              <a:avLst>
                <a:gd name="adj" fmla="val 5056"/>
              </a:avLst>
            </a:prstGeom>
            <a:solidFill>
              <a:srgbClr val="0F172A"/>
            </a:solidFill>
            <a:ln>
              <a:noFill/>
            </a:ln>
          </p:spPr>
        </p:sp>
        <p:sp>
          <p:nvSpPr>
            <p:cNvPr id="9" name="TextBox 9"/>
            <p:cNvSpPr txBox="1"/>
            <p:nvPr/>
          </p:nvSpPr>
          <p:spPr>
            <a:xfrm>
              <a:off x="804862" y="2278856"/>
              <a:ext cx="1107585" cy="228600"/>
            </a:xfrm>
            <a:prstGeom prst="rect">
              <a:avLst/>
            </a:prstGeom>
            <a:noFill/>
            <a:ln>
              <a:noFill/>
            </a:ln>
          </p:spPr>
          <p:txBody>
            <a:bodyPr wrap="none" lIns="0" tIns="0" rIns="0" bIns="0" anchor="t" anchorCtr="0">
              <a:spAutoFit/>
            </a:bodyPr>
            <a:lstStyle/>
            <a:p>
              <a:pPr algn="l"/>
              <a:r>
                <a:rPr lang="zh-CN" sz="1125" b="1" dirty="0">
                  <a:solidFill>
                    <a:srgbClr val="38BDF8"/>
                  </a:solidFill>
                  <a:latin typeface="Arial"/>
                  <a:ea typeface="Microsoft YaHei"/>
                  <a:cs typeface="Arial"/>
                </a:rPr>
                <a:t>PRIMARY BUYER</a:t>
              </a:r>
            </a:p>
          </p:txBody>
        </p:sp>
        <p:sp>
          <p:nvSpPr>
            <p:cNvPr id="10" name="TextBox 10"/>
            <p:cNvSpPr txBox="1"/>
            <p:nvPr/>
          </p:nvSpPr>
          <p:spPr>
            <a:xfrm>
              <a:off x="786765" y="2639378"/>
              <a:ext cx="2989135" cy="918210"/>
            </a:xfrm>
            <a:prstGeom prst="rect">
              <a:avLst/>
            </a:prstGeom>
            <a:noFill/>
            <a:ln>
              <a:noFill/>
            </a:ln>
          </p:spPr>
          <p:txBody>
            <a:bodyPr wrap="square" lIns="0" tIns="0" rIns="0" bIns="0" anchor="t" anchorCtr="0"/>
            <a:lstStyle/>
            <a:p>
              <a:pPr algn="l">
                <a:lnSpc>
                  <a:spcPts val="3150"/>
                </a:lnSpc>
              </a:pPr>
              <a:r>
                <a:rPr lang="zh-CN" sz="2550" b="1" dirty="0">
                  <a:solidFill>
                    <a:srgbClr val="FFFFFF"/>
                  </a:solidFill>
                  <a:latin typeface="Georgia"/>
                  <a:ea typeface="Microsoft YaHei"/>
                  <a:cs typeface="Georgia"/>
                </a:rPr>
                <a:t xml:space="preserve">B2B agencies </a:t>
              </a:r>
              <a:r>
                <a:rPr lang="zh-CN" sz="2550" b="1" dirty="0">
                  <a:solidFill>
                    <a:srgbClr val="FFFFFF"/>
                  </a:solidFill>
                  <a:latin typeface="Georgia"/>
                  <a:ea typeface="Microsoft YaHei"/>
                  <a:cs typeface="Georgia"/>
                </a:rPr>
                <a:t>and consultancies</a:t>
              </a:r>
            </a:p>
          </p:txBody>
        </p:sp>
        <p:sp>
          <p:nvSpPr>
            <p:cNvPr id="11" name="TextBox 11"/>
            <p:cNvSpPr txBox="1"/>
            <p:nvPr/>
          </p:nvSpPr>
          <p:spPr>
            <a:xfrm>
              <a:off x="802958" y="3691414"/>
              <a:ext cx="2404586" cy="1059180"/>
            </a:xfrm>
            <a:prstGeom prst="rect">
              <a:avLst/>
            </a:prstGeom>
            <a:noFill/>
            <a:ln>
              <a:noFill/>
            </a:ln>
          </p:spPr>
          <p:txBody>
            <a:bodyPr wrap="square" lIns="0" tIns="0" rIns="0" bIns="0" anchor="t" anchorCtr="0"/>
            <a:lstStyle/>
            <a:p>
              <a:pPr algn="l">
                <a:lnSpc>
                  <a:spcPts val="2100"/>
                </a:lnSpc>
              </a:pPr>
              <a:r>
                <a:rPr lang="zh-CN" sz="1275" dirty="0">
                  <a:solidFill>
                    <a:srgbClr val="E2E8F0"/>
                  </a:solidFill>
                  <a:latin typeface="Arial"/>
                  <a:ea typeface="Microsoft YaHei"/>
                  <a:cs typeface="Arial"/>
                </a:rPr>
                <a:t xml:space="preserve">They already sell expertise. </a:t>
              </a:r>
              <a:r>
                <a:rPr lang="zh-CN" sz="1275" dirty="0">
                  <a:solidFill>
                    <a:srgbClr val="E2E8F0"/>
                  </a:solidFill>
                  <a:latin typeface="Arial"/>
                  <a:ea typeface="Microsoft YaHei"/>
                  <a:cs typeface="Arial"/>
                </a:rPr>
                <a:t xml:space="preserve">SignalScout tells them which </a:t>
              </a:r>
              <a:r>
                <a:rPr lang="zh-CN" sz="1275" dirty="0">
                  <a:solidFill>
                    <a:srgbClr val="E2E8F0"/>
                  </a:solidFill>
                  <a:latin typeface="Arial"/>
                  <a:ea typeface="Microsoft YaHei"/>
                  <a:cs typeface="Arial"/>
                </a:rPr>
                <a:t xml:space="preserve">accounts have timely evidence </a:t>
              </a:r>
              <a:r>
                <a:rPr lang="zh-CN" sz="1275" dirty="0">
                  <a:solidFill>
                    <a:srgbClr val="E2E8F0"/>
                  </a:solidFill>
                  <a:latin typeface="Arial"/>
                  <a:ea typeface="Microsoft YaHei"/>
                  <a:cs typeface="Arial"/>
                </a:rPr>
                <a:t>for a focused conversation.</a:t>
              </a:r>
            </a:p>
          </p:txBody>
        </p:sp>
        <p:sp>
          <p:nvSpPr>
            <p:cNvPr id="12" name="Rectangle 12"/>
            <p:cNvSpPr/>
            <p:nvPr/>
          </p:nvSpPr>
          <p:spPr>
            <a:xfrm>
              <a:off x="819150" y="4686300"/>
              <a:ext cx="2057400" cy="342900"/>
            </a:xfrm>
            <a:prstGeom prst="roundRect">
              <a:avLst>
                <a:gd name="adj" fmla="val 50000"/>
              </a:avLst>
            </a:prstGeom>
            <a:solidFill>
              <a:srgbClr val="10B981"/>
            </a:solidFill>
            <a:ln>
              <a:noFill/>
            </a:ln>
          </p:spPr>
        </p:sp>
        <p:sp>
          <p:nvSpPr>
            <p:cNvPr id="13" name="TextBox 13"/>
            <p:cNvSpPr txBox="1"/>
            <p:nvPr/>
          </p:nvSpPr>
          <p:spPr>
            <a:xfrm>
              <a:off x="1206011" y="4801552"/>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Clear first wedge</a:t>
              </a:r>
            </a:p>
          </p:txBody>
        </p:sp>
      </p:grpSp>
      <p:grpSp>
        <p:nvGrpSpPr>
          <p:cNvPr id="50" name="Group 50"/>
          <p:cNvGrpSpPr/>
          <p:nvPr/>
        </p:nvGrpSpPr>
        <p:grpSpPr>
          <a:xfrm>
            <a:off x="4629150" y="1962150"/>
            <a:ext cx="7238166" cy="3390900"/>
            <a:chOff x="4629150" y="1962150"/>
            <a:chExt cx="7238166" cy="3390900"/>
          </a:xfrm>
        </p:grpSpPr>
        <p:sp>
          <p:nvSpPr>
            <p:cNvPr id="15" name="Rectangle 15"/>
            <p:cNvSpPr/>
            <p:nvPr/>
          </p:nvSpPr>
          <p:spPr>
            <a:xfrm>
              <a:off x="4629150" y="1962150"/>
              <a:ext cx="7029450" cy="3390900"/>
            </a:xfrm>
            <a:prstGeom prst="roundRect">
              <a:avLst>
                <a:gd name="adj" fmla="val 5056"/>
              </a:avLst>
            </a:prstGeom>
            <a:solidFill>
              <a:srgbClr val="FFFFFF"/>
            </a:solidFill>
            <a:ln w="9525">
              <a:solidFill>
                <a:srgbClr val="E2E8F0"/>
              </a:solidFill>
            </a:ln>
          </p:spPr>
        </p:sp>
        <p:sp>
          <p:nvSpPr>
            <p:cNvPr id="16" name="Line 16"/>
            <p:cNvSpPr/>
            <p:nvPr/>
          </p:nvSpPr>
          <p:spPr>
            <a:xfrm>
              <a:off x="5162550" y="2552700"/>
              <a:ext cx="9525" cy="2133600"/>
            </a:xfrm>
            <a:custGeom>
              <a:avLst/>
              <a:gdLst/>
              <a:ahLst/>
              <a:cxnLst/>
              <a:rect l="l" t="t" r="r" b="b"/>
              <a:pathLst>
                <a:path w="9525" h="2133600">
                  <a:moveTo>
                    <a:pt x="0" y="0"/>
                  </a:moveTo>
                  <a:lnTo>
                    <a:pt x="0" y="2133600"/>
                  </a:lnTo>
                </a:path>
              </a:pathLst>
            </a:custGeom>
            <a:noFill/>
            <a:ln w="28575">
              <a:solidFill>
                <a:srgbClr val="E2E8F0"/>
              </a:solidFill>
            </a:ln>
          </p:spPr>
        </p:sp>
        <p:grpSp>
          <p:nvGrpSpPr>
            <p:cNvPr id="24" name="Group 24"/>
            <p:cNvGrpSpPr/>
            <p:nvPr/>
          </p:nvGrpSpPr>
          <p:grpSpPr>
            <a:xfrm>
              <a:off x="4933950" y="2324100"/>
              <a:ext cx="6438304" cy="545306"/>
              <a:chOff x="4933950" y="2324100"/>
              <a:chExt cx="6438304" cy="545306"/>
            </a:xfrm>
          </p:grpSpPr>
          <p:sp>
            <p:nvSpPr>
              <p:cNvPr id="17" name="Ellipse 17"/>
              <p:cNvSpPr/>
              <p:nvPr/>
            </p:nvSpPr>
            <p:spPr>
              <a:xfrm>
                <a:off x="4933950" y="2324100"/>
                <a:ext cx="457200" cy="457200"/>
              </a:xfrm>
              <a:prstGeom prst="ellipse">
                <a:avLst/>
              </a:prstGeom>
              <a:solidFill>
                <a:srgbClr val="10B981"/>
              </a:solidFill>
              <a:ln>
                <a:noFill/>
              </a:ln>
            </p:spPr>
          </p:sp>
          <p:grpSp>
            <p:nvGrpSpPr>
              <p:cNvPr id="21" name="Group 21"/>
              <p:cNvGrpSpPr/>
              <p:nvPr/>
            </p:nvGrpSpPr>
            <p:grpSpPr>
              <a:xfrm>
                <a:off x="5073650" y="2452688"/>
                <a:ext cx="177800" cy="200024"/>
                <a:chOff x="5073650" y="2452688"/>
                <a:chExt cx="177800" cy="200024"/>
              </a:xfrm>
            </p:grpSpPr>
            <p:sp>
              <p:nvSpPr>
                <p:cNvPr id="18" name="Freeform 18"/>
                <p:cNvSpPr/>
                <p:nvPr/>
              </p:nvSpPr>
              <p:spPr>
                <a:xfrm>
                  <a:off x="5073650" y="24526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9" name="Freeform 19"/>
                <p:cNvSpPr/>
                <p:nvPr/>
              </p:nvSpPr>
              <p:spPr>
                <a:xfrm>
                  <a:off x="5073650" y="24860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20" name="Freeform 20"/>
                <p:cNvSpPr/>
                <p:nvPr/>
              </p:nvSpPr>
              <p:spPr>
                <a:xfrm>
                  <a:off x="5073650" y="25527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22" name="TextBox 22"/>
              <p:cNvSpPr txBox="1"/>
              <p:nvPr/>
            </p:nvSpPr>
            <p:spPr>
              <a:xfrm>
                <a:off x="5600700" y="2333625"/>
                <a:ext cx="197034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Runs on public data</a:t>
                </a:r>
              </a:p>
            </p:txBody>
          </p:sp>
          <p:sp>
            <p:nvSpPr>
              <p:cNvPr id="23" name="TextBox 23"/>
              <p:cNvSpPr txBox="1"/>
              <p:nvPr/>
            </p:nvSpPr>
            <p:spPr>
              <a:xfrm>
                <a:off x="5605462" y="2640806"/>
                <a:ext cx="576679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Job postings are observable, repeatable, and refreshed by the market itself.</a:t>
                </a:r>
              </a:p>
            </p:txBody>
          </p:sp>
        </p:grpSp>
        <p:grpSp>
          <p:nvGrpSpPr>
            <p:cNvPr id="33" name="Group 33"/>
            <p:cNvGrpSpPr/>
            <p:nvPr/>
          </p:nvGrpSpPr>
          <p:grpSpPr>
            <a:xfrm>
              <a:off x="4933950" y="3038475"/>
              <a:ext cx="6933366" cy="545306"/>
              <a:chOff x="4933950" y="3038475"/>
              <a:chExt cx="6933366" cy="545306"/>
            </a:xfrm>
          </p:grpSpPr>
          <p:sp>
            <p:nvSpPr>
              <p:cNvPr id="25" name="Ellipse 25"/>
              <p:cNvSpPr/>
              <p:nvPr/>
            </p:nvSpPr>
            <p:spPr>
              <a:xfrm>
                <a:off x="4933950" y="3038475"/>
                <a:ext cx="457200" cy="457200"/>
              </a:xfrm>
              <a:prstGeom prst="ellipse">
                <a:avLst/>
              </a:prstGeom>
              <a:solidFill>
                <a:srgbClr val="38BDF8"/>
              </a:solidFill>
              <a:ln>
                <a:noFill/>
              </a:ln>
            </p:spPr>
          </p:sp>
          <p:grpSp>
            <p:nvGrpSpPr>
              <p:cNvPr id="30" name="Group 30"/>
              <p:cNvGrpSpPr/>
              <p:nvPr/>
            </p:nvGrpSpPr>
            <p:grpSpPr>
              <a:xfrm>
                <a:off x="5062538" y="3178175"/>
                <a:ext cx="200025" cy="187325"/>
                <a:chOff x="5062538" y="3178175"/>
                <a:chExt cx="200025" cy="187325"/>
              </a:xfrm>
            </p:grpSpPr>
            <p:sp>
              <p:nvSpPr>
                <p:cNvPr id="26" name="Freeform 26"/>
                <p:cNvSpPr/>
                <p:nvPr/>
              </p:nvSpPr>
              <p:spPr>
                <a:xfrm>
                  <a:off x="5062538" y="3267075"/>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sp>
            <p:sp>
              <p:nvSpPr>
                <p:cNvPr id="27" name="Freeform 27"/>
                <p:cNvSpPr/>
                <p:nvPr/>
              </p:nvSpPr>
              <p:spPr>
                <a:xfrm>
                  <a:off x="5195888" y="3222625"/>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sp>
            <p:sp>
              <p:nvSpPr>
                <p:cNvPr id="28" name="Freeform 28"/>
                <p:cNvSpPr/>
                <p:nvPr/>
              </p:nvSpPr>
              <p:spPr>
                <a:xfrm>
                  <a:off x="5129212" y="3178175"/>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sp>
            <p:sp>
              <p:nvSpPr>
                <p:cNvPr id="29" name="Freeform 29"/>
                <p:cNvSpPr/>
                <p:nvPr/>
              </p:nvSpPr>
              <p:spPr>
                <a:xfrm>
                  <a:off x="5073650" y="3355975"/>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31" name="TextBox 31"/>
              <p:cNvSpPr txBox="1"/>
              <p:nvPr/>
            </p:nvSpPr>
            <p:spPr>
              <a:xfrm>
                <a:off x="5600700" y="3048000"/>
                <a:ext cx="297846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Produces a daily priority list</a:t>
                </a:r>
              </a:p>
            </p:txBody>
          </p:sp>
          <p:sp>
            <p:nvSpPr>
              <p:cNvPr id="32" name="TextBox 32"/>
              <p:cNvSpPr txBox="1"/>
              <p:nvPr/>
            </p:nvSpPr>
            <p:spPr>
              <a:xfrm>
                <a:off x="5605462" y="3355181"/>
                <a:ext cx="626185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buyer receives ranked accounts with evidence instead of another raw lead table.</a:t>
                </a:r>
              </a:p>
            </p:txBody>
          </p:sp>
        </p:grpSp>
        <p:grpSp>
          <p:nvGrpSpPr>
            <p:cNvPr id="42" name="Group 42"/>
            <p:cNvGrpSpPr/>
            <p:nvPr/>
          </p:nvGrpSpPr>
          <p:grpSpPr>
            <a:xfrm>
              <a:off x="4933950" y="3752850"/>
              <a:ext cx="6220777" cy="545306"/>
              <a:chOff x="4933950" y="3752850"/>
              <a:chExt cx="6220777" cy="545306"/>
            </a:xfrm>
          </p:grpSpPr>
          <p:sp>
            <p:nvSpPr>
              <p:cNvPr id="34" name="Ellipse 34"/>
              <p:cNvSpPr/>
              <p:nvPr/>
            </p:nvSpPr>
            <p:spPr>
              <a:xfrm>
                <a:off x="4933950" y="3752850"/>
                <a:ext cx="457200" cy="457200"/>
              </a:xfrm>
              <a:prstGeom prst="ellipse">
                <a:avLst/>
              </a:prstGeom>
              <a:solidFill>
                <a:srgbClr val="0F172A"/>
              </a:solidFill>
              <a:ln>
                <a:noFill/>
              </a:ln>
            </p:spPr>
          </p:sp>
          <p:grpSp>
            <p:nvGrpSpPr>
              <p:cNvPr id="39" name="Group 39"/>
              <p:cNvGrpSpPr/>
              <p:nvPr/>
            </p:nvGrpSpPr>
            <p:grpSpPr>
              <a:xfrm>
                <a:off x="5062538" y="3892550"/>
                <a:ext cx="200025" cy="188912"/>
                <a:chOff x="5062538" y="3892550"/>
                <a:chExt cx="200025" cy="188912"/>
              </a:xfrm>
            </p:grpSpPr>
            <p:sp>
              <p:nvSpPr>
                <p:cNvPr id="35" name="Freeform 35"/>
                <p:cNvSpPr/>
                <p:nvPr/>
              </p:nvSpPr>
              <p:spPr>
                <a:xfrm>
                  <a:off x="5118100" y="3948112"/>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36" name="Freeform 36"/>
                <p:cNvSpPr/>
                <p:nvPr/>
              </p:nvSpPr>
              <p:spPr>
                <a:xfrm>
                  <a:off x="5118100" y="3992562"/>
                  <a:ext cx="66675" cy="9525"/>
                </a:xfrm>
                <a:custGeom>
                  <a:avLst/>
                  <a:gdLst/>
                  <a:ahLst/>
                  <a:cxnLst/>
                  <a:rect l="l" t="t" r="r" b="b"/>
                  <a:pathLst>
                    <a:path w="66675" h="9525">
                      <a:moveTo>
                        <a:pt x="0" y="0"/>
                      </a:moveTo>
                      <a:lnTo>
                        <a:pt x="66675" y="0"/>
                      </a:lnTo>
                    </a:path>
                  </a:pathLst>
                </a:custGeom>
                <a:noFill/>
                <a:ln w="19050">
                  <a:solidFill>
                    <a:srgbClr val="FFFFFF"/>
                  </a:solidFill>
                </a:ln>
              </p:spPr>
            </p:sp>
            <p:sp>
              <p:nvSpPr>
                <p:cNvPr id="37" name="Freeform 37"/>
                <p:cNvSpPr/>
                <p:nvPr/>
              </p:nvSpPr>
              <p:spPr>
                <a:xfrm>
                  <a:off x="5062538" y="3892550"/>
                  <a:ext cx="200025" cy="188912"/>
                </a:xfrm>
                <a:custGeom>
                  <a:avLst/>
                  <a:gdLst/>
                  <a:ahLst/>
                  <a:cxnLst/>
                  <a:rect l="l" t="t" r="r" b="b"/>
                  <a:pathLst>
                    <a:path w="200025" h="188912">
                      <a:moveTo>
                        <a:pt x="100012" y="188912"/>
                      </a:moveTo>
                      <a:lnTo>
                        <a:pt x="88900" y="177800"/>
                      </a:lnTo>
                      <a:lnTo>
                        <a:pt x="66675" y="155575"/>
                      </a:lnTo>
                      <a:lnTo>
                        <a:pt x="33338" y="155575"/>
                      </a:lnTo>
                      <a:cubicBezTo>
                        <a:pt x="14926" y="155575"/>
                        <a:pt x="0" y="140649"/>
                        <a:pt x="0" y="122237"/>
                      </a:cubicBezTo>
                      <a:lnTo>
                        <a:pt x="0" y="33338"/>
                      </a:lnTo>
                      <a:cubicBezTo>
                        <a:pt x="0" y="14926"/>
                        <a:pt x="14926" y="0"/>
                        <a:pt x="33338" y="0"/>
                      </a:cubicBezTo>
                      <a:lnTo>
                        <a:pt x="166688" y="0"/>
                      </a:lnTo>
                      <a:cubicBezTo>
                        <a:pt x="185099" y="0"/>
                        <a:pt x="200025" y="14926"/>
                        <a:pt x="200025" y="33338"/>
                      </a:cubicBezTo>
                      <a:lnTo>
                        <a:pt x="200025" y="100012"/>
                      </a:lnTo>
                    </a:path>
                  </a:pathLst>
                </a:custGeom>
                <a:noFill/>
                <a:ln w="19050">
                  <a:solidFill>
                    <a:srgbClr val="FFFFFF"/>
                  </a:solidFill>
                </a:ln>
              </p:spPr>
            </p:sp>
            <p:sp>
              <p:nvSpPr>
                <p:cNvPr id="38" name="Freeform 38"/>
                <p:cNvSpPr/>
                <p:nvPr/>
              </p:nvSpPr>
              <p:spPr>
                <a:xfrm>
                  <a:off x="5195888" y="4037012"/>
                  <a:ext cx="66675" cy="44450"/>
                </a:xfrm>
                <a:custGeom>
                  <a:avLst/>
                  <a:gdLst/>
                  <a:ahLst/>
                  <a:cxnLst/>
                  <a:rect l="l" t="t" r="r" b="b"/>
                  <a:pathLst>
                    <a:path w="66675" h="44450">
                      <a:moveTo>
                        <a:pt x="0" y="22225"/>
                      </a:moveTo>
                      <a:lnTo>
                        <a:pt x="22225" y="44450"/>
                      </a:lnTo>
                      <a:lnTo>
                        <a:pt x="66675" y="0"/>
                      </a:lnTo>
                    </a:path>
                  </a:pathLst>
                </a:custGeom>
                <a:noFill/>
                <a:ln w="19050">
                  <a:solidFill>
                    <a:srgbClr val="FFFFFF"/>
                  </a:solidFill>
                </a:ln>
              </p:spPr>
            </p:sp>
          </p:grpSp>
          <p:sp>
            <p:nvSpPr>
              <p:cNvPr id="40" name="TextBox 40"/>
              <p:cNvSpPr txBox="1"/>
              <p:nvPr/>
            </p:nvSpPr>
            <p:spPr>
              <a:xfrm>
                <a:off x="5600700" y="3762375"/>
                <a:ext cx="3188494"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Creates usable sales artifacts</a:t>
                </a:r>
              </a:p>
            </p:txBody>
          </p:sp>
          <p:sp>
            <p:nvSpPr>
              <p:cNvPr id="41" name="TextBox 41"/>
              <p:cNvSpPr txBox="1"/>
              <p:nvPr/>
            </p:nvSpPr>
            <p:spPr>
              <a:xfrm>
                <a:off x="5605462" y="4069556"/>
                <a:ext cx="554926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lead comes with inferred pain, proof, and a grounded outreach draft.</a:t>
                </a:r>
              </a:p>
            </p:txBody>
          </p:sp>
        </p:grpSp>
        <p:grpSp>
          <p:nvGrpSpPr>
            <p:cNvPr id="49" name="Group 49"/>
            <p:cNvGrpSpPr/>
            <p:nvPr/>
          </p:nvGrpSpPr>
          <p:grpSpPr>
            <a:xfrm>
              <a:off x="4933950" y="4457700"/>
              <a:ext cx="6655831" cy="545306"/>
              <a:chOff x="4933950" y="4457700"/>
              <a:chExt cx="6655831" cy="545306"/>
            </a:xfrm>
          </p:grpSpPr>
          <p:sp>
            <p:nvSpPr>
              <p:cNvPr id="43" name="Ellipse 43"/>
              <p:cNvSpPr/>
              <p:nvPr/>
            </p:nvSpPr>
            <p:spPr>
              <a:xfrm>
                <a:off x="4933950" y="4457700"/>
                <a:ext cx="457200" cy="457200"/>
              </a:xfrm>
              <a:prstGeom prst="ellipse">
                <a:avLst/>
              </a:prstGeom>
              <a:solidFill>
                <a:srgbClr val="F59E0B"/>
              </a:solidFill>
              <a:ln>
                <a:noFill/>
              </a:ln>
            </p:spPr>
          </p:sp>
          <p:grpSp>
            <p:nvGrpSpPr>
              <p:cNvPr id="46" name="Group 46"/>
              <p:cNvGrpSpPr/>
              <p:nvPr/>
            </p:nvGrpSpPr>
            <p:grpSpPr>
              <a:xfrm>
                <a:off x="5058972" y="4586288"/>
                <a:ext cx="203591" cy="203591"/>
                <a:chOff x="5058972" y="4586288"/>
                <a:chExt cx="203591" cy="203591"/>
              </a:xfrm>
            </p:grpSpPr>
            <p:sp>
              <p:nvSpPr>
                <p:cNvPr id="44" name="Freeform 44"/>
                <p:cNvSpPr/>
                <p:nvPr/>
              </p:nvSpPr>
              <p:spPr>
                <a:xfrm>
                  <a:off x="51403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sp>
            <p:sp>
              <p:nvSpPr>
                <p:cNvPr id="45" name="Freeform 45"/>
                <p:cNvSpPr/>
                <p:nvPr/>
              </p:nvSpPr>
              <p:spPr>
                <a:xfrm>
                  <a:off x="50589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sp>
          </p:grpSp>
          <p:sp>
            <p:nvSpPr>
              <p:cNvPr id="47" name="TextBox 47"/>
              <p:cNvSpPr txBox="1"/>
              <p:nvPr/>
            </p:nvSpPr>
            <p:spPr>
              <a:xfrm>
                <a:off x="5600700" y="4467225"/>
                <a:ext cx="266342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Fits existing sales motion</a:t>
                </a:r>
              </a:p>
            </p:txBody>
          </p:sp>
          <p:sp>
            <p:nvSpPr>
              <p:cNvPr id="48" name="TextBox 48"/>
              <p:cNvSpPr txBox="1"/>
              <p:nvPr/>
            </p:nvSpPr>
            <p:spPr>
              <a:xfrm>
                <a:off x="5605462" y="477440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Slack digest and export paths make the workflow easy to pilot with a small team.</a:t>
                </a:r>
              </a:p>
            </p:txBody>
          </p:sp>
        </p:grpSp>
      </p:grpSp>
      <p:grpSp>
        <p:nvGrpSpPr>
          <p:cNvPr id="53" name="Group 53"/>
          <p:cNvGrpSpPr/>
          <p:nvPr/>
        </p:nvGrpSpPr>
        <p:grpSpPr>
          <a:xfrm>
            <a:off x="2114550" y="5810250"/>
            <a:ext cx="7962900" cy="457200"/>
            <a:chOff x="2114550" y="5810250"/>
            <a:chExt cx="7962900" cy="457200"/>
          </a:xfrm>
        </p:grpSpPr>
        <p:sp>
          <p:nvSpPr>
            <p:cNvPr id="51" name="Rectangle 51"/>
            <p:cNvSpPr/>
            <p:nvPr/>
          </p:nvSpPr>
          <p:spPr>
            <a:xfrm>
              <a:off x="2114550" y="5810250"/>
              <a:ext cx="7962900" cy="457200"/>
            </a:xfrm>
            <a:prstGeom prst="roundRect">
              <a:avLst>
                <a:gd name="adj" fmla="val 50000"/>
              </a:avLst>
            </a:prstGeom>
            <a:solidFill>
              <a:srgbClr val="FFFFFF"/>
            </a:solidFill>
            <a:ln w="9525">
              <a:solidFill>
                <a:srgbClr val="E2E8F0"/>
              </a:solidFill>
            </a:ln>
          </p:spPr>
        </p:sp>
        <p:sp>
          <p:nvSpPr>
            <p:cNvPr id="52" name="TextBox 52"/>
            <p:cNvSpPr txBox="1"/>
            <p:nvPr/>
          </p:nvSpPr>
          <p:spPr>
            <a:xfrm>
              <a:off x="2254967" y="5967889"/>
              <a:ext cx="7682066" cy="259080"/>
            </a:xfrm>
            <a:prstGeom prst="rect">
              <a:avLst/>
            </a:prstGeom>
            <a:noFill/>
            <a:ln>
              <a:noFill/>
            </a:ln>
          </p:spPr>
          <p:txBody>
            <a:bodyPr wrap="none" lIns="0" tIns="0" rIns="0" bIns="0" anchor="t" anchorCtr="0">
              <a:spAutoFit/>
            </a:bodyPr>
            <a:lstStyle/>
            <a:p>
              <a:pPr algn="ctr"/>
              <a:r>
                <a:rPr lang="zh-CN" sz="1275" b="1" dirty="0">
                  <a:solidFill>
                    <a:srgbClr val="0F172A"/>
                  </a:solidFill>
                  <a:latin typeface="Arial"/>
                  <a:ea typeface="Microsoft YaHei"/>
                  <a:cs typeface="Arial"/>
                </a:rPr>
                <a:t>SignalScout is not just a demo: it is a practical prospecting product with a clear buyer.</a:t>
              </a:r>
            </a:p>
          </p:txBody>
        </p:sp>
      </p:grpSp>
      <p:grpSp>
        <p:nvGrpSpPr>
          <p:cNvPr id="56" name="Group 56"/>
          <p:cNvGrpSpPr/>
          <p:nvPr/>
        </p:nvGrpSpPr>
        <p:grpSpPr>
          <a:xfrm>
            <a:off x="521970" y="6417945"/>
            <a:ext cx="11148060" cy="182880"/>
            <a:chOff x="521970" y="6417945"/>
            <a:chExt cx="11148060" cy="182880"/>
          </a:xfrm>
        </p:grpSpPr>
        <p:sp>
          <p:nvSpPr>
            <p:cNvPr id="54" name="TextBox 54"/>
            <p:cNvSpPr txBox="1"/>
            <p:nvPr/>
          </p:nvSpPr>
          <p:spPr>
            <a:xfrm>
              <a:off x="521970" y="6417945"/>
              <a:ext cx="2379355"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Commercial readiness before live demo</a:t>
              </a:r>
            </a:p>
          </p:txBody>
        </p:sp>
        <p:sp>
          <p:nvSpPr>
            <p:cNvPr id="55" name="TextBox 5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0"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sp>
        <p:sp>
          <p:nvSpPr>
            <p:cNvPr id="5" name="Ellipse 5"/>
            <p:cNvSpPr/>
            <p:nvPr/>
          </p:nvSpPr>
          <p:spPr>
            <a:xfrm>
              <a:off x="800100" y="733425"/>
              <a:ext cx="114300" cy="114300"/>
            </a:xfrm>
            <a:prstGeom prst="ellipse">
              <a:avLst/>
            </a:prstGeom>
            <a:solidFill>
              <a:srgbClr val="38BDF8"/>
            </a:solidFill>
            <a:ln>
              <a:noFill/>
            </a:ln>
          </p:spPr>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 xml:space="preserve">Watch public hiring signals become </a:t>
              </a:r>
              <a:r>
                <a:rPr lang="zh-CN" sz="1950" b="1" dirty="0">
                  <a:solidFill>
                    <a:srgbClr val="0F172A"/>
                  </a:solidFill>
                  <a:latin typeface="Arial"/>
                  <a:ea typeface="Microsoft YaHei"/>
                  <a:cs typeface="Arial"/>
                </a:rPr>
                <a:t>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sp>
        <p:sp>
          <p:nvSpPr>
            <p:cNvPr id="16" name="Ellipse 16"/>
            <p:cNvSpPr/>
            <p:nvPr/>
          </p:nvSpPr>
          <p:spPr>
            <a:xfrm>
              <a:off x="8382000" y="2400300"/>
              <a:ext cx="1790700" cy="1790700"/>
            </a:xfrm>
            <a:prstGeom prst="ellipse">
              <a:avLst/>
            </a:prstGeom>
            <a:solidFill>
              <a:srgbClr val="FFFFFF"/>
            </a:solidFill>
            <a:ln w="19050">
              <a:solidFill>
                <a:srgbClr val="E2E8F0"/>
              </a:solidFill>
            </a:ln>
          </p:spPr>
        </p:sp>
        <p:sp>
          <p:nvSpPr>
            <p:cNvPr id="17" name="Ellipse 17"/>
            <p:cNvSpPr/>
            <p:nvPr/>
          </p:nvSpPr>
          <p:spPr>
            <a:xfrm>
              <a:off x="8877300" y="2895600"/>
              <a:ext cx="800100" cy="800100"/>
            </a:xfrm>
            <a:prstGeom prst="ellipse">
              <a:avLst/>
            </a:prstGeom>
            <a:solidFill>
              <a:srgbClr val="0F172A"/>
            </a:solidFill>
            <a:ln>
              <a:noFill/>
            </a:ln>
          </p:spPr>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9742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Transition slide</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2026-06-12T13:49:32Z</dcterms:created>
  <dcterms:modified xsi:type="dcterms:W3CDTF">2026-06-12T13:49:32Z</dcterms:modified>
  <cp:category/>
  <cp:contentStatus/>
</cp:coreProperties>
</file>