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6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3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scope quickly: this is not a CRM replacement or a lead list marketplace. It is a workflow from job postings to pain, priority, outreach, and team handoff.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lists age quickly, generic intent data can be broad, and manual research is slow. The opportunity is to turn current public behavior into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Use one or two rows only. RevOps and BI roles suggest reporting pressure; security roles can suggest compliance and access work. SignalScout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artifacts, not architecture: evidence, inferred pain, ranked account, opening line, and team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Name two examples, then move on. Data-dashboard agencies and AI automation providers both need timely, specific reasons to start conversations. SignalScout anchors that reason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Move from concept to product proof. Keep it concrete: 260 postings become a signal feed, Atlas Logistics becomes the top lead, and outreach plus Slack handoff are ready.</a:t>
            </a:r>
          </a:p>
          <a:p>
            <a:endParaRPr lang="zh-CN" dirty="0"/>
          </a:p>
          <a:p>
            <a:r>
              <a:rPr lang="zh-CN" dirty="0"/>
              <a:t>Point to the screenshot as product evidence, then immediately tee up the live walkthrough.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Make the commercial case before switching to the live product. SignalScout is built for B2B agencies and consultancies that need a timely reason to reach accounts already showing operational change.</a:t>
            </a:r>
          </a:p>
          <a:p>
            <a:endParaRPr lang="zh-CN" dirty="0"/>
          </a:p>
          <a:p>
            <a:r>
              <a:rPr lang="zh-CN" dirty="0"/>
              <a:t>The marketable wedge is simple: public data, daily priorities, usable sales artifacts, and workflow fit through Slack and exports.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15 to 20 seconds.</a:t>
            </a:r>
          </a:p>
          <a:p>
            <a:endParaRPr lang="zh-CN" dirty="0"/>
          </a:p>
          <a:p>
            <a:r>
              <a:rPr lang="zh-CN" dirty="0"/>
              <a:t>Transition cleanly. Now switch to the running website and prove the loop: job data to hiring signal to lead score to outreach draft to Slack digest.</a:t>
            </a:r>
          </a:p>
          <a:p>
            <a:endParaRPr lang="zh-CN" dirty="0"/>
          </a:p>
          <a:p>
            <a:r>
              <a:rPr lang="zh-CN" dirty="0"/>
              <a:t>Do not add another explanation here. Start the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txBody>
          <a:bodyPr/>
          <a:lstStyle/>
          <a:p>
            <a:endParaRPr lang="zh-SG" altLang="en-US"/>
          </a:p>
        </p:txBody>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txBody>
            <a:bodyPr/>
            <a:lstStyle/>
            <a:p>
              <a:endParaRPr lang="zh-SG" altLang="en-US"/>
            </a:p>
          </p:txBody>
        </p:sp>
        <p:sp>
          <p:nvSpPr>
            <p:cNvPr id="4" name="Ellipse 4"/>
            <p:cNvSpPr/>
            <p:nvPr/>
          </p:nvSpPr>
          <p:spPr>
            <a:xfrm>
              <a:off x="7905750" y="3810000"/>
              <a:ext cx="4000500" cy="4000500"/>
            </a:xfrm>
            <a:prstGeom prst="ellipse">
              <a:avLst/>
            </a:prstGeom>
            <a:solidFill>
              <a:srgbClr val="10B981">
                <a:alpha val="8000"/>
              </a:srgbClr>
            </a:solidFill>
            <a:ln>
              <a:noFill/>
            </a:ln>
          </p:spPr>
          <p:txBody>
            <a:bodyPr/>
            <a:lstStyle/>
            <a:p>
              <a:endParaRPr lang="zh-SG" altLang="en-US"/>
            </a:p>
          </p:txBody>
        </p:sp>
        <p:sp>
          <p:nvSpPr>
            <p:cNvPr id="5" name="Rectangle 5"/>
            <p:cNvSpPr/>
            <p:nvPr/>
          </p:nvSpPr>
          <p:spPr>
            <a:xfrm>
              <a:off x="571500" y="5676900"/>
              <a:ext cx="4267200" cy="19050"/>
            </a:xfrm>
            <a:prstGeom prst="rect">
              <a:avLst/>
            </a:prstGeom>
            <a:solidFill>
              <a:srgbClr val="10B981"/>
            </a:solidFill>
            <a:ln>
              <a:noFill/>
            </a:ln>
          </p:spPr>
          <p:txBody>
            <a:bodyPr/>
            <a:lstStyle/>
            <a:p>
              <a:endParaRPr lang="zh-SG" altLang="en-US"/>
            </a:p>
          </p:txBody>
        </p:sp>
      </p:grpSp>
      <p:grpSp>
        <p:nvGrpSpPr>
          <p:cNvPr id="13" name="Group 13"/>
          <p:cNvGrpSpPr/>
          <p:nvPr/>
        </p:nvGrpSpPr>
        <p:grpSpPr>
          <a:xfrm>
            <a:off x="571500" y="552450"/>
            <a:ext cx="3657600" cy="552450"/>
            <a:chOff x="571500" y="552450"/>
            <a:chExt cx="3657600" cy="552450"/>
          </a:xfrm>
        </p:grpSpPr>
        <p:sp>
          <p:nvSpPr>
            <p:cNvPr id="7" name="Ellipse 7"/>
            <p:cNvSpPr/>
            <p:nvPr/>
          </p:nvSpPr>
          <p:spPr>
            <a:xfrm>
              <a:off x="571500" y="552450"/>
              <a:ext cx="552450" cy="552450"/>
            </a:xfrm>
            <a:prstGeom prst="ellipse">
              <a:avLst/>
            </a:prstGeom>
            <a:solidFill>
              <a:srgbClr val="0F172A"/>
            </a:solidFill>
            <a:ln>
              <a:noFill/>
            </a:ln>
          </p:spPr>
          <p:txBody>
            <a:bodyPr/>
            <a:lstStyle/>
            <a:p>
              <a:endParaRPr lang="zh-SG" altLang="en-US"/>
            </a:p>
          </p:txBody>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txBody>
            <a:bodyPr/>
            <a:lstStyle/>
            <a:p>
              <a:endParaRPr lang="zh-SG" altLang="en-US"/>
            </a:p>
          </p:txBody>
        </p:sp>
        <p:sp>
          <p:nvSpPr>
            <p:cNvPr id="9" name="Ellipse 9"/>
            <p:cNvSpPr/>
            <p:nvPr/>
          </p:nvSpPr>
          <p:spPr>
            <a:xfrm>
              <a:off x="809625" y="781050"/>
              <a:ext cx="114300" cy="114300"/>
            </a:xfrm>
            <a:prstGeom prst="ellipse">
              <a:avLst/>
            </a:prstGeom>
            <a:solidFill>
              <a:srgbClr val="38BDF8"/>
            </a:solidFill>
            <a:ln>
              <a:noFill/>
            </a:ln>
          </p:spPr>
          <p:txBody>
            <a:bodyPr/>
            <a:lstStyle/>
            <a:p>
              <a:endParaRPr lang="zh-SG" altLang="en-US"/>
            </a:p>
          </p:txBody>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543050" cy="285750"/>
            </a:xfrm>
            <a:prstGeom prst="roundRect">
              <a:avLst>
                <a:gd name="adj" fmla="val 50000"/>
              </a:avLst>
            </a:prstGeom>
            <a:solidFill>
              <a:srgbClr val="38BDF8">
                <a:alpha val="12000"/>
              </a:srgbClr>
            </a:solidFill>
            <a:ln w="9525">
              <a:solidFill>
                <a:srgbClr val="38BDF8"/>
              </a:solidFill>
            </a:ln>
          </p:spPr>
          <p:txBody>
            <a:bodyPr/>
            <a:lstStyle/>
            <a:p>
              <a:endParaRPr lang="zh-SG" altLang="en-US"/>
            </a:p>
          </p:txBody>
        </p:sp>
        <p:sp>
          <p:nvSpPr>
            <p:cNvPr id="12" name="TextBox 12"/>
            <p:cNvSpPr txBox="1"/>
            <p:nvPr/>
          </p:nvSpPr>
          <p:spPr>
            <a:xfrm>
              <a:off x="2834279" y="771049"/>
              <a:ext cx="1246593"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Sales signal engine</a:t>
              </a:r>
            </a:p>
          </p:txBody>
        </p:sp>
      </p:grpSp>
      <p:grpSp>
        <p:nvGrpSpPr>
          <p:cNvPr id="16" name="Group 16"/>
          <p:cNvGrpSpPr/>
          <p:nvPr/>
        </p:nvGrpSpPr>
        <p:grpSpPr>
          <a:xfrm>
            <a:off x="506444" y="1491615"/>
            <a:ext cx="6393466" cy="4073843"/>
            <a:chOff x="506444" y="1491615"/>
            <a:chExt cx="6393466" cy="4073843"/>
          </a:xfrm>
        </p:grpSpPr>
        <p:sp>
          <p:nvSpPr>
            <p:cNvPr id="14" name="TextBox 14"/>
            <p:cNvSpPr txBox="1"/>
            <p:nvPr/>
          </p:nvSpPr>
          <p:spPr>
            <a:xfrm>
              <a:off x="506444" y="1491615"/>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Turn job postings into B2B buying signals.</a:t>
              </a:r>
            </a:p>
          </p:txBody>
        </p:sp>
        <p:sp>
          <p:nvSpPr>
            <p:cNvPr id="15" name="TextBox 15"/>
            <p:cNvSpPr txBox="1"/>
            <p:nvPr/>
          </p:nvSpPr>
          <p:spPr>
            <a:xfrm>
              <a:off x="533400" y="4875848"/>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SignalScout connects public hiring behavior 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txBody>
            <a:bodyPr/>
            <a:lstStyle/>
            <a:p>
              <a:endParaRPr lang="zh-SG" altLang="en-US"/>
            </a:p>
          </p:txBody>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txBody>
            <a:bodyPr/>
            <a:lstStyle/>
            <a:p>
              <a:endParaRPr lang="zh-SG" altLang="en-US"/>
            </a:p>
          </p:txBody>
        </p:sp>
        <p:pic>
          <p:nvPicPr>
            <p:cNvPr id="19" name="Image 19"/>
            <p:cNvPicPr>
              <a:picLocks noChangeAspect="1"/>
            </p:cNvPicPr>
            <p:nvPr/>
          </p:nvPicPr>
          <p:blipFill>
            <a:blip r:embed="rId3"/>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txBody>
            <a:bodyPr/>
            <a:lstStyle/>
            <a:p>
              <a:endParaRPr lang="zh-SG" altLang="en-US"/>
            </a:p>
          </p:txBody>
        </p:sp>
        <p:sp>
          <p:nvSpPr>
            <p:cNvPr id="21" name="Rectangle 21"/>
            <p:cNvSpPr/>
            <p:nvPr/>
          </p:nvSpPr>
          <p:spPr>
            <a:xfrm>
              <a:off x="7010400" y="5124450"/>
              <a:ext cx="4343400" cy="419100"/>
            </a:xfrm>
            <a:prstGeom prst="roundRect">
              <a:avLst>
                <a:gd name="adj" fmla="val 50000"/>
              </a:avLst>
            </a:prstGeom>
            <a:solidFill>
              <a:srgbClr val="0F172A"/>
            </a:solidFill>
            <a:ln>
              <a:noFill/>
            </a:ln>
          </p:spPr>
          <p:txBody>
            <a:bodyPr/>
            <a:lstStyle/>
            <a:p>
              <a:endParaRPr lang="zh-SG" altLang="en-US"/>
            </a:p>
          </p:txBody>
        </p:sp>
        <p:sp>
          <p:nvSpPr>
            <p:cNvPr id="22" name="TextBox 22"/>
            <p:cNvSpPr txBox="1"/>
            <p:nvPr/>
          </p:nvSpPr>
          <p:spPr>
            <a:xfrm>
              <a:off x="7876151" y="5269706"/>
              <a:ext cx="261189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Hiring signals become sales action</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Public hiring behavior -&gt; ranked outreach</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pic>
        <p:nvPicPr>
          <p:cNvPr id="28" name="图片 27">
            <a:extLst>
              <a:ext uri="{FF2B5EF4-FFF2-40B4-BE49-F238E27FC236}">
                <a16:creationId xmlns:a16="http://schemas.microsoft.com/office/drawing/2014/main" id="{8350E785-FC31-E196-8CE0-ABA85C8ABD4C}"/>
              </a:ext>
            </a:extLst>
          </p:cNvPr>
          <p:cNvPicPr>
            <a:picLocks noChangeAspect="1"/>
          </p:cNvPicPr>
          <p:nvPr/>
        </p:nvPicPr>
        <p:blipFill>
          <a:blip r:embed="rId4"/>
          <a:stretch>
            <a:fillRect/>
          </a:stretch>
        </p:blipFill>
        <p:spPr>
          <a:xfrm>
            <a:off x="549006" y="545563"/>
            <a:ext cx="597437" cy="5974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txBody>
            <a:bodyPr/>
            <a:lstStyle/>
            <a:p>
              <a:endParaRPr lang="zh-SG" altLang="en-US"/>
            </a:p>
          </p:txBody>
        </p:sp>
        <p:sp>
          <p:nvSpPr>
            <p:cNvPr id="9" name="Rectangle 9"/>
            <p:cNvSpPr/>
            <p:nvPr/>
          </p:nvSpPr>
          <p:spPr>
            <a:xfrm>
              <a:off x="685800" y="2076450"/>
              <a:ext cx="4762500" cy="514350"/>
            </a:xfrm>
            <a:prstGeom prst="roundRect">
              <a:avLst>
                <a:gd name="adj" fmla="val 25926"/>
              </a:avLst>
            </a:prstGeom>
            <a:solidFill>
              <a:srgbClr val="0F172A"/>
            </a:solidFill>
            <a:ln>
              <a:noFill/>
            </a:ln>
          </p:spPr>
          <p:txBody>
            <a:bodyPr/>
            <a:lstStyle/>
            <a:p>
              <a:endParaRPr lang="zh-SG" altLang="en-US"/>
            </a:p>
          </p:txBody>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txBody>
              <a:bodyPr/>
              <a:lstStyle/>
              <a:p>
                <a:endParaRPr lang="zh-SG" altLang="en-US"/>
              </a:p>
            </p:txBody>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txBody>
              <a:bodyPr/>
              <a:lstStyle/>
              <a:p>
                <a:endParaRPr lang="zh-SG" altLang="en-US"/>
              </a:p>
            </p:txBody>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txBody>
              <a:bodyPr/>
              <a:lstStyle/>
              <a:p>
                <a:endParaRPr lang="zh-SG" altLang="en-US"/>
              </a:p>
            </p:txBody>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txBody>
            <a:bodyPr/>
            <a:lstStyle/>
            <a:p>
              <a:endParaRPr lang="zh-SG" altLang="en-US"/>
            </a:p>
          </p:txBody>
        </p:sp>
        <p:sp>
          <p:nvSpPr>
            <p:cNvPr id="21" name="Rectangle 21"/>
            <p:cNvSpPr/>
            <p:nvPr/>
          </p:nvSpPr>
          <p:spPr>
            <a:xfrm>
              <a:off x="6743700" y="2076450"/>
              <a:ext cx="4762500" cy="514350"/>
            </a:xfrm>
            <a:prstGeom prst="roundRect">
              <a:avLst>
                <a:gd name="adj" fmla="val 25926"/>
              </a:avLst>
            </a:prstGeom>
            <a:solidFill>
              <a:srgbClr val="10B981"/>
            </a:solidFill>
            <a:ln>
              <a:noFill/>
            </a:ln>
          </p:spPr>
          <p:txBody>
            <a:bodyPr/>
            <a:lstStyle/>
            <a:p>
              <a:endParaRPr lang="zh-SG" altLang="en-US"/>
            </a:p>
          </p:txBody>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txBody>
              <a:bodyPr/>
              <a:lstStyle/>
              <a:p>
                <a:endParaRPr lang="zh-SG" altLang="en-US"/>
              </a:p>
            </p:txBody>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txBody>
              <a:bodyPr/>
              <a:lstStyle/>
              <a:p>
                <a:endParaRPr lang="zh-SG" altLang="en-US"/>
              </a:p>
            </p:txBody>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txBody>
              <a:bodyPr/>
              <a:lstStyle/>
              <a:p>
                <a:endParaRPr lang="zh-SG" altLang="en-US"/>
              </a:p>
            </p:txBody>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txBody>
            <a:bodyPr/>
            <a:lstStyle/>
            <a:p>
              <a:endParaRPr lang="zh-SG" altLang="en-US"/>
            </a:p>
          </p:txBody>
        </p:sp>
        <p:sp>
          <p:nvSpPr>
            <p:cNvPr id="33" name="Ellipse 33"/>
            <p:cNvSpPr/>
            <p:nvPr/>
          </p:nvSpPr>
          <p:spPr>
            <a:xfrm>
              <a:off x="5734050" y="3067050"/>
              <a:ext cx="723900" cy="723900"/>
            </a:xfrm>
            <a:prstGeom prst="ellipse">
              <a:avLst/>
            </a:prstGeom>
            <a:solidFill>
              <a:srgbClr val="FFFFFF"/>
            </a:solidFill>
            <a:ln w="19050">
              <a:solidFill>
                <a:srgbClr val="E2E8F0"/>
              </a:solidFill>
            </a:ln>
          </p:spPr>
          <p:txBody>
            <a:bodyPr/>
            <a:lstStyle/>
            <a:p>
              <a:endParaRPr lang="zh-SG" altLang="en-US"/>
            </a:p>
          </p:txBody>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txBody>
            <a:bodyPr/>
            <a:lstStyle/>
            <a:p>
              <a:endParaRPr lang="zh-SG" altLang="en-US"/>
            </a:p>
          </p:txBody>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Timing and evidence beat static lead lists</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txBody>
            <a:bodyPr/>
            <a:lstStyle/>
            <a:p>
              <a:endParaRPr lang="zh-SG" altLang="en-US"/>
            </a:p>
          </p:txBody>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txBody>
            <a:bodyPr/>
            <a:lstStyle/>
            <a:p>
              <a:endParaRPr lang="zh-SG" altLang="en-US"/>
            </a:p>
          </p:txBody>
        </p:sp>
        <p:sp>
          <p:nvSpPr>
            <p:cNvPr id="9" name="Rectangle 9"/>
            <p:cNvSpPr/>
            <p:nvPr/>
          </p:nvSpPr>
          <p:spPr>
            <a:xfrm>
              <a:off x="685800" y="1905000"/>
              <a:ext cx="10820400" cy="533400"/>
            </a:xfrm>
            <a:prstGeom prst="roundRect">
              <a:avLst>
                <a:gd name="adj" fmla="val 25000"/>
              </a:avLst>
            </a:prstGeom>
            <a:solidFill>
              <a:srgbClr val="0F172A"/>
            </a:solidFill>
            <a:ln>
              <a:noFill/>
            </a:ln>
          </p:spPr>
          <p:txBody>
            <a:bodyPr/>
            <a:lstStyle/>
            <a:p>
              <a:endParaRPr lang="zh-SG" altLang="en-US"/>
            </a:p>
          </p:txBody>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txBody>
            <a:bodyPr/>
            <a:lstStyle/>
            <a:p>
              <a:endParaRPr lang="zh-SG" altLang="en-US"/>
            </a:p>
          </p:txBody>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txBody>
            <a:bodyPr/>
            <a:lstStyle/>
            <a:p>
              <a:endParaRPr lang="zh-SG" altLang="en-US"/>
            </a:p>
          </p:txBody>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txBody>
              <a:bodyPr/>
              <a:lstStyle/>
              <a:p>
                <a:endParaRPr lang="zh-SG" altLang="en-US"/>
              </a:p>
            </p:txBody>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txBody>
              <a:bodyPr/>
              <a:lstStyle/>
              <a:p>
                <a:endParaRPr lang="zh-SG" altLang="en-US"/>
              </a:p>
            </p:txBody>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383483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Hiring patterns are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txBody>
            <a:bodyPr/>
            <a:lstStyle/>
            <a:p>
              <a:endParaRPr lang="zh-SG" altLang="en-US"/>
            </a:p>
          </p:txBody>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txBody>
            <a:bodyPr/>
            <a:lstStyle/>
            <a:p>
              <a:endParaRPr lang="zh-SG" altLang="en-US"/>
            </a:p>
          </p:txBody>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txBody>
              <a:bodyPr/>
              <a:lstStyle/>
              <a:p>
                <a:endParaRPr lang="zh-SG" altLang="en-US"/>
              </a:p>
            </p:txBody>
          </p:sp>
          <p:sp>
            <p:nvSpPr>
              <p:cNvPr id="10" name="Ellipse 10"/>
              <p:cNvSpPr/>
              <p:nvPr/>
            </p:nvSpPr>
            <p:spPr>
              <a:xfrm>
                <a:off x="13811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txBody>
                <a:bodyPr/>
                <a:lstStyle/>
                <a:p>
                  <a:endParaRPr lang="zh-SG" altLang="en-US"/>
                </a:p>
              </p:txBody>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txBody>
                <a:bodyPr/>
                <a:lstStyle/>
                <a:p>
                  <a:endParaRPr lang="zh-SG" altLang="en-US"/>
                </a:p>
              </p:txBody>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txBody>
                <a:bodyPr/>
                <a:lstStyle/>
                <a:p>
                  <a:endParaRPr lang="zh-SG" altLang="en-US"/>
                </a:p>
              </p:txBody>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Postings by company 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txBody>
              <a:bodyPr/>
              <a:lstStyle/>
              <a:p>
                <a:endParaRPr lang="zh-SG" altLang="en-US"/>
              </a:p>
            </p:txBody>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txBody>
              <a:bodyPr/>
              <a:lstStyle/>
              <a:p>
                <a:endParaRPr lang="zh-SG" altLang="en-US"/>
              </a:p>
            </p:txBody>
          </p:sp>
          <p:sp>
            <p:nvSpPr>
              <p:cNvPr id="21" name="Ellipse 21"/>
              <p:cNvSpPr/>
              <p:nvPr/>
            </p:nvSpPr>
            <p:spPr>
              <a:xfrm>
                <a:off x="35528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txBody>
                <a:bodyPr/>
                <a:lstStyle/>
                <a:p>
                  <a:endParaRPr lang="zh-SG" altLang="en-US"/>
                </a:p>
              </p:txBody>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txBody>
                <a:bodyPr/>
                <a:lstStyle/>
                <a:p>
                  <a:endParaRPr lang="zh-SG" altLang="en-US"/>
                </a:p>
              </p:txBody>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txBody>
                <a:bodyPr/>
                <a:lstStyle/>
                <a:p>
                  <a:endParaRPr lang="zh-SG" altLang="en-US"/>
                </a:p>
              </p:txBody>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txBody>
                <a:bodyPr/>
                <a:lstStyle/>
                <a:p>
                  <a:endParaRPr lang="zh-SG" altLang="en-US"/>
                </a:p>
              </p:txBody>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Role pattern plus 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txBody>
              <a:bodyPr/>
              <a:lstStyle/>
              <a:p>
                <a:endParaRPr lang="zh-SG" altLang="en-US"/>
              </a:p>
            </p:txBody>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txBody>
              <a:bodyPr/>
              <a:lstStyle/>
              <a:p>
                <a:endParaRPr lang="zh-SG" altLang="en-US"/>
              </a:p>
            </p:txBody>
          </p:sp>
          <p:sp>
            <p:nvSpPr>
              <p:cNvPr id="33" name="Ellipse 33"/>
              <p:cNvSpPr/>
              <p:nvPr/>
            </p:nvSpPr>
            <p:spPr>
              <a:xfrm>
                <a:off x="5724525" y="2295525"/>
                <a:ext cx="590550" cy="590550"/>
              </a:xfrm>
              <a:prstGeom prst="ellipse">
                <a:avLst/>
              </a:prstGeom>
              <a:solidFill>
                <a:srgbClr val="0F172A"/>
              </a:solidFill>
              <a:ln>
                <a:noFill/>
              </a:ln>
            </p:spPr>
            <p:txBody>
              <a:bodyPr/>
              <a:lstStyle/>
              <a:p>
                <a:endParaRPr lang="zh-SG" altLang="en-US"/>
              </a:p>
            </p:txBody>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txBody>
                <a:bodyPr/>
                <a:lstStyle/>
                <a:p>
                  <a:endParaRPr lang="zh-SG" altLang="en-US"/>
                </a:p>
              </p:txBody>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txBody>
                <a:bodyPr/>
                <a:lstStyle/>
                <a:p>
                  <a:endParaRPr lang="zh-SG" altLang="en-US"/>
                </a:p>
              </p:txBody>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txBody>
                <a:bodyPr/>
                <a:lstStyle/>
                <a:p>
                  <a:endParaRPr lang="zh-SG" altLang="en-US"/>
                </a:p>
              </p:txBody>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txBody>
                <a:bodyPr/>
                <a:lstStyle/>
                <a:p>
                  <a:endParaRPr lang="zh-SG" altLang="en-US"/>
                </a:p>
              </p:txBody>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Relevance, urgency, 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txBody>
              <a:bodyPr/>
              <a:lstStyle/>
              <a:p>
                <a:endParaRPr lang="zh-SG" altLang="en-US"/>
              </a:p>
            </p:txBody>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txBody>
              <a:bodyPr/>
              <a:lstStyle/>
              <a:p>
                <a:endParaRPr lang="zh-SG" altLang="en-US"/>
              </a:p>
            </p:txBody>
          </p:sp>
          <p:sp>
            <p:nvSpPr>
              <p:cNvPr id="45" name="Ellipse 45"/>
              <p:cNvSpPr/>
              <p:nvPr/>
            </p:nvSpPr>
            <p:spPr>
              <a:xfrm>
                <a:off x="78962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txBody>
                <a:bodyPr/>
                <a:lstStyle/>
                <a:p>
                  <a:endParaRPr lang="zh-SG" altLang="en-US"/>
                </a:p>
              </p:txBody>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txBody>
                <a:bodyPr/>
                <a:lstStyle/>
                <a:p>
                  <a:endParaRPr lang="zh-SG" altLang="en-US"/>
                </a:p>
              </p:txBody>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txBody>
                <a:bodyPr/>
                <a:lstStyle/>
                <a:p>
                  <a:endParaRPr lang="zh-SG" altLang="en-US"/>
                </a:p>
              </p:txBody>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txBody>
                <a:bodyPr/>
                <a:lstStyle/>
                <a:p>
                  <a:endParaRPr lang="zh-SG" altLang="en-US"/>
                </a:p>
              </p:txBody>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Grounded opening 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txBody>
              <a:bodyPr/>
              <a:lstStyle/>
              <a:p>
                <a:endParaRPr lang="zh-SG" altLang="en-US"/>
              </a:p>
            </p:txBody>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txBody>
              <a:bodyPr/>
              <a:lstStyle/>
              <a:p>
                <a:endParaRPr lang="zh-SG" altLang="en-US"/>
              </a:p>
            </p:txBody>
          </p:sp>
          <p:sp>
            <p:nvSpPr>
              <p:cNvPr id="57" name="Ellipse 57"/>
              <p:cNvSpPr/>
              <p:nvPr/>
            </p:nvSpPr>
            <p:spPr>
              <a:xfrm>
                <a:off x="10067925" y="2295525"/>
                <a:ext cx="590550" cy="590550"/>
              </a:xfrm>
              <a:prstGeom prst="ellipse">
                <a:avLst/>
              </a:prstGeom>
              <a:solidFill>
                <a:srgbClr val="FFFFFF"/>
              </a:solidFill>
              <a:ln w="19050">
                <a:solidFill>
                  <a:srgbClr val="10B981"/>
                </a:solidFill>
              </a:ln>
            </p:spPr>
            <p:txBody>
              <a:bodyPr/>
              <a:lstStyle/>
              <a:p>
                <a:endParaRPr lang="zh-SG" altLang="en-US"/>
              </a:p>
            </p:txBody>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txBody>
                <a:bodyPr/>
                <a:lstStyle/>
                <a:p>
                  <a:endParaRPr lang="zh-SG" altLang="en-US"/>
                </a:p>
              </p:txBody>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txBody>
                <a:bodyPr/>
                <a:lstStyle/>
                <a:p>
                  <a:endParaRPr lang="zh-SG" altLang="en-US"/>
                </a:p>
              </p:txBody>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Morning team 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txBody>
              <a:bodyPr/>
              <a:lstStyle/>
              <a:p>
                <a:endParaRPr lang="zh-SG" altLang="en-US"/>
              </a:p>
            </p:txBody>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txBody>
            <a:bodyPr/>
            <a:lstStyle/>
            <a:p>
              <a:endParaRPr lang="zh-SG" altLang="en-US"/>
            </a:p>
          </p:txBody>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26418" y="5631656"/>
              <a:ext cx="4739164"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workflow credible for a real sales team.</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txBody>
          <a:bodyPr/>
          <a:lstStyle/>
          <a:p>
            <a:endParaRPr lang="zh-SG" altLang="en-US"/>
          </a:p>
        </p:txBody>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txBody>
              <a:bodyPr/>
              <a:lstStyle/>
              <a:p>
                <a:endParaRPr lang="zh-SG" altLang="en-US"/>
              </a:p>
            </p:txBody>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txBody>
                <a:bodyPr/>
                <a:lstStyle/>
                <a:p>
                  <a:endParaRPr lang="zh-SG" altLang="en-US"/>
                </a:p>
              </p:txBody>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txBody>
                <a:bodyPr/>
                <a:lstStyle/>
                <a:p>
                  <a:endParaRPr lang="zh-SG" altLang="en-US"/>
                </a:p>
              </p:txBody>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txBody>
                <a:bodyPr/>
                <a:lstStyle/>
                <a:p>
                  <a:endParaRPr lang="zh-SG" altLang="en-US"/>
                </a:p>
              </p:txBody>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txBody>
                <a:bodyPr/>
                <a:lstStyle/>
                <a:p>
                  <a:endParaRPr lang="zh-SG" altLang="en-US"/>
                </a:p>
              </p:txBody>
            </p:sp>
          </p:grpSp>
          <p:sp>
            <p:nvSpPr>
              <p:cNvPr id="15" name="TextBox 15"/>
              <p:cNvSpPr txBox="1"/>
              <p:nvPr/>
            </p:nvSpPr>
            <p:spPr>
              <a:xfrm>
                <a:off x="1363980" y="219741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73505" y="24450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RevOps and BI roles signal reporting pain, dashboard backlog, and 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txBody>
              <a:bodyPr/>
              <a:lstStyle/>
              <a:p>
                <a:endParaRPr lang="zh-SG" altLang="en-US"/>
              </a:p>
            </p:txBody>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txBody>
                <a:bodyPr/>
                <a:lstStyle/>
                <a:p>
                  <a:endParaRPr lang="zh-SG" altLang="en-US"/>
                </a:p>
              </p:txBody>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txBody>
                <a:bodyPr/>
                <a:lstStyle/>
                <a:p>
                  <a:endParaRPr lang="zh-SG" altLang="en-US"/>
                </a:p>
              </p:txBody>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txBody>
                <a:bodyPr/>
                <a:lstStyle/>
                <a:p>
                  <a:endParaRPr lang="zh-SG" altLang="en-US"/>
                </a:p>
              </p:txBody>
            </p:sp>
          </p:grpSp>
          <p:sp>
            <p:nvSpPr>
              <p:cNvPr id="25" name="TextBox 25"/>
              <p:cNvSpPr txBox="1"/>
              <p:nvPr/>
            </p:nvSpPr>
            <p:spPr>
              <a:xfrm>
                <a:off x="4116705" y="2206942"/>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16705" y="246411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Cloud engineers and SRE roles point to reliability, modernization, and platform 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txBody>
              <a:bodyPr/>
              <a:lstStyle/>
              <a:p>
                <a:endParaRPr lang="zh-SG" altLang="en-US"/>
              </a:p>
            </p:txBody>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txBody>
                <a:bodyPr/>
                <a:lstStyle/>
                <a:p>
                  <a:endParaRPr lang="zh-SG" altLang="en-US"/>
                </a:p>
              </p:txBody>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txBody>
                <a:bodyPr/>
                <a:lstStyle/>
                <a:p>
                  <a:endParaRPr lang="zh-SG" altLang="en-US"/>
                </a:p>
              </p:txBody>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txBody>
                <a:bodyPr/>
                <a:lstStyle/>
                <a:p>
                  <a:endParaRPr lang="zh-SG" altLang="en-US"/>
                </a:p>
              </p:txBody>
            </p:sp>
          </p:grpSp>
          <p:sp>
            <p:nvSpPr>
              <p:cNvPr id="35" name="TextBox 35"/>
              <p:cNvSpPr txBox="1"/>
              <p:nvPr/>
            </p:nvSpPr>
            <p:spPr>
              <a:xfrm>
                <a:off x="6888480" y="21783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4450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Security, compliance, and IAM hiring can reveal access, risk readiness, and audit 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txBody>
              <a:bodyPr/>
              <a:lstStyle/>
              <a:p>
                <a:endParaRPr lang="zh-SG" altLang="en-US"/>
              </a:p>
            </p:txBody>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txBody>
              <a:bodyPr/>
              <a:lstStyle/>
              <a:p>
                <a:endParaRPr lang="zh-SG" altLang="en-US"/>
              </a:p>
            </p:txBody>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txBody>
                <a:bodyPr/>
                <a:lstStyle/>
                <a:p>
                  <a:endParaRPr lang="zh-SG" altLang="en-US"/>
                </a:p>
              </p:txBody>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txBody>
                <a:bodyPr/>
                <a:lstStyle/>
                <a:p>
                  <a:endParaRPr lang="zh-SG" altLang="en-US"/>
                </a:p>
              </p:txBody>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txBody>
                <a:bodyPr/>
                <a:lstStyle/>
                <a:p>
                  <a:endParaRPr lang="zh-SG" altLang="en-US"/>
                </a:p>
              </p:txBody>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txBody>
                <a:bodyPr/>
                <a:lstStyle/>
                <a:p>
                  <a:endParaRPr lang="zh-SG" altLang="en-US"/>
                </a:p>
              </p:txBody>
            </p:sp>
          </p:grpSp>
          <p:sp>
            <p:nvSpPr>
              <p:cNvPr id="46" name="TextBox 46"/>
              <p:cNvSpPr txBox="1"/>
              <p:nvPr/>
            </p:nvSpPr>
            <p:spPr>
              <a:xfrm>
                <a:off x="9641205" y="2168842"/>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69780" y="2435542"/>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Automation and operations roles suggest process gaps that service providers can 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txBody>
            <a:bodyPr/>
            <a:lstStyle/>
            <a:p>
              <a:endParaRPr lang="zh-SG" altLang="en-US"/>
            </a:p>
          </p:txBody>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txBody>
              <a:bodyPr/>
              <a:lstStyle/>
              <a:p>
                <a:endParaRPr lang="zh-SG" altLang="en-US"/>
              </a:p>
            </p:txBody>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txBody>
              <a:bodyPr/>
              <a:lstStyle/>
              <a:p>
                <a:endParaRPr lang="zh-SG" altLang="en-US"/>
              </a:p>
            </p:txBody>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txBody>
              <a:bodyPr/>
              <a:lstStyle/>
              <a:p>
                <a:endParaRPr lang="zh-SG" altLang="en-US"/>
              </a:p>
            </p:txBody>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txBody>
              <a:bodyPr/>
              <a:lstStyle/>
              <a:p>
                <a:endParaRPr lang="zh-SG" altLang="en-US"/>
              </a:p>
            </p:txBody>
          </p:sp>
        </p:grpSp>
        <p:sp>
          <p:nvSpPr>
            <p:cNvPr id="57" name="TextBox 57"/>
            <p:cNvSpPr txBox="1"/>
            <p:nvPr/>
          </p:nvSpPr>
          <p:spPr>
            <a:xfrm>
              <a:off x="2058379" y="5785485"/>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311024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Beachhead ICP: service providers selling expertise</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a:p>
        </p:txBody>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txBody>
            <a:bodyPr/>
            <a:lstStyle/>
            <a:p>
              <a:endParaRPr lang="zh-SG" altLang="en-US"/>
            </a:p>
          </p:txBody>
        </p:sp>
        <p:sp>
          <p:nvSpPr>
            <p:cNvPr id="4" name="TextBox 4"/>
            <p:cNvSpPr txBox="1"/>
            <p:nvPr/>
          </p:nvSpPr>
          <p:spPr>
            <a:xfrm>
              <a:off x="717810" y="456321"/>
              <a:ext cx="602729" cy="138499"/>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a:t>
              </a:r>
              <a:r>
                <a:rPr lang="en-SG" altLang="zh-CN" sz="900" b="1" dirty="0">
                  <a:solidFill>
                    <a:srgbClr val="0F172A"/>
                  </a:solidFill>
                  <a:latin typeface="Arial"/>
                  <a:ea typeface="Microsoft YaHei"/>
                  <a:cs typeface="Arial"/>
                </a:rPr>
                <a:t>R</a:t>
              </a:r>
              <a:r>
                <a:rPr lang="zh-CN" sz="900" b="1" dirty="0">
                  <a:solidFill>
                    <a:srgbClr val="0F172A"/>
                  </a:solidFill>
                  <a:latin typeface="Arial"/>
                  <a:ea typeface="Microsoft YaHei"/>
                  <a:cs typeface="Arial"/>
                </a:rPr>
                <a:t> PROOF</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already completes the loop.</a:t>
              </a:r>
            </a:p>
          </p:txBody>
        </p:sp>
        <p:sp>
          <p:nvSpPr>
            <p:cNvPr id="6" name="TextBox 6"/>
            <p:cNvSpPr txBox="1"/>
            <p:nvPr/>
          </p:nvSpPr>
          <p:spPr>
            <a:xfrm>
              <a:off x="516255" y="1302068"/>
              <a:ext cx="347272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ranked sales action.</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txBody>
            <a:bodyPr/>
            <a:lstStyle/>
            <a:p>
              <a:endParaRPr lang="zh-SG" altLang="en-US"/>
            </a:p>
          </p:txBody>
        </p:sp>
        <p:grpSp>
          <p:nvGrpSpPr>
            <p:cNvPr id="16" name="Group 16"/>
            <p:cNvGrpSpPr/>
            <p:nvPr/>
          </p:nvGrpSpPr>
          <p:grpSpPr>
            <a:xfrm>
              <a:off x="685800" y="2054542"/>
              <a:ext cx="3160104" cy="710089"/>
              <a:chOff x="685800" y="2054542"/>
              <a:chExt cx="3160104" cy="710089"/>
            </a:xfrm>
          </p:grpSpPr>
          <p:sp>
            <p:nvSpPr>
              <p:cNvPr id="9" name="Ellipse 9"/>
              <p:cNvSpPr/>
              <p:nvPr/>
            </p:nvSpPr>
            <p:spPr>
              <a:xfrm>
                <a:off x="685800" y="2057400"/>
                <a:ext cx="457200" cy="457200"/>
              </a:xfrm>
              <a:prstGeom prst="ellipse">
                <a:avLst/>
              </a:prstGeom>
              <a:solidFill>
                <a:srgbClr val="10B981"/>
              </a:solidFill>
              <a:ln>
                <a:noFill/>
              </a:ln>
            </p:spPr>
            <p:txBody>
              <a:bodyPr/>
              <a:lstStyle/>
              <a:p>
                <a:endParaRPr lang="zh-SG" altLang="en-US"/>
              </a:p>
            </p:txBody>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txBody>
                <a:bodyPr/>
                <a:lstStyle/>
                <a:p>
                  <a:endParaRPr lang="zh-SG" altLang="en-US"/>
                </a:p>
              </p:txBody>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grpSp>
          <p:sp>
            <p:nvSpPr>
              <p:cNvPr id="14" name="TextBox 14"/>
              <p:cNvSpPr txBox="1"/>
              <p:nvPr/>
            </p:nvSpPr>
            <p:spPr>
              <a:xfrm>
                <a:off x="1335405" y="205454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-&gt; signal feed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Seed postings become provider-style job signals.</a:t>
                </a:r>
              </a:p>
            </p:txBody>
          </p:sp>
        </p:grpSp>
        <p:grpSp>
          <p:nvGrpSpPr>
            <p:cNvPr id="25" name="Group 25"/>
            <p:cNvGrpSpPr/>
            <p:nvPr/>
          </p:nvGrpSpPr>
          <p:grpSpPr>
            <a:xfrm>
              <a:off x="685800" y="3368992"/>
              <a:ext cx="3112849" cy="710089"/>
              <a:chOff x="685800" y="3368992"/>
              <a:chExt cx="3112849" cy="710089"/>
            </a:xfrm>
          </p:grpSpPr>
          <p:sp>
            <p:nvSpPr>
              <p:cNvPr id="17" name="Ellipse 17"/>
              <p:cNvSpPr/>
              <p:nvPr/>
            </p:nvSpPr>
            <p:spPr>
              <a:xfrm>
                <a:off x="685800" y="3371850"/>
                <a:ext cx="457200" cy="457200"/>
              </a:xfrm>
              <a:prstGeom prst="ellipse">
                <a:avLst/>
              </a:prstGeom>
              <a:solidFill>
                <a:srgbClr val="0F172A"/>
              </a:solidFill>
              <a:ln>
                <a:noFill/>
              </a:ln>
            </p:spPr>
            <p:txBody>
              <a:bodyPr/>
              <a:lstStyle/>
              <a:p>
                <a:endParaRPr lang="zh-SG" altLang="en-US"/>
              </a:p>
            </p:txBody>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txBody>
                <a:bodyPr/>
                <a:lstStyle/>
                <a:p>
                  <a:endParaRPr lang="zh-SG" altLang="en-US"/>
                </a:p>
              </p:txBody>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txBody>
                <a:bodyPr/>
                <a:lstStyle/>
                <a:p>
                  <a:endParaRPr lang="zh-SG" altLang="en-US"/>
                </a:p>
              </p:txBody>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txBody>
                <a:bodyPr/>
                <a:lstStyle/>
                <a:p>
                  <a:endParaRPr lang="zh-SG" altLang="en-US"/>
                </a:p>
              </p:txBody>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txBody>
                <a:bodyPr/>
                <a:lstStyle/>
                <a:p>
                  <a:endParaRPr lang="zh-SG" altLang="en-US"/>
                </a:p>
              </p:txBody>
            </p:sp>
          </p:grpSp>
          <p:sp>
            <p:nvSpPr>
              <p:cNvPr id="23" name="TextBox 23"/>
              <p:cNvSpPr txBox="1"/>
              <p:nvPr/>
            </p:nvSpPr>
            <p:spPr>
              <a:xfrm>
                <a:off x="1335405" y="3368992"/>
                <a:ext cx="246324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-&gt; top lead</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Score, evidence, and pain sit in one workspace.</a:t>
                </a:r>
              </a:p>
            </p:txBody>
          </p:sp>
        </p:grpSp>
        <p:grpSp>
          <p:nvGrpSpPr>
            <p:cNvPr id="32" name="Group 32"/>
            <p:cNvGrpSpPr/>
            <p:nvPr/>
          </p:nvGrpSpPr>
          <p:grpSpPr>
            <a:xfrm>
              <a:off x="685800" y="4673918"/>
              <a:ext cx="3084495" cy="710088"/>
              <a:chOff x="685800" y="4673918"/>
              <a:chExt cx="3084495" cy="710088"/>
            </a:xfrm>
          </p:grpSpPr>
          <p:sp>
            <p:nvSpPr>
              <p:cNvPr id="26" name="Ellipse 26"/>
              <p:cNvSpPr/>
              <p:nvPr/>
            </p:nvSpPr>
            <p:spPr>
              <a:xfrm>
                <a:off x="685800" y="4676775"/>
                <a:ext cx="457200" cy="457200"/>
              </a:xfrm>
              <a:prstGeom prst="ellipse">
                <a:avLst/>
              </a:prstGeom>
              <a:solidFill>
                <a:srgbClr val="38BDF8"/>
              </a:solidFill>
              <a:ln>
                <a:noFill/>
              </a:ln>
            </p:spPr>
            <p:txBody>
              <a:bodyPr/>
              <a:lstStyle/>
              <a:p>
                <a:endParaRPr lang="zh-SG" altLang="en-US"/>
              </a:p>
            </p:txBody>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txBody>
                <a:bodyPr/>
                <a:lstStyle/>
                <a:p>
                  <a:endParaRPr lang="zh-SG" altLang="en-US"/>
                </a:p>
              </p:txBody>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txBody>
                <a:bodyPr/>
                <a:lstStyle/>
                <a:p>
                  <a:endParaRPr lang="zh-SG" altLang="en-US"/>
                </a:p>
              </p:txBody>
            </p:sp>
          </p:grpSp>
          <p:sp>
            <p:nvSpPr>
              <p:cNvPr id="30" name="TextBox 30"/>
              <p:cNvSpPr txBox="1"/>
              <p:nvPr/>
            </p:nvSpPr>
            <p:spPr>
              <a:xfrm>
                <a:off x="1335405" y="4673918"/>
                <a:ext cx="243489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Outreach + Slack -&gt;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The seller moves from 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txBody>
            <a:bodyPr/>
            <a:lstStyle/>
            <a:p>
              <a:endParaRPr lang="zh-SG" altLang="en-US"/>
            </a:p>
          </p:txBody>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txBody>
            <a:bodyPr/>
            <a:lstStyle/>
            <a:p>
              <a:endParaRPr lang="zh-SG" altLang="en-US"/>
            </a:p>
          </p:txBody>
        </p:sp>
        <p:pic>
          <p:nvPicPr>
            <p:cNvPr id="36" name="Image 36"/>
            <p:cNvPicPr>
              <a:picLocks noChangeAspect="1"/>
            </p:cNvPicPr>
            <p:nvPr/>
          </p:nvPicPr>
          <p:blipFill>
            <a:blip r:embed="rId3"/>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txBody>
            <a:bodyPr/>
            <a:lstStyle/>
            <a:p>
              <a:endParaRPr lang="zh-SG" altLang="en-US"/>
            </a:p>
          </p:txBody>
        </p:sp>
      </p:grpSp>
      <p:grpSp>
        <p:nvGrpSpPr>
          <p:cNvPr id="41" name="Group 41"/>
          <p:cNvGrpSpPr/>
          <p:nvPr/>
        </p:nvGrpSpPr>
        <p:grpSpPr>
          <a:xfrm>
            <a:off x="2876550" y="6000750"/>
            <a:ext cx="6438900" cy="400050"/>
            <a:chOff x="2876550" y="6000750"/>
            <a:chExt cx="6438900"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txBody>
            <a:bodyPr/>
            <a:lstStyle/>
            <a:p>
              <a:endParaRPr lang="zh-SG" altLang="en-US"/>
            </a:p>
          </p:txBody>
        </p:sp>
        <p:sp>
          <p:nvSpPr>
            <p:cNvPr id="40" name="TextBox 40"/>
            <p:cNvSpPr txBox="1"/>
            <p:nvPr/>
          </p:nvSpPr>
          <p:spPr>
            <a:xfrm>
              <a:off x="3287411" y="6128385"/>
              <a:ext cx="5617178"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Concrete outcome: signal feed -&gt; ranked account -&gt; seller handoff.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275110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product proof: data -&gt; rank -&gt; handoff</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txBody>
          <a:bodyPr/>
          <a:lstStyle/>
          <a:p>
            <a:endParaRPr lang="zh-SG" altLang="en-US"/>
          </a:p>
        </p:txBody>
      </p:sp>
      <p:grpSp>
        <p:nvGrpSpPr>
          <p:cNvPr id="7" name="Group 7"/>
          <p:cNvGrpSpPr/>
          <p:nvPr/>
        </p:nvGrpSpPr>
        <p:grpSpPr>
          <a:xfrm>
            <a:off x="493395" y="381000"/>
            <a:ext cx="8509206" cy="1195388"/>
            <a:chOff x="493395" y="381000"/>
            <a:chExt cx="8509206" cy="1195388"/>
          </a:xfrm>
        </p:grpSpPr>
        <p:sp>
          <p:nvSpPr>
            <p:cNvPr id="3" name="Rectangle 3"/>
            <p:cNvSpPr/>
            <p:nvPr/>
          </p:nvSpPr>
          <p:spPr>
            <a:xfrm>
              <a:off x="533400" y="381000"/>
              <a:ext cx="1466850" cy="2667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4" name="TextBox 4"/>
            <p:cNvSpPr txBox="1"/>
            <p:nvPr/>
          </p:nvSpPr>
          <p:spPr>
            <a:xfrm>
              <a:off x="694625" y="474345"/>
              <a:ext cx="1144400"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COMMERCIAL READY</a:t>
              </a:r>
            </a:p>
          </p:txBody>
        </p:sp>
        <p:sp>
          <p:nvSpPr>
            <p:cNvPr id="5" name="TextBox 5"/>
            <p:cNvSpPr txBox="1"/>
            <p:nvPr/>
          </p:nvSpPr>
          <p:spPr>
            <a:xfrm>
              <a:off x="493395" y="764858"/>
              <a:ext cx="7180998"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Ready to sell into service teams.</a:t>
              </a:r>
            </a:p>
          </p:txBody>
        </p:sp>
        <p:sp>
          <p:nvSpPr>
            <p:cNvPr id="6" name="TextBox 6"/>
            <p:cNvSpPr txBox="1"/>
            <p:nvPr/>
          </p:nvSpPr>
          <p:spPr>
            <a:xfrm>
              <a:off x="516255" y="1302068"/>
              <a:ext cx="848634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product packages a daily outbound workflow agencies can adopt without changing their CRM.</a:t>
              </a:r>
            </a:p>
          </p:txBody>
        </p:sp>
      </p:grpSp>
      <p:grpSp>
        <p:nvGrpSpPr>
          <p:cNvPr id="14" name="Group 14"/>
          <p:cNvGrpSpPr/>
          <p:nvPr/>
        </p:nvGrpSpPr>
        <p:grpSpPr>
          <a:xfrm>
            <a:off x="533400" y="1962150"/>
            <a:ext cx="3638550" cy="3390900"/>
            <a:chOff x="533400" y="1962150"/>
            <a:chExt cx="3638550" cy="3390900"/>
          </a:xfrm>
        </p:grpSpPr>
        <p:sp>
          <p:nvSpPr>
            <p:cNvPr id="8" name="Rectangle 8"/>
            <p:cNvSpPr/>
            <p:nvPr/>
          </p:nvSpPr>
          <p:spPr>
            <a:xfrm>
              <a:off x="533400" y="1962150"/>
              <a:ext cx="3638550" cy="3390900"/>
            </a:xfrm>
            <a:prstGeom prst="roundRect">
              <a:avLst>
                <a:gd name="adj" fmla="val 5056"/>
              </a:avLst>
            </a:prstGeom>
            <a:solidFill>
              <a:srgbClr val="0F172A"/>
            </a:solidFill>
            <a:ln>
              <a:noFill/>
            </a:ln>
          </p:spPr>
          <p:txBody>
            <a:bodyPr/>
            <a:lstStyle/>
            <a:p>
              <a:endParaRPr lang="zh-SG" altLang="en-US"/>
            </a:p>
          </p:txBody>
        </p:sp>
        <p:sp>
          <p:nvSpPr>
            <p:cNvPr id="9" name="TextBox 9"/>
            <p:cNvSpPr txBox="1"/>
            <p:nvPr/>
          </p:nvSpPr>
          <p:spPr>
            <a:xfrm>
              <a:off x="804862" y="2278856"/>
              <a:ext cx="1107585" cy="228600"/>
            </a:xfrm>
            <a:prstGeom prst="rect">
              <a:avLst/>
            </a:prstGeom>
            <a:noFill/>
            <a:ln>
              <a:noFill/>
            </a:ln>
          </p:spPr>
          <p:txBody>
            <a:bodyPr wrap="none" lIns="0" tIns="0" rIns="0" bIns="0" anchor="t" anchorCtr="0">
              <a:spAutoFit/>
            </a:bodyPr>
            <a:lstStyle/>
            <a:p>
              <a:pPr algn="l"/>
              <a:r>
                <a:rPr lang="zh-CN" sz="1125" b="1" dirty="0">
                  <a:solidFill>
                    <a:srgbClr val="38BDF8"/>
                  </a:solidFill>
                  <a:latin typeface="Arial"/>
                  <a:ea typeface="Microsoft YaHei"/>
                  <a:cs typeface="Arial"/>
                </a:rPr>
                <a:t>PRIMARY BUYER</a:t>
              </a:r>
            </a:p>
          </p:txBody>
        </p:sp>
        <p:sp>
          <p:nvSpPr>
            <p:cNvPr id="10" name="TextBox 10"/>
            <p:cNvSpPr txBox="1"/>
            <p:nvPr/>
          </p:nvSpPr>
          <p:spPr>
            <a:xfrm>
              <a:off x="786765" y="2639378"/>
              <a:ext cx="2989135" cy="918210"/>
            </a:xfrm>
            <a:prstGeom prst="rect">
              <a:avLst/>
            </a:prstGeom>
            <a:noFill/>
            <a:ln>
              <a:noFill/>
            </a:ln>
          </p:spPr>
          <p:txBody>
            <a:bodyPr wrap="square" lIns="0" tIns="0" rIns="0" bIns="0" anchor="t" anchorCtr="0"/>
            <a:lstStyle/>
            <a:p>
              <a:pPr algn="l">
                <a:lnSpc>
                  <a:spcPts val="3150"/>
                </a:lnSpc>
              </a:pPr>
              <a:r>
                <a:rPr lang="zh-CN" sz="2550" b="1" dirty="0">
                  <a:solidFill>
                    <a:srgbClr val="FFFFFF"/>
                  </a:solidFill>
                  <a:latin typeface="Georgia"/>
                  <a:ea typeface="Microsoft YaHei"/>
                  <a:cs typeface="Georgia"/>
                </a:rPr>
                <a:t>B2B agencies and consultancies</a:t>
              </a:r>
            </a:p>
          </p:txBody>
        </p:sp>
        <p:sp>
          <p:nvSpPr>
            <p:cNvPr id="11" name="TextBox 11"/>
            <p:cNvSpPr txBox="1"/>
            <p:nvPr/>
          </p:nvSpPr>
          <p:spPr>
            <a:xfrm>
              <a:off x="862251" y="3500035"/>
              <a:ext cx="2404586" cy="1059180"/>
            </a:xfrm>
            <a:prstGeom prst="rect">
              <a:avLst/>
            </a:prstGeom>
            <a:noFill/>
            <a:ln>
              <a:noFill/>
            </a:ln>
          </p:spPr>
          <p:txBody>
            <a:bodyPr wrap="square" lIns="0" tIns="0" rIns="0" bIns="0" anchor="t" anchorCtr="0"/>
            <a:lstStyle/>
            <a:p>
              <a:pPr algn="l">
                <a:lnSpc>
                  <a:spcPts val="2100"/>
                </a:lnSpc>
              </a:pPr>
              <a:r>
                <a:rPr lang="zh-CN" sz="1275" dirty="0">
                  <a:solidFill>
                    <a:srgbClr val="E2E8F0"/>
                  </a:solidFill>
                  <a:latin typeface="Arial"/>
                  <a:ea typeface="Microsoft YaHei"/>
                  <a:cs typeface="Arial"/>
                </a:rPr>
                <a:t>They already sell expertise. SignalScout tells them which accounts have timely evidence for a focused conversation.</a:t>
              </a:r>
            </a:p>
          </p:txBody>
        </p:sp>
        <p:sp>
          <p:nvSpPr>
            <p:cNvPr id="12" name="Rectangle 12"/>
            <p:cNvSpPr/>
            <p:nvPr/>
          </p:nvSpPr>
          <p:spPr>
            <a:xfrm>
              <a:off x="819150" y="4686300"/>
              <a:ext cx="2057400" cy="342900"/>
            </a:xfrm>
            <a:prstGeom prst="roundRect">
              <a:avLst>
                <a:gd name="adj" fmla="val 50000"/>
              </a:avLst>
            </a:prstGeom>
            <a:solidFill>
              <a:srgbClr val="10B981"/>
            </a:solidFill>
            <a:ln>
              <a:noFill/>
            </a:ln>
          </p:spPr>
          <p:txBody>
            <a:bodyPr/>
            <a:lstStyle/>
            <a:p>
              <a:endParaRPr lang="zh-SG" altLang="en-US"/>
            </a:p>
          </p:txBody>
        </p:sp>
        <p:sp>
          <p:nvSpPr>
            <p:cNvPr id="13" name="TextBox 13"/>
            <p:cNvSpPr txBox="1"/>
            <p:nvPr/>
          </p:nvSpPr>
          <p:spPr>
            <a:xfrm>
              <a:off x="1179635" y="4774882"/>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Clear first wedge</a:t>
              </a:r>
            </a:p>
          </p:txBody>
        </p:sp>
      </p:grpSp>
      <p:grpSp>
        <p:nvGrpSpPr>
          <p:cNvPr id="50" name="Group 50"/>
          <p:cNvGrpSpPr/>
          <p:nvPr/>
        </p:nvGrpSpPr>
        <p:grpSpPr>
          <a:xfrm>
            <a:off x="4629150" y="1962150"/>
            <a:ext cx="7238166" cy="3390900"/>
            <a:chOff x="4629150" y="1962150"/>
            <a:chExt cx="7238166" cy="3390900"/>
          </a:xfrm>
        </p:grpSpPr>
        <p:sp>
          <p:nvSpPr>
            <p:cNvPr id="15" name="Rectangle 15"/>
            <p:cNvSpPr/>
            <p:nvPr/>
          </p:nvSpPr>
          <p:spPr>
            <a:xfrm>
              <a:off x="4629150" y="1962150"/>
              <a:ext cx="7029450" cy="3390900"/>
            </a:xfrm>
            <a:prstGeom prst="roundRect">
              <a:avLst>
                <a:gd name="adj" fmla="val 5056"/>
              </a:avLst>
            </a:prstGeom>
            <a:solidFill>
              <a:srgbClr val="FFFFFF"/>
            </a:solidFill>
            <a:ln w="9525">
              <a:solidFill>
                <a:srgbClr val="E2E8F0"/>
              </a:solidFill>
            </a:ln>
          </p:spPr>
          <p:txBody>
            <a:bodyPr/>
            <a:lstStyle/>
            <a:p>
              <a:endParaRPr lang="zh-SG" altLang="en-US"/>
            </a:p>
          </p:txBody>
        </p:sp>
        <p:sp>
          <p:nvSpPr>
            <p:cNvPr id="16" name="Line 16"/>
            <p:cNvSpPr/>
            <p:nvPr/>
          </p:nvSpPr>
          <p:spPr>
            <a:xfrm>
              <a:off x="5162550" y="2552700"/>
              <a:ext cx="9525" cy="2133600"/>
            </a:xfrm>
            <a:custGeom>
              <a:avLst/>
              <a:gdLst/>
              <a:ahLst/>
              <a:cxnLst/>
              <a:rect l="l" t="t" r="r" b="b"/>
              <a:pathLst>
                <a:path w="9525" h="2133600">
                  <a:moveTo>
                    <a:pt x="0" y="0"/>
                  </a:moveTo>
                  <a:lnTo>
                    <a:pt x="0" y="2133600"/>
                  </a:lnTo>
                </a:path>
              </a:pathLst>
            </a:custGeom>
            <a:noFill/>
            <a:ln w="28575">
              <a:solidFill>
                <a:srgbClr val="E2E8F0"/>
              </a:solidFill>
            </a:ln>
          </p:spPr>
          <p:txBody>
            <a:bodyPr/>
            <a:lstStyle/>
            <a:p>
              <a:endParaRPr lang="zh-SG" altLang="en-US"/>
            </a:p>
          </p:txBody>
        </p:sp>
        <p:grpSp>
          <p:nvGrpSpPr>
            <p:cNvPr id="24" name="Group 24"/>
            <p:cNvGrpSpPr/>
            <p:nvPr/>
          </p:nvGrpSpPr>
          <p:grpSpPr>
            <a:xfrm>
              <a:off x="4933950" y="2324100"/>
              <a:ext cx="6438304" cy="545306"/>
              <a:chOff x="4933950" y="2324100"/>
              <a:chExt cx="6438304" cy="545306"/>
            </a:xfrm>
          </p:grpSpPr>
          <p:sp>
            <p:nvSpPr>
              <p:cNvPr id="17" name="Ellipse 17"/>
              <p:cNvSpPr/>
              <p:nvPr/>
            </p:nvSpPr>
            <p:spPr>
              <a:xfrm>
                <a:off x="4933950" y="2324100"/>
                <a:ext cx="457200" cy="457200"/>
              </a:xfrm>
              <a:prstGeom prst="ellipse">
                <a:avLst/>
              </a:prstGeom>
              <a:solidFill>
                <a:srgbClr val="10B981"/>
              </a:solidFill>
              <a:ln>
                <a:noFill/>
              </a:ln>
            </p:spPr>
            <p:txBody>
              <a:bodyPr/>
              <a:lstStyle/>
              <a:p>
                <a:endParaRPr lang="zh-SG" altLang="en-US"/>
              </a:p>
            </p:txBody>
          </p:sp>
          <p:grpSp>
            <p:nvGrpSpPr>
              <p:cNvPr id="21" name="Group 21"/>
              <p:cNvGrpSpPr/>
              <p:nvPr/>
            </p:nvGrpSpPr>
            <p:grpSpPr>
              <a:xfrm>
                <a:off x="5073650" y="2452688"/>
                <a:ext cx="177800" cy="200024"/>
                <a:chOff x="5073650" y="2452688"/>
                <a:chExt cx="177800" cy="200024"/>
              </a:xfrm>
            </p:grpSpPr>
            <p:sp>
              <p:nvSpPr>
                <p:cNvPr id="18" name="Freeform 18"/>
                <p:cNvSpPr/>
                <p:nvPr/>
              </p:nvSpPr>
              <p:spPr>
                <a:xfrm>
                  <a:off x="5073650" y="24526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txBody>
                <a:bodyPr/>
                <a:lstStyle/>
                <a:p>
                  <a:endParaRPr lang="zh-SG" altLang="en-US"/>
                </a:p>
              </p:txBody>
            </p:sp>
            <p:sp>
              <p:nvSpPr>
                <p:cNvPr id="19" name="Freeform 19"/>
                <p:cNvSpPr/>
                <p:nvPr/>
              </p:nvSpPr>
              <p:spPr>
                <a:xfrm>
                  <a:off x="5073650" y="24860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sp>
              <p:nvSpPr>
                <p:cNvPr id="20" name="Freeform 20"/>
                <p:cNvSpPr/>
                <p:nvPr/>
              </p:nvSpPr>
              <p:spPr>
                <a:xfrm>
                  <a:off x="5073650" y="25527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txBody>
                <a:bodyPr/>
                <a:lstStyle/>
                <a:p>
                  <a:endParaRPr lang="zh-SG" altLang="en-US"/>
                </a:p>
              </p:txBody>
            </p:sp>
          </p:grpSp>
          <p:sp>
            <p:nvSpPr>
              <p:cNvPr id="22" name="TextBox 22"/>
              <p:cNvSpPr txBox="1"/>
              <p:nvPr/>
            </p:nvSpPr>
            <p:spPr>
              <a:xfrm>
                <a:off x="5600700" y="2333625"/>
                <a:ext cx="197034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Runs on public data</a:t>
                </a:r>
              </a:p>
            </p:txBody>
          </p:sp>
          <p:sp>
            <p:nvSpPr>
              <p:cNvPr id="23" name="TextBox 23"/>
              <p:cNvSpPr txBox="1"/>
              <p:nvPr/>
            </p:nvSpPr>
            <p:spPr>
              <a:xfrm>
                <a:off x="5605462" y="2640806"/>
                <a:ext cx="576679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Job postings are observable, repeatable, and refreshed by the market itself.</a:t>
                </a:r>
              </a:p>
            </p:txBody>
          </p:sp>
        </p:grpSp>
        <p:grpSp>
          <p:nvGrpSpPr>
            <p:cNvPr id="33" name="Group 33"/>
            <p:cNvGrpSpPr/>
            <p:nvPr/>
          </p:nvGrpSpPr>
          <p:grpSpPr>
            <a:xfrm>
              <a:off x="4933950" y="3038475"/>
              <a:ext cx="6933366" cy="545306"/>
              <a:chOff x="4933950" y="3038475"/>
              <a:chExt cx="6933366" cy="545306"/>
            </a:xfrm>
          </p:grpSpPr>
          <p:sp>
            <p:nvSpPr>
              <p:cNvPr id="25" name="Ellipse 25"/>
              <p:cNvSpPr/>
              <p:nvPr/>
            </p:nvSpPr>
            <p:spPr>
              <a:xfrm>
                <a:off x="4933950" y="3038475"/>
                <a:ext cx="457200" cy="457200"/>
              </a:xfrm>
              <a:prstGeom prst="ellipse">
                <a:avLst/>
              </a:prstGeom>
              <a:solidFill>
                <a:srgbClr val="38BDF8"/>
              </a:solidFill>
              <a:ln>
                <a:noFill/>
              </a:ln>
            </p:spPr>
            <p:txBody>
              <a:bodyPr/>
              <a:lstStyle/>
              <a:p>
                <a:endParaRPr lang="zh-SG" altLang="en-US"/>
              </a:p>
            </p:txBody>
          </p:sp>
          <p:grpSp>
            <p:nvGrpSpPr>
              <p:cNvPr id="30" name="Group 30"/>
              <p:cNvGrpSpPr/>
              <p:nvPr/>
            </p:nvGrpSpPr>
            <p:grpSpPr>
              <a:xfrm>
                <a:off x="5062538" y="3178175"/>
                <a:ext cx="200025" cy="187325"/>
                <a:chOff x="5062538" y="3178175"/>
                <a:chExt cx="200025" cy="187325"/>
              </a:xfrm>
            </p:grpSpPr>
            <p:sp>
              <p:nvSpPr>
                <p:cNvPr id="26" name="Freeform 26"/>
                <p:cNvSpPr/>
                <p:nvPr/>
              </p:nvSpPr>
              <p:spPr>
                <a:xfrm>
                  <a:off x="5062538" y="3267075"/>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txBody>
                <a:bodyPr/>
                <a:lstStyle/>
                <a:p>
                  <a:endParaRPr lang="zh-SG" altLang="en-US"/>
                </a:p>
              </p:txBody>
            </p:sp>
            <p:sp>
              <p:nvSpPr>
                <p:cNvPr id="27" name="Freeform 27"/>
                <p:cNvSpPr/>
                <p:nvPr/>
              </p:nvSpPr>
              <p:spPr>
                <a:xfrm>
                  <a:off x="5195888" y="3222625"/>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txBody>
                <a:bodyPr/>
                <a:lstStyle/>
                <a:p>
                  <a:endParaRPr lang="zh-SG" altLang="en-US"/>
                </a:p>
              </p:txBody>
            </p:sp>
            <p:sp>
              <p:nvSpPr>
                <p:cNvPr id="28" name="Freeform 28"/>
                <p:cNvSpPr/>
                <p:nvPr/>
              </p:nvSpPr>
              <p:spPr>
                <a:xfrm>
                  <a:off x="5129212" y="3178175"/>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txBody>
                <a:bodyPr/>
                <a:lstStyle/>
                <a:p>
                  <a:endParaRPr lang="zh-SG" altLang="en-US"/>
                </a:p>
              </p:txBody>
            </p:sp>
            <p:sp>
              <p:nvSpPr>
                <p:cNvPr id="29" name="Freeform 29"/>
                <p:cNvSpPr/>
                <p:nvPr/>
              </p:nvSpPr>
              <p:spPr>
                <a:xfrm>
                  <a:off x="5073650" y="3355975"/>
                  <a:ext cx="155575" cy="9525"/>
                </a:xfrm>
                <a:custGeom>
                  <a:avLst/>
                  <a:gdLst/>
                  <a:ahLst/>
                  <a:cxnLst/>
                  <a:rect l="l" t="t" r="r" b="b"/>
                  <a:pathLst>
                    <a:path w="155575" h="9525">
                      <a:moveTo>
                        <a:pt x="0" y="0"/>
                      </a:moveTo>
                      <a:lnTo>
                        <a:pt x="155575" y="0"/>
                      </a:lnTo>
                    </a:path>
                  </a:pathLst>
                </a:custGeom>
                <a:noFill/>
                <a:ln w="19050">
                  <a:solidFill>
                    <a:srgbClr val="FFFFFF"/>
                  </a:solidFill>
                </a:ln>
              </p:spPr>
              <p:txBody>
                <a:bodyPr/>
                <a:lstStyle/>
                <a:p>
                  <a:endParaRPr lang="zh-SG" altLang="en-US"/>
                </a:p>
              </p:txBody>
            </p:sp>
          </p:grpSp>
          <p:sp>
            <p:nvSpPr>
              <p:cNvPr id="31" name="TextBox 31"/>
              <p:cNvSpPr txBox="1"/>
              <p:nvPr/>
            </p:nvSpPr>
            <p:spPr>
              <a:xfrm>
                <a:off x="5600700" y="3048000"/>
                <a:ext cx="297846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Produces a daily priority list</a:t>
                </a:r>
              </a:p>
            </p:txBody>
          </p:sp>
          <p:sp>
            <p:nvSpPr>
              <p:cNvPr id="32" name="TextBox 32"/>
              <p:cNvSpPr txBox="1"/>
              <p:nvPr/>
            </p:nvSpPr>
            <p:spPr>
              <a:xfrm>
                <a:off x="5605462" y="3355181"/>
                <a:ext cx="626185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buyer receives ranked accounts with evidence instead of another raw lead table.</a:t>
                </a:r>
              </a:p>
            </p:txBody>
          </p:sp>
        </p:grpSp>
        <p:grpSp>
          <p:nvGrpSpPr>
            <p:cNvPr id="42" name="Group 42"/>
            <p:cNvGrpSpPr/>
            <p:nvPr/>
          </p:nvGrpSpPr>
          <p:grpSpPr>
            <a:xfrm>
              <a:off x="4933950" y="3752850"/>
              <a:ext cx="6220777" cy="545306"/>
              <a:chOff x="4933950" y="3752850"/>
              <a:chExt cx="6220777" cy="545306"/>
            </a:xfrm>
          </p:grpSpPr>
          <p:sp>
            <p:nvSpPr>
              <p:cNvPr id="34" name="Ellipse 34"/>
              <p:cNvSpPr/>
              <p:nvPr/>
            </p:nvSpPr>
            <p:spPr>
              <a:xfrm>
                <a:off x="4933950" y="3752850"/>
                <a:ext cx="457200" cy="457200"/>
              </a:xfrm>
              <a:prstGeom prst="ellipse">
                <a:avLst/>
              </a:prstGeom>
              <a:solidFill>
                <a:srgbClr val="0F172A"/>
              </a:solidFill>
              <a:ln>
                <a:noFill/>
              </a:ln>
            </p:spPr>
            <p:txBody>
              <a:bodyPr/>
              <a:lstStyle/>
              <a:p>
                <a:endParaRPr lang="zh-SG" altLang="en-US"/>
              </a:p>
            </p:txBody>
          </p:sp>
          <p:grpSp>
            <p:nvGrpSpPr>
              <p:cNvPr id="39" name="Group 39"/>
              <p:cNvGrpSpPr/>
              <p:nvPr/>
            </p:nvGrpSpPr>
            <p:grpSpPr>
              <a:xfrm>
                <a:off x="5062538" y="3892550"/>
                <a:ext cx="200025" cy="188912"/>
                <a:chOff x="5062538" y="3892550"/>
                <a:chExt cx="200025" cy="188912"/>
              </a:xfrm>
            </p:grpSpPr>
            <p:sp>
              <p:nvSpPr>
                <p:cNvPr id="35" name="Freeform 35"/>
                <p:cNvSpPr/>
                <p:nvPr/>
              </p:nvSpPr>
              <p:spPr>
                <a:xfrm>
                  <a:off x="5118100" y="3948112"/>
                  <a:ext cx="88900" cy="9525"/>
                </a:xfrm>
                <a:custGeom>
                  <a:avLst/>
                  <a:gdLst/>
                  <a:ahLst/>
                  <a:cxnLst/>
                  <a:rect l="l" t="t" r="r" b="b"/>
                  <a:pathLst>
                    <a:path w="88900" h="9525">
                      <a:moveTo>
                        <a:pt x="0" y="0"/>
                      </a:moveTo>
                      <a:lnTo>
                        <a:pt x="88900" y="0"/>
                      </a:lnTo>
                    </a:path>
                  </a:pathLst>
                </a:custGeom>
                <a:noFill/>
                <a:ln w="19050">
                  <a:solidFill>
                    <a:srgbClr val="FFFFFF"/>
                  </a:solidFill>
                </a:ln>
              </p:spPr>
              <p:txBody>
                <a:bodyPr/>
                <a:lstStyle/>
                <a:p>
                  <a:endParaRPr lang="zh-SG" altLang="en-US"/>
                </a:p>
              </p:txBody>
            </p:sp>
            <p:sp>
              <p:nvSpPr>
                <p:cNvPr id="36" name="Freeform 36"/>
                <p:cNvSpPr/>
                <p:nvPr/>
              </p:nvSpPr>
              <p:spPr>
                <a:xfrm>
                  <a:off x="5118100" y="3992562"/>
                  <a:ext cx="66675" cy="9525"/>
                </a:xfrm>
                <a:custGeom>
                  <a:avLst/>
                  <a:gdLst/>
                  <a:ahLst/>
                  <a:cxnLst/>
                  <a:rect l="l" t="t" r="r" b="b"/>
                  <a:pathLst>
                    <a:path w="66675" h="9525">
                      <a:moveTo>
                        <a:pt x="0" y="0"/>
                      </a:moveTo>
                      <a:lnTo>
                        <a:pt x="66675" y="0"/>
                      </a:lnTo>
                    </a:path>
                  </a:pathLst>
                </a:custGeom>
                <a:noFill/>
                <a:ln w="19050">
                  <a:solidFill>
                    <a:srgbClr val="FFFFFF"/>
                  </a:solidFill>
                </a:ln>
              </p:spPr>
              <p:txBody>
                <a:bodyPr/>
                <a:lstStyle/>
                <a:p>
                  <a:endParaRPr lang="zh-SG" altLang="en-US"/>
                </a:p>
              </p:txBody>
            </p:sp>
            <p:sp>
              <p:nvSpPr>
                <p:cNvPr id="37" name="Freeform 37"/>
                <p:cNvSpPr/>
                <p:nvPr/>
              </p:nvSpPr>
              <p:spPr>
                <a:xfrm>
                  <a:off x="5062538" y="3892550"/>
                  <a:ext cx="200025" cy="188912"/>
                </a:xfrm>
                <a:custGeom>
                  <a:avLst/>
                  <a:gdLst/>
                  <a:ahLst/>
                  <a:cxnLst/>
                  <a:rect l="l" t="t" r="r" b="b"/>
                  <a:pathLst>
                    <a:path w="200025" h="188912">
                      <a:moveTo>
                        <a:pt x="100012" y="188912"/>
                      </a:moveTo>
                      <a:lnTo>
                        <a:pt x="88900" y="177800"/>
                      </a:lnTo>
                      <a:lnTo>
                        <a:pt x="66675" y="155575"/>
                      </a:lnTo>
                      <a:lnTo>
                        <a:pt x="33338" y="155575"/>
                      </a:lnTo>
                      <a:cubicBezTo>
                        <a:pt x="14926" y="155575"/>
                        <a:pt x="0" y="140649"/>
                        <a:pt x="0" y="122237"/>
                      </a:cubicBezTo>
                      <a:lnTo>
                        <a:pt x="0" y="33338"/>
                      </a:lnTo>
                      <a:cubicBezTo>
                        <a:pt x="0" y="14926"/>
                        <a:pt x="14926" y="0"/>
                        <a:pt x="33338" y="0"/>
                      </a:cubicBezTo>
                      <a:lnTo>
                        <a:pt x="166688" y="0"/>
                      </a:lnTo>
                      <a:cubicBezTo>
                        <a:pt x="185099" y="0"/>
                        <a:pt x="200025" y="14926"/>
                        <a:pt x="200025" y="33338"/>
                      </a:cubicBezTo>
                      <a:lnTo>
                        <a:pt x="200025" y="100012"/>
                      </a:lnTo>
                    </a:path>
                  </a:pathLst>
                </a:custGeom>
                <a:noFill/>
                <a:ln w="19050">
                  <a:solidFill>
                    <a:srgbClr val="FFFFFF"/>
                  </a:solidFill>
                </a:ln>
              </p:spPr>
              <p:txBody>
                <a:bodyPr/>
                <a:lstStyle/>
                <a:p>
                  <a:endParaRPr lang="zh-SG" altLang="en-US"/>
                </a:p>
              </p:txBody>
            </p:sp>
            <p:sp>
              <p:nvSpPr>
                <p:cNvPr id="38" name="Freeform 38"/>
                <p:cNvSpPr/>
                <p:nvPr/>
              </p:nvSpPr>
              <p:spPr>
                <a:xfrm>
                  <a:off x="5195888" y="4037012"/>
                  <a:ext cx="66675" cy="44450"/>
                </a:xfrm>
                <a:custGeom>
                  <a:avLst/>
                  <a:gdLst/>
                  <a:ahLst/>
                  <a:cxnLst/>
                  <a:rect l="l" t="t" r="r" b="b"/>
                  <a:pathLst>
                    <a:path w="66675" h="44450">
                      <a:moveTo>
                        <a:pt x="0" y="22225"/>
                      </a:moveTo>
                      <a:lnTo>
                        <a:pt x="22225" y="44450"/>
                      </a:lnTo>
                      <a:lnTo>
                        <a:pt x="66675" y="0"/>
                      </a:lnTo>
                    </a:path>
                  </a:pathLst>
                </a:custGeom>
                <a:noFill/>
                <a:ln w="19050">
                  <a:solidFill>
                    <a:srgbClr val="FFFFFF"/>
                  </a:solidFill>
                </a:ln>
              </p:spPr>
              <p:txBody>
                <a:bodyPr/>
                <a:lstStyle/>
                <a:p>
                  <a:endParaRPr lang="zh-SG" altLang="en-US"/>
                </a:p>
              </p:txBody>
            </p:sp>
          </p:grpSp>
          <p:sp>
            <p:nvSpPr>
              <p:cNvPr id="40" name="TextBox 40"/>
              <p:cNvSpPr txBox="1"/>
              <p:nvPr/>
            </p:nvSpPr>
            <p:spPr>
              <a:xfrm>
                <a:off x="5600700" y="3762375"/>
                <a:ext cx="3188494"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Creates usable sales artifacts</a:t>
                </a:r>
              </a:p>
            </p:txBody>
          </p:sp>
          <p:sp>
            <p:nvSpPr>
              <p:cNvPr id="41" name="TextBox 41"/>
              <p:cNvSpPr txBox="1"/>
              <p:nvPr/>
            </p:nvSpPr>
            <p:spPr>
              <a:xfrm>
                <a:off x="5605462" y="4069556"/>
                <a:ext cx="554926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lead comes with inferred pain, proof, and a grounded outreach draft.</a:t>
                </a:r>
              </a:p>
            </p:txBody>
          </p:sp>
        </p:grpSp>
        <p:grpSp>
          <p:nvGrpSpPr>
            <p:cNvPr id="49" name="Group 49"/>
            <p:cNvGrpSpPr/>
            <p:nvPr/>
          </p:nvGrpSpPr>
          <p:grpSpPr>
            <a:xfrm>
              <a:off x="4933950" y="4457700"/>
              <a:ext cx="6655831" cy="545306"/>
              <a:chOff x="4933950" y="4457700"/>
              <a:chExt cx="6655831" cy="545306"/>
            </a:xfrm>
          </p:grpSpPr>
          <p:sp>
            <p:nvSpPr>
              <p:cNvPr id="43" name="Ellipse 43"/>
              <p:cNvSpPr/>
              <p:nvPr/>
            </p:nvSpPr>
            <p:spPr>
              <a:xfrm>
                <a:off x="4933950" y="4457700"/>
                <a:ext cx="457200" cy="457200"/>
              </a:xfrm>
              <a:prstGeom prst="ellipse">
                <a:avLst/>
              </a:prstGeom>
              <a:solidFill>
                <a:srgbClr val="F59E0B"/>
              </a:solidFill>
              <a:ln>
                <a:noFill/>
              </a:ln>
            </p:spPr>
            <p:txBody>
              <a:bodyPr/>
              <a:lstStyle/>
              <a:p>
                <a:endParaRPr lang="zh-SG" altLang="en-US"/>
              </a:p>
            </p:txBody>
          </p:sp>
          <p:grpSp>
            <p:nvGrpSpPr>
              <p:cNvPr id="46" name="Group 46"/>
              <p:cNvGrpSpPr/>
              <p:nvPr/>
            </p:nvGrpSpPr>
            <p:grpSpPr>
              <a:xfrm>
                <a:off x="5058972" y="4586288"/>
                <a:ext cx="203591" cy="203591"/>
                <a:chOff x="5058972" y="4586288"/>
                <a:chExt cx="203591" cy="203591"/>
              </a:xfrm>
            </p:grpSpPr>
            <p:sp>
              <p:nvSpPr>
                <p:cNvPr id="44" name="Freeform 44"/>
                <p:cNvSpPr/>
                <p:nvPr/>
              </p:nvSpPr>
              <p:spPr>
                <a:xfrm>
                  <a:off x="51403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txBody>
                <a:bodyPr/>
                <a:lstStyle/>
                <a:p>
                  <a:endParaRPr lang="zh-SG" altLang="en-US"/>
                </a:p>
              </p:txBody>
            </p:sp>
            <p:sp>
              <p:nvSpPr>
                <p:cNvPr id="45" name="Freeform 45"/>
                <p:cNvSpPr/>
                <p:nvPr/>
              </p:nvSpPr>
              <p:spPr>
                <a:xfrm>
                  <a:off x="50589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txBody>
                <a:bodyPr/>
                <a:lstStyle/>
                <a:p>
                  <a:endParaRPr lang="zh-SG" altLang="en-US"/>
                </a:p>
              </p:txBody>
            </p:sp>
          </p:grpSp>
          <p:sp>
            <p:nvSpPr>
              <p:cNvPr id="47" name="TextBox 47"/>
              <p:cNvSpPr txBox="1"/>
              <p:nvPr/>
            </p:nvSpPr>
            <p:spPr>
              <a:xfrm>
                <a:off x="5600700" y="4467225"/>
                <a:ext cx="266342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Fits existing sales motion</a:t>
                </a:r>
              </a:p>
            </p:txBody>
          </p:sp>
          <p:sp>
            <p:nvSpPr>
              <p:cNvPr id="48" name="TextBox 48"/>
              <p:cNvSpPr txBox="1"/>
              <p:nvPr/>
            </p:nvSpPr>
            <p:spPr>
              <a:xfrm>
                <a:off x="5605462" y="477440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Slack digest and export paths make the workflow easy to pilot with a small team.</a:t>
                </a:r>
              </a:p>
            </p:txBody>
          </p:sp>
        </p:grpSp>
      </p:grpSp>
      <p:grpSp>
        <p:nvGrpSpPr>
          <p:cNvPr id="53" name="Group 53"/>
          <p:cNvGrpSpPr/>
          <p:nvPr/>
        </p:nvGrpSpPr>
        <p:grpSpPr>
          <a:xfrm>
            <a:off x="2114550" y="5810250"/>
            <a:ext cx="7962900" cy="457200"/>
            <a:chOff x="2114550" y="5810250"/>
            <a:chExt cx="7962900" cy="457200"/>
          </a:xfrm>
        </p:grpSpPr>
        <p:sp>
          <p:nvSpPr>
            <p:cNvPr id="51" name="Rectangle 51"/>
            <p:cNvSpPr/>
            <p:nvPr/>
          </p:nvSpPr>
          <p:spPr>
            <a:xfrm>
              <a:off x="2114550" y="5810250"/>
              <a:ext cx="7962900" cy="457200"/>
            </a:xfrm>
            <a:prstGeom prst="roundRect">
              <a:avLst>
                <a:gd name="adj" fmla="val 50000"/>
              </a:avLst>
            </a:prstGeom>
            <a:solidFill>
              <a:srgbClr val="FFFFFF"/>
            </a:solidFill>
            <a:ln w="9525">
              <a:solidFill>
                <a:srgbClr val="E2E8F0"/>
              </a:solidFill>
            </a:ln>
          </p:spPr>
          <p:txBody>
            <a:bodyPr/>
            <a:lstStyle/>
            <a:p>
              <a:endParaRPr lang="zh-SG" altLang="en-US"/>
            </a:p>
          </p:txBody>
        </p:sp>
        <p:sp>
          <p:nvSpPr>
            <p:cNvPr id="52" name="TextBox 52"/>
            <p:cNvSpPr txBox="1"/>
            <p:nvPr/>
          </p:nvSpPr>
          <p:spPr>
            <a:xfrm>
              <a:off x="2254967" y="5967889"/>
              <a:ext cx="7682066" cy="259080"/>
            </a:xfrm>
            <a:prstGeom prst="rect">
              <a:avLst/>
            </a:prstGeom>
            <a:noFill/>
            <a:ln>
              <a:noFill/>
            </a:ln>
          </p:spPr>
          <p:txBody>
            <a:bodyPr wrap="none" lIns="0" tIns="0" rIns="0" bIns="0" anchor="t" anchorCtr="0">
              <a:spAutoFit/>
            </a:bodyPr>
            <a:lstStyle/>
            <a:p>
              <a:pPr algn="ctr"/>
              <a:r>
                <a:rPr lang="zh-CN" sz="1275" b="1" dirty="0">
                  <a:solidFill>
                    <a:srgbClr val="0F172A"/>
                  </a:solidFill>
                  <a:latin typeface="Arial"/>
                  <a:ea typeface="Microsoft YaHei"/>
                  <a:cs typeface="Arial"/>
                </a:rPr>
                <a:t>SignalScout is not just a demo: it is a practical prospecting product with a clear buyer.</a:t>
              </a:r>
            </a:p>
          </p:txBody>
        </p:sp>
      </p:grpSp>
      <p:grpSp>
        <p:nvGrpSpPr>
          <p:cNvPr id="56" name="Group 56"/>
          <p:cNvGrpSpPr/>
          <p:nvPr/>
        </p:nvGrpSpPr>
        <p:grpSpPr>
          <a:xfrm>
            <a:off x="521970" y="6417945"/>
            <a:ext cx="11148060" cy="182880"/>
            <a:chOff x="521970" y="6417945"/>
            <a:chExt cx="11148060" cy="182880"/>
          </a:xfrm>
        </p:grpSpPr>
        <p:sp>
          <p:nvSpPr>
            <p:cNvPr id="54" name="TextBox 54"/>
            <p:cNvSpPr txBox="1"/>
            <p:nvPr/>
          </p:nvSpPr>
          <p:spPr>
            <a:xfrm>
              <a:off x="521970" y="6417945"/>
              <a:ext cx="33748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Commercial wedge: public data -&gt; daily sales priorities</a:t>
              </a:r>
            </a:p>
          </p:txBody>
        </p:sp>
        <p:sp>
          <p:nvSpPr>
            <p:cNvPr id="55" name="TextBox 5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0"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SG" altLang="en-US" dirty="0"/>
          </a:p>
        </p:txBody>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txBody>
            <a:bodyPr/>
            <a:lstStyle/>
            <a:p>
              <a:endParaRPr lang="zh-SG" altLang="en-US"/>
            </a:p>
          </p:txBody>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txBody>
            <a:bodyPr/>
            <a:lstStyle/>
            <a:p>
              <a:endParaRPr lang="zh-SG" altLang="en-US"/>
            </a:p>
          </p:txBody>
        </p:sp>
        <p:sp>
          <p:nvSpPr>
            <p:cNvPr id="5" name="Ellipse 5"/>
            <p:cNvSpPr/>
            <p:nvPr/>
          </p:nvSpPr>
          <p:spPr>
            <a:xfrm>
              <a:off x="800100" y="733425"/>
              <a:ext cx="114300" cy="114300"/>
            </a:xfrm>
            <a:prstGeom prst="ellipse">
              <a:avLst/>
            </a:prstGeom>
            <a:solidFill>
              <a:srgbClr val="38BDF8"/>
            </a:solidFill>
            <a:ln>
              <a:noFill/>
            </a:ln>
          </p:spPr>
          <p:txBody>
            <a:bodyPr/>
            <a:lstStyle/>
            <a:p>
              <a:endParaRPr lang="zh-SG" altLang="en-US"/>
            </a:p>
          </p:txBody>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txBody>
            <a:bodyPr/>
            <a:lstStyle/>
            <a:p>
              <a:endParaRPr lang="zh-SG" altLang="en-US"/>
            </a:p>
          </p:txBody>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txBody>
            <a:bodyPr/>
            <a:lstStyle/>
            <a:p>
              <a:endParaRPr lang="zh-SG" altLang="en-US"/>
            </a:p>
          </p:txBody>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Watch public hiring signals become 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txBody>
            <a:bodyPr/>
            <a:lstStyle/>
            <a:p>
              <a:endParaRPr lang="zh-SG" altLang="en-US"/>
            </a:p>
          </p:txBody>
        </p:sp>
        <p:sp>
          <p:nvSpPr>
            <p:cNvPr id="16" name="Ellipse 16"/>
            <p:cNvSpPr/>
            <p:nvPr/>
          </p:nvSpPr>
          <p:spPr>
            <a:xfrm>
              <a:off x="8382000" y="2400300"/>
              <a:ext cx="1790700" cy="1790700"/>
            </a:xfrm>
            <a:prstGeom prst="ellipse">
              <a:avLst/>
            </a:prstGeom>
            <a:solidFill>
              <a:srgbClr val="FFFFFF"/>
            </a:solidFill>
            <a:ln w="19050">
              <a:solidFill>
                <a:srgbClr val="E2E8F0"/>
              </a:solidFill>
            </a:ln>
          </p:spPr>
          <p:txBody>
            <a:bodyPr/>
            <a:lstStyle/>
            <a:p>
              <a:endParaRPr lang="zh-SG" altLang="en-US"/>
            </a:p>
          </p:txBody>
        </p:sp>
        <p:sp>
          <p:nvSpPr>
            <p:cNvPr id="17" name="Ellipse 17"/>
            <p:cNvSpPr/>
            <p:nvPr/>
          </p:nvSpPr>
          <p:spPr>
            <a:xfrm>
              <a:off x="8877300" y="2895600"/>
              <a:ext cx="800100" cy="800100"/>
            </a:xfrm>
            <a:prstGeom prst="ellipse">
              <a:avLst/>
            </a:prstGeom>
            <a:solidFill>
              <a:srgbClr val="0F172A"/>
            </a:solidFill>
            <a:ln>
              <a:noFill/>
            </a:ln>
          </p:spPr>
          <p:txBody>
            <a:bodyPr/>
            <a:lstStyle/>
            <a:p>
              <a:endParaRPr lang="zh-SG" altLang="en-US"/>
            </a:p>
          </p:txBody>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txBody>
              <a:bodyPr/>
              <a:lstStyle/>
              <a:p>
                <a:endParaRPr lang="zh-SG" altLang="en-US"/>
              </a:p>
            </p:txBody>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txBody>
              <a:bodyPr/>
              <a:lstStyle/>
              <a:p>
                <a:endParaRPr lang="zh-SG" altLang="en-US"/>
              </a:p>
            </p:txBody>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txBody>
              <a:bodyPr/>
              <a:lstStyle/>
              <a:p>
                <a:endParaRPr lang="zh-SG" altLang="en-US"/>
              </a:p>
            </p:txBody>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txBody>
                <a:bodyPr/>
                <a:lstStyle/>
                <a:p>
                  <a:endParaRPr lang="zh-SG" altLang="en-US"/>
                </a:p>
              </p:txBody>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txBody>
                <a:bodyPr/>
                <a:lstStyle/>
                <a:p>
                  <a:endParaRPr lang="zh-SG" altLang="en-US"/>
                </a:p>
              </p:txBody>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txBody>
                <a:bodyPr/>
                <a:lstStyle/>
                <a:p>
                  <a:endParaRPr lang="zh-SG" altLang="en-US"/>
                </a:p>
              </p:txBody>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txBody>
              <a:bodyPr/>
              <a:lstStyle/>
              <a:p>
                <a:endParaRPr lang="zh-SG" altLang="en-US"/>
              </a:p>
            </p:txBody>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txBody>
                <a:bodyPr/>
                <a:lstStyle/>
                <a:p>
                  <a:endParaRPr lang="zh-SG" altLang="en-US"/>
                </a:p>
              </p:txBody>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txBody>
                <a:bodyPr/>
                <a:lstStyle/>
                <a:p>
                  <a:endParaRPr lang="zh-SG" altLang="en-US"/>
                </a:p>
              </p:txBody>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txBody>
                <a:bodyPr/>
                <a:lstStyle/>
                <a:p>
                  <a:endParaRPr lang="zh-SG" altLang="en-US"/>
                </a:p>
              </p:txBody>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txBody>
                <a:bodyPr/>
                <a:lstStyle/>
                <a:p>
                  <a:endParaRPr lang="zh-SG" altLang="en-US"/>
                </a:p>
              </p:txBody>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txBody>
              <a:bodyPr/>
              <a:lstStyle/>
              <a:p>
                <a:endParaRPr lang="zh-SG" altLang="en-US"/>
              </a:p>
            </p:txBody>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txBody>
                <a:bodyPr/>
                <a:lstStyle/>
                <a:p>
                  <a:endParaRPr lang="zh-SG" altLang="en-US"/>
                </a:p>
              </p:txBody>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txBody>
                <a:bodyPr/>
                <a:lstStyle/>
                <a:p>
                  <a:endParaRPr lang="zh-SG" altLang="en-US"/>
                </a:p>
              </p:txBody>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txBody>
                <a:bodyPr/>
                <a:lstStyle/>
                <a:p>
                  <a:endParaRPr lang="zh-SG" altLang="en-US"/>
                </a:p>
              </p:txBody>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txBody>
                <a:bodyPr/>
                <a:lstStyle/>
                <a:p>
                  <a:endParaRPr lang="zh-SG" altLang="en-US"/>
                </a:p>
              </p:txBody>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txBody>
              <a:bodyPr/>
              <a:lstStyle/>
              <a:p>
                <a:endParaRPr lang="zh-SG" altLang="en-US"/>
              </a:p>
            </p:txBody>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txBody>
                <a:bodyPr/>
                <a:lstStyle/>
                <a:p>
                  <a:endParaRPr lang="zh-SG" altLang="en-US"/>
                </a:p>
              </p:txBody>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txBody>
                <a:bodyPr/>
                <a:lstStyle/>
                <a:p>
                  <a:endParaRPr lang="zh-SG" altLang="en-US"/>
                </a:p>
              </p:txBody>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txBody>
                <a:bodyPr/>
                <a:lstStyle/>
                <a:p>
                  <a:endParaRPr lang="zh-SG" altLang="en-US"/>
                </a:p>
              </p:txBody>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txBody>
                <a:bodyPr/>
                <a:lstStyle/>
                <a:p>
                  <a:endParaRPr lang="zh-SG" altLang="en-US"/>
                </a:p>
              </p:txBody>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txBody>
            <a:bodyPr/>
            <a:lstStyle/>
            <a:p>
              <a:endParaRPr lang="zh-SG" altLang="en-US"/>
            </a:p>
          </p:txBody>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33748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walkthrough: data -&gt; score -&gt; outreach -&gt; digest</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pic>
        <p:nvPicPr>
          <p:cNvPr id="59" name="图片 58">
            <a:extLst>
              <a:ext uri="{FF2B5EF4-FFF2-40B4-BE49-F238E27FC236}">
                <a16:creationId xmlns:a16="http://schemas.microsoft.com/office/drawing/2014/main" id="{ADACEAEF-E9D9-0E44-B9A8-471CFA9F903F}"/>
              </a:ext>
            </a:extLst>
          </p:cNvPr>
          <p:cNvPicPr>
            <a:picLocks noChangeAspect="1"/>
          </p:cNvPicPr>
          <p:nvPr/>
        </p:nvPicPr>
        <p:blipFill>
          <a:blip r:embed="rId3"/>
          <a:stretch>
            <a:fillRect/>
          </a:stretch>
        </p:blipFill>
        <p:spPr>
          <a:xfrm>
            <a:off x="549006" y="491856"/>
            <a:ext cx="597437" cy="5974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1393</Words>
  <Application>Microsoft Office PowerPoint</Application>
  <PresentationFormat>宽屏</PresentationFormat>
  <Paragraphs>171</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Arial</vt:lpstr>
      <vt:lpstr>Calibri</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郭奕辰</dc:creator>
  <cp:keywords/>
  <dc:description/>
  <cp:lastModifiedBy>#GUO YICHEN#</cp:lastModifiedBy>
  <cp:revision>3</cp:revision>
  <dcterms:created xsi:type="dcterms:W3CDTF">2026-06-12T13:54:50Z</dcterms:created>
  <dcterms:modified xsi:type="dcterms:W3CDTF">2026-06-12T14:09:00Z</dcterms:modified>
  <cp:category/>
  <cp:contentStatus/>
  <dc:language/>
</cp:coreProperties>
</file>